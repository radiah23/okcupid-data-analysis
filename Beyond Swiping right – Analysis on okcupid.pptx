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Anonymous Pro Bold" charset="1" panose="02060809030202000504"/>
      <p:regular r:id="rId44"/>
    </p:embeddedFont>
    <p:embeddedFont>
      <p:font typeface="HK Grotesk Medium" charset="1" panose="00000600000000000000"/>
      <p:regular r:id="rId45"/>
    </p:embeddedFont>
    <p:embeddedFont>
      <p:font typeface="Alice" charset="1" panose="00000500000000000000"/>
      <p:regular r:id="rId46"/>
    </p:embeddedFont>
    <p:embeddedFont>
      <p:font typeface="Times New Roman MT" charset="1" panose="02030502070405020303"/>
      <p:regular r:id="rId47"/>
    </p:embeddedFont>
    <p:embeddedFont>
      <p:font typeface="Alice Bold" charset="1" panose="00000500000000000000"/>
      <p:regular r:id="rId48"/>
    </p:embeddedFont>
    <p:embeddedFont>
      <p:font typeface="Roboto Bold" charset="1" panose="02000000000000000000"/>
      <p:regular r:id="rId49"/>
    </p:embeddedFont>
    <p:embeddedFont>
      <p:font typeface="Times New Roman MT Bold" charset="1" panose="02030802070405020303"/>
      <p:regular r:id="rId50"/>
    </p:embeddedFont>
    <p:embeddedFont>
      <p:font typeface="Lora Bold" charset="1" panose="00000800000000000000"/>
      <p:regular r:id="rId51"/>
    </p:embeddedFont>
    <p:embeddedFont>
      <p:font typeface="Frutiger Bold" charset="1" panose="020B0803030504020204"/>
      <p:regular r:id="rId52"/>
    </p:embeddedFont>
    <p:embeddedFont>
      <p:font typeface="Frutiger" charset="1" panose="020B0602020204020204"/>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2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gif"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0">
            <a:off x="-935633" y="-824364"/>
            <a:ext cx="3928667" cy="4163327"/>
          </a:xfrm>
          <a:custGeom>
            <a:avLst/>
            <a:gdLst/>
            <a:ahLst/>
            <a:cxnLst/>
            <a:rect r="r" b="b" t="t" l="l"/>
            <a:pathLst>
              <a:path h="4163327" w="3928667">
                <a:moveTo>
                  <a:pt x="0" y="0"/>
                </a:moveTo>
                <a:lnTo>
                  <a:pt x="3928666" y="0"/>
                </a:lnTo>
                <a:lnTo>
                  <a:pt x="3928666" y="4163328"/>
                </a:lnTo>
                <a:lnTo>
                  <a:pt x="0" y="4163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974672"/>
            <a:ext cx="5859745" cy="8283628"/>
            <a:chOff x="0" y="0"/>
            <a:chExt cx="8041802" cy="11368293"/>
          </a:xfrm>
        </p:grpSpPr>
        <p:sp>
          <p:nvSpPr>
            <p:cNvPr name="Freeform 4" id="4"/>
            <p:cNvSpPr/>
            <p:nvPr/>
          </p:nvSpPr>
          <p:spPr>
            <a:xfrm flipH="false" flipV="false" rot="0">
              <a:off x="72390" y="72390"/>
              <a:ext cx="7897022" cy="11223513"/>
            </a:xfrm>
            <a:custGeom>
              <a:avLst/>
              <a:gdLst/>
              <a:ahLst/>
              <a:cxnLst/>
              <a:rect r="r" b="b" t="t" l="l"/>
              <a:pathLst>
                <a:path h="11223513" w="7897022">
                  <a:moveTo>
                    <a:pt x="0" y="0"/>
                  </a:moveTo>
                  <a:lnTo>
                    <a:pt x="7897022" y="0"/>
                  </a:lnTo>
                  <a:lnTo>
                    <a:pt x="7897022" y="11223513"/>
                  </a:lnTo>
                  <a:lnTo>
                    <a:pt x="0" y="11223513"/>
                  </a:lnTo>
                  <a:lnTo>
                    <a:pt x="0" y="0"/>
                  </a:lnTo>
                  <a:close/>
                </a:path>
              </a:pathLst>
            </a:custGeom>
            <a:solidFill>
              <a:srgbClr val="FFFFFF"/>
            </a:solidFill>
          </p:spPr>
        </p:sp>
        <p:sp>
          <p:nvSpPr>
            <p:cNvPr name="Freeform 5" id="5"/>
            <p:cNvSpPr/>
            <p:nvPr/>
          </p:nvSpPr>
          <p:spPr>
            <a:xfrm flipH="false" flipV="false" rot="0">
              <a:off x="0" y="0"/>
              <a:ext cx="8041802" cy="11368293"/>
            </a:xfrm>
            <a:custGeom>
              <a:avLst/>
              <a:gdLst/>
              <a:ahLst/>
              <a:cxnLst/>
              <a:rect r="r" b="b" t="t" l="l"/>
              <a:pathLst>
                <a:path h="11368293" w="8041802">
                  <a:moveTo>
                    <a:pt x="7897022" y="11223513"/>
                  </a:moveTo>
                  <a:lnTo>
                    <a:pt x="8041802" y="11223513"/>
                  </a:lnTo>
                  <a:lnTo>
                    <a:pt x="8041802" y="11368293"/>
                  </a:lnTo>
                  <a:lnTo>
                    <a:pt x="7897022" y="11368293"/>
                  </a:lnTo>
                  <a:lnTo>
                    <a:pt x="7897022" y="11223513"/>
                  </a:lnTo>
                  <a:close/>
                  <a:moveTo>
                    <a:pt x="0" y="144780"/>
                  </a:moveTo>
                  <a:lnTo>
                    <a:pt x="144780" y="144780"/>
                  </a:lnTo>
                  <a:lnTo>
                    <a:pt x="144780" y="11223513"/>
                  </a:lnTo>
                  <a:lnTo>
                    <a:pt x="0" y="11223513"/>
                  </a:lnTo>
                  <a:lnTo>
                    <a:pt x="0" y="144780"/>
                  </a:lnTo>
                  <a:close/>
                  <a:moveTo>
                    <a:pt x="0" y="11223513"/>
                  </a:moveTo>
                  <a:lnTo>
                    <a:pt x="144780" y="11223513"/>
                  </a:lnTo>
                  <a:lnTo>
                    <a:pt x="144780" y="11368293"/>
                  </a:lnTo>
                  <a:lnTo>
                    <a:pt x="0" y="11368293"/>
                  </a:lnTo>
                  <a:lnTo>
                    <a:pt x="0" y="11223513"/>
                  </a:lnTo>
                  <a:close/>
                  <a:moveTo>
                    <a:pt x="7897022" y="144780"/>
                  </a:moveTo>
                  <a:lnTo>
                    <a:pt x="8041802" y="144780"/>
                  </a:lnTo>
                  <a:lnTo>
                    <a:pt x="8041802" y="11223513"/>
                  </a:lnTo>
                  <a:lnTo>
                    <a:pt x="7897022" y="11223513"/>
                  </a:lnTo>
                  <a:lnTo>
                    <a:pt x="7897022" y="144780"/>
                  </a:lnTo>
                  <a:close/>
                  <a:moveTo>
                    <a:pt x="144780" y="11223513"/>
                  </a:moveTo>
                  <a:lnTo>
                    <a:pt x="7897022" y="11223513"/>
                  </a:lnTo>
                  <a:lnTo>
                    <a:pt x="7897022" y="11368293"/>
                  </a:lnTo>
                  <a:lnTo>
                    <a:pt x="144780" y="11368293"/>
                  </a:lnTo>
                  <a:lnTo>
                    <a:pt x="144780" y="11223513"/>
                  </a:lnTo>
                  <a:close/>
                  <a:moveTo>
                    <a:pt x="7897022" y="0"/>
                  </a:moveTo>
                  <a:lnTo>
                    <a:pt x="8041802" y="0"/>
                  </a:lnTo>
                  <a:lnTo>
                    <a:pt x="8041802" y="144780"/>
                  </a:lnTo>
                  <a:lnTo>
                    <a:pt x="7897022" y="144780"/>
                  </a:lnTo>
                  <a:lnTo>
                    <a:pt x="7897022" y="0"/>
                  </a:lnTo>
                  <a:close/>
                  <a:moveTo>
                    <a:pt x="0" y="0"/>
                  </a:moveTo>
                  <a:lnTo>
                    <a:pt x="144780" y="0"/>
                  </a:lnTo>
                  <a:lnTo>
                    <a:pt x="144780" y="144780"/>
                  </a:lnTo>
                  <a:lnTo>
                    <a:pt x="0" y="144780"/>
                  </a:lnTo>
                  <a:lnTo>
                    <a:pt x="0" y="0"/>
                  </a:lnTo>
                  <a:close/>
                  <a:moveTo>
                    <a:pt x="144780" y="0"/>
                  </a:moveTo>
                  <a:lnTo>
                    <a:pt x="7897022" y="0"/>
                  </a:lnTo>
                  <a:lnTo>
                    <a:pt x="7897022" y="144780"/>
                  </a:lnTo>
                  <a:lnTo>
                    <a:pt x="144780" y="144780"/>
                  </a:lnTo>
                  <a:lnTo>
                    <a:pt x="144780" y="0"/>
                  </a:lnTo>
                  <a:close/>
                </a:path>
              </a:pathLst>
            </a:custGeom>
            <a:solidFill>
              <a:srgbClr val="2E2E2E"/>
            </a:solidFill>
          </p:spPr>
        </p:sp>
      </p:grpSp>
      <p:grpSp>
        <p:nvGrpSpPr>
          <p:cNvPr name="Group 6" id="6"/>
          <p:cNvGrpSpPr/>
          <p:nvPr/>
        </p:nvGrpSpPr>
        <p:grpSpPr>
          <a:xfrm rot="0">
            <a:off x="1028700" y="974672"/>
            <a:ext cx="5859745" cy="908385"/>
            <a:chOff x="0" y="0"/>
            <a:chExt cx="8041802" cy="1246650"/>
          </a:xfrm>
        </p:grpSpPr>
        <p:sp>
          <p:nvSpPr>
            <p:cNvPr name="Freeform 7" id="7"/>
            <p:cNvSpPr/>
            <p:nvPr/>
          </p:nvSpPr>
          <p:spPr>
            <a:xfrm flipH="false" flipV="false" rot="0">
              <a:off x="72390" y="72390"/>
              <a:ext cx="7897022" cy="1101870"/>
            </a:xfrm>
            <a:custGeom>
              <a:avLst/>
              <a:gdLst/>
              <a:ahLst/>
              <a:cxnLst/>
              <a:rect r="r" b="b" t="t" l="l"/>
              <a:pathLst>
                <a:path h="1101870" w="7897022">
                  <a:moveTo>
                    <a:pt x="0" y="0"/>
                  </a:moveTo>
                  <a:lnTo>
                    <a:pt x="7897022" y="0"/>
                  </a:lnTo>
                  <a:lnTo>
                    <a:pt x="7897022" y="1101870"/>
                  </a:lnTo>
                  <a:lnTo>
                    <a:pt x="0" y="1101870"/>
                  </a:lnTo>
                  <a:lnTo>
                    <a:pt x="0" y="0"/>
                  </a:lnTo>
                  <a:close/>
                </a:path>
              </a:pathLst>
            </a:custGeom>
            <a:solidFill>
              <a:srgbClr val="F1DCED"/>
            </a:solidFill>
          </p:spPr>
        </p:sp>
        <p:sp>
          <p:nvSpPr>
            <p:cNvPr name="Freeform 8" id="8"/>
            <p:cNvSpPr/>
            <p:nvPr/>
          </p:nvSpPr>
          <p:spPr>
            <a:xfrm flipH="false" flipV="false" rot="0">
              <a:off x="0" y="0"/>
              <a:ext cx="8041802" cy="1246650"/>
            </a:xfrm>
            <a:custGeom>
              <a:avLst/>
              <a:gdLst/>
              <a:ahLst/>
              <a:cxnLst/>
              <a:rect r="r" b="b" t="t" l="l"/>
              <a:pathLst>
                <a:path h="1246650" w="8041802">
                  <a:moveTo>
                    <a:pt x="7897022" y="1101870"/>
                  </a:moveTo>
                  <a:lnTo>
                    <a:pt x="8041802" y="1101870"/>
                  </a:lnTo>
                  <a:lnTo>
                    <a:pt x="8041802" y="1246650"/>
                  </a:lnTo>
                  <a:lnTo>
                    <a:pt x="7897022" y="1246650"/>
                  </a:lnTo>
                  <a:lnTo>
                    <a:pt x="7897022"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7897022" y="144780"/>
                  </a:moveTo>
                  <a:lnTo>
                    <a:pt x="8041802" y="144780"/>
                  </a:lnTo>
                  <a:lnTo>
                    <a:pt x="8041802" y="1101870"/>
                  </a:lnTo>
                  <a:lnTo>
                    <a:pt x="7897022" y="1101870"/>
                  </a:lnTo>
                  <a:lnTo>
                    <a:pt x="7897022" y="144780"/>
                  </a:lnTo>
                  <a:close/>
                  <a:moveTo>
                    <a:pt x="144780" y="1101870"/>
                  </a:moveTo>
                  <a:lnTo>
                    <a:pt x="7897022" y="1101870"/>
                  </a:lnTo>
                  <a:lnTo>
                    <a:pt x="7897022" y="1246650"/>
                  </a:lnTo>
                  <a:lnTo>
                    <a:pt x="144780" y="1246650"/>
                  </a:lnTo>
                  <a:lnTo>
                    <a:pt x="144780" y="1101870"/>
                  </a:lnTo>
                  <a:close/>
                  <a:moveTo>
                    <a:pt x="7897022" y="0"/>
                  </a:moveTo>
                  <a:lnTo>
                    <a:pt x="8041802" y="0"/>
                  </a:lnTo>
                  <a:lnTo>
                    <a:pt x="8041802" y="144780"/>
                  </a:lnTo>
                  <a:lnTo>
                    <a:pt x="7897022" y="144780"/>
                  </a:lnTo>
                  <a:lnTo>
                    <a:pt x="7897022" y="0"/>
                  </a:lnTo>
                  <a:close/>
                  <a:moveTo>
                    <a:pt x="0" y="0"/>
                  </a:moveTo>
                  <a:lnTo>
                    <a:pt x="144780" y="0"/>
                  </a:lnTo>
                  <a:lnTo>
                    <a:pt x="144780" y="144780"/>
                  </a:lnTo>
                  <a:lnTo>
                    <a:pt x="0" y="144780"/>
                  </a:lnTo>
                  <a:lnTo>
                    <a:pt x="0" y="0"/>
                  </a:lnTo>
                  <a:close/>
                  <a:moveTo>
                    <a:pt x="144780" y="0"/>
                  </a:moveTo>
                  <a:lnTo>
                    <a:pt x="7897022" y="0"/>
                  </a:lnTo>
                  <a:lnTo>
                    <a:pt x="7897022" y="144780"/>
                  </a:lnTo>
                  <a:lnTo>
                    <a:pt x="144780" y="144780"/>
                  </a:lnTo>
                  <a:lnTo>
                    <a:pt x="144780" y="0"/>
                  </a:lnTo>
                  <a:close/>
                </a:path>
              </a:pathLst>
            </a:custGeom>
            <a:solidFill>
              <a:srgbClr val="2E2E2E"/>
            </a:solidFill>
          </p:spPr>
        </p:sp>
      </p:grpSp>
      <p:sp>
        <p:nvSpPr>
          <p:cNvPr name="AutoShape 9" id="9"/>
          <p:cNvSpPr/>
          <p:nvPr/>
        </p:nvSpPr>
        <p:spPr>
          <a:xfrm rot="0">
            <a:off x="2717481" y="1386356"/>
            <a:ext cx="3688462" cy="85017"/>
          </a:xfrm>
          <a:prstGeom prst="rect">
            <a:avLst/>
          </a:prstGeom>
          <a:solidFill>
            <a:srgbClr val="2E2E2E"/>
          </a:solidFill>
        </p:spPr>
      </p:sp>
      <p:sp>
        <p:nvSpPr>
          <p:cNvPr name="Freeform 10" id="10"/>
          <p:cNvSpPr/>
          <p:nvPr/>
        </p:nvSpPr>
        <p:spPr>
          <a:xfrm flipH="false" flipV="false" rot="0">
            <a:off x="14862290" y="773616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01</a:t>
            </a:r>
          </a:p>
        </p:txBody>
      </p:sp>
      <p:grpSp>
        <p:nvGrpSpPr>
          <p:cNvPr name="Group 12" id="12"/>
          <p:cNvGrpSpPr/>
          <p:nvPr/>
        </p:nvGrpSpPr>
        <p:grpSpPr>
          <a:xfrm rot="0">
            <a:off x="1511202" y="1285989"/>
            <a:ext cx="285750" cy="285750"/>
            <a:chOff x="0" y="0"/>
            <a:chExt cx="381000" cy="381000"/>
          </a:xfrm>
        </p:grpSpPr>
        <p:grpSp>
          <p:nvGrpSpPr>
            <p:cNvPr name="Group 13" id="13"/>
            <p:cNvGrpSpPr>
              <a:grpSpLocks noChangeAspect="true"/>
            </p:cNvGrpSpPr>
            <p:nvPr/>
          </p:nvGrpSpPr>
          <p:grpSpPr>
            <a:xfrm rot="0">
              <a:off x="0" y="0"/>
              <a:ext cx="381000" cy="381000"/>
              <a:chOff x="6705600" y="1371600"/>
              <a:chExt cx="10972800" cy="10972800"/>
            </a:xfrm>
          </p:grpSpPr>
          <p:sp>
            <p:nvSpPr>
              <p:cNvPr name="Freeform 14" id="14"/>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5" id="15"/>
            <p:cNvGrpSpPr>
              <a:grpSpLocks noChangeAspect="true"/>
            </p:cNvGrpSpPr>
            <p:nvPr/>
          </p:nvGrpSpPr>
          <p:grpSpPr>
            <a:xfrm rot="0">
              <a:off x="69420" y="69420"/>
              <a:ext cx="242160" cy="242160"/>
              <a:chOff x="6705600" y="1371600"/>
              <a:chExt cx="10972800" cy="10972800"/>
            </a:xfrm>
          </p:grpSpPr>
          <p:sp>
            <p:nvSpPr>
              <p:cNvPr name="Freeform 16" id="16"/>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7" id="17"/>
          <p:cNvGrpSpPr/>
          <p:nvPr/>
        </p:nvGrpSpPr>
        <p:grpSpPr>
          <a:xfrm rot="0">
            <a:off x="1930302" y="1285989"/>
            <a:ext cx="285750" cy="285750"/>
            <a:chOff x="0" y="0"/>
            <a:chExt cx="381000" cy="381000"/>
          </a:xfrm>
        </p:grpSpPr>
        <p:grpSp>
          <p:nvGrpSpPr>
            <p:cNvPr name="Group 18" id="18"/>
            <p:cNvGrpSpPr>
              <a:grpSpLocks noChangeAspect="true"/>
            </p:cNvGrpSpPr>
            <p:nvPr/>
          </p:nvGrpSpPr>
          <p:grpSpPr>
            <a:xfrm rot="0">
              <a:off x="0" y="0"/>
              <a:ext cx="381000" cy="381000"/>
              <a:chOff x="6705600" y="1371600"/>
              <a:chExt cx="10972800" cy="10972800"/>
            </a:xfrm>
          </p:grpSpPr>
          <p:sp>
            <p:nvSpPr>
              <p:cNvPr name="Freeform 19" id="19"/>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20" id="20"/>
            <p:cNvGrpSpPr>
              <a:grpSpLocks noChangeAspect="true"/>
            </p:cNvGrpSpPr>
            <p:nvPr/>
          </p:nvGrpSpPr>
          <p:grpSpPr>
            <a:xfrm rot="0">
              <a:off x="69420" y="69420"/>
              <a:ext cx="242160" cy="242160"/>
              <a:chOff x="6705600" y="1371600"/>
              <a:chExt cx="10972800" cy="10972800"/>
            </a:xfrm>
          </p:grpSpPr>
          <p:sp>
            <p:nvSpPr>
              <p:cNvPr name="Freeform 21" id="21"/>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22" id="22"/>
          <p:cNvGrpSpPr/>
          <p:nvPr/>
        </p:nvGrpSpPr>
        <p:grpSpPr>
          <a:xfrm rot="0">
            <a:off x="8799670" y="1449554"/>
            <a:ext cx="4960545" cy="8452242"/>
            <a:chOff x="0" y="0"/>
            <a:chExt cx="6614060" cy="11269656"/>
          </a:xfrm>
        </p:grpSpPr>
        <p:sp>
          <p:nvSpPr>
            <p:cNvPr name="TextBox 23" id="23"/>
            <p:cNvSpPr txBox="true"/>
            <p:nvPr/>
          </p:nvSpPr>
          <p:spPr>
            <a:xfrm rot="0">
              <a:off x="0" y="114300"/>
              <a:ext cx="6614060" cy="9365395"/>
            </a:xfrm>
            <a:prstGeom prst="rect">
              <a:avLst/>
            </a:prstGeom>
          </p:spPr>
          <p:txBody>
            <a:bodyPr anchor="t" rtlCol="false" tIns="0" lIns="0" bIns="0" rIns="0">
              <a:spAutoFit/>
            </a:bodyPr>
            <a:lstStyle/>
            <a:p>
              <a:pPr algn="l">
                <a:lnSpc>
                  <a:spcPts val="6839"/>
                </a:lnSpc>
              </a:pPr>
              <a:r>
                <a:rPr lang="en-US" sz="6839" b="true">
                  <a:solidFill>
                    <a:srgbClr val="2E2E2E"/>
                  </a:solidFill>
                  <a:latin typeface="Anonymous Pro Bold"/>
                  <a:ea typeface="Anonymous Pro Bold"/>
                  <a:cs typeface="Anonymous Pro Bold"/>
                  <a:sym typeface="Anonymous Pro Bold"/>
                </a:rPr>
                <a:t>BEYOND SWIPING RIGHT: USER ANALYSIS OF AN OKCUPID DATASET</a:t>
              </a:r>
            </a:p>
          </p:txBody>
        </p:sp>
        <p:sp>
          <p:nvSpPr>
            <p:cNvPr name="TextBox 24" id="24"/>
            <p:cNvSpPr txBox="true"/>
            <p:nvPr/>
          </p:nvSpPr>
          <p:spPr>
            <a:xfrm rot="0">
              <a:off x="0" y="9744038"/>
              <a:ext cx="6614060" cy="1125438"/>
            </a:xfrm>
            <a:prstGeom prst="rect">
              <a:avLst/>
            </a:prstGeom>
          </p:spPr>
          <p:txBody>
            <a:bodyPr anchor="t" rtlCol="false" tIns="0" lIns="0" bIns="0" rIns="0">
              <a:spAutoFit/>
            </a:bodyPr>
            <a:lstStyle/>
            <a:p>
              <a:pPr algn="l">
                <a:lnSpc>
                  <a:spcPts val="2209"/>
                </a:lnSpc>
              </a:pPr>
              <a:r>
                <a:rPr lang="en-US" sz="1841" b="true">
                  <a:solidFill>
                    <a:srgbClr val="2E2E2E"/>
                  </a:solidFill>
                  <a:latin typeface="HK Grotesk Medium"/>
                  <a:ea typeface="HK Grotesk Medium"/>
                  <a:cs typeface="HK Grotesk Medium"/>
                  <a:sym typeface="HK Grotesk Medium"/>
                </a:rPr>
                <a:t>By Radiah Khan </a:t>
              </a:r>
            </a:p>
            <a:p>
              <a:pPr algn="l">
                <a:lnSpc>
                  <a:spcPts val="2209"/>
                </a:lnSpc>
              </a:pPr>
              <a:r>
                <a:rPr lang="en-US" sz="1841" b="true">
                  <a:solidFill>
                    <a:srgbClr val="2E2E2E"/>
                  </a:solidFill>
                  <a:latin typeface="HK Grotesk Medium"/>
                  <a:ea typeface="HK Grotesk Medium"/>
                  <a:cs typeface="HK Grotesk Medium"/>
                  <a:sym typeface="HK Grotesk Medium"/>
                </a:rPr>
                <a:t>Smith College ‘28</a:t>
              </a:r>
            </a:p>
            <a:p>
              <a:pPr algn="l">
                <a:lnSpc>
                  <a:spcPts val="2209"/>
                </a:lnSpc>
              </a:pPr>
            </a:p>
          </p:txBody>
        </p:sp>
        <p:pic>
          <p:nvPicPr>
            <p:cNvPr name="Picture 25" id="25"/>
            <p:cNvPicPr>
              <a:picLocks noChangeAspect="true"/>
            </p:cNvPicPr>
            <p:nvPr/>
          </p:nvPicPr>
          <p:blipFill>
            <a:blip r:embed="rId4"/>
            <a:srcRect l="0" t="0" r="0" b="0"/>
            <a:stretch>
              <a:fillRect/>
            </a:stretch>
          </p:blipFill>
          <p:spPr>
            <a:xfrm flipH="false" flipV="false" rot="0">
              <a:off x="0" y="11035531"/>
              <a:ext cx="3020975" cy="234126"/>
            </a:xfrm>
            <a:prstGeom prst="rect">
              <a:avLst/>
            </a:prstGeom>
          </p:spPr>
        </p:pic>
      </p:grpSp>
      <p:sp>
        <p:nvSpPr>
          <p:cNvPr name="Freeform 26" id="26"/>
          <p:cNvSpPr/>
          <p:nvPr/>
        </p:nvSpPr>
        <p:spPr>
          <a:xfrm flipH="false" flipV="false" rot="0">
            <a:off x="1090891" y="1883057"/>
            <a:ext cx="5735363" cy="7375243"/>
          </a:xfrm>
          <a:custGeom>
            <a:avLst/>
            <a:gdLst/>
            <a:ahLst/>
            <a:cxnLst/>
            <a:rect r="r" b="b" t="t" l="l"/>
            <a:pathLst>
              <a:path h="7375243" w="5735363">
                <a:moveTo>
                  <a:pt x="0" y="0"/>
                </a:moveTo>
                <a:lnTo>
                  <a:pt x="5735363" y="0"/>
                </a:lnTo>
                <a:lnTo>
                  <a:pt x="5735363" y="7375243"/>
                </a:lnTo>
                <a:lnTo>
                  <a:pt x="0" y="7375243"/>
                </a:lnTo>
                <a:lnTo>
                  <a:pt x="0" y="0"/>
                </a:lnTo>
                <a:close/>
              </a:path>
            </a:pathLst>
          </a:custGeom>
          <a:blipFill>
            <a:blip r:embed="rId5"/>
            <a:stretch>
              <a:fillRect l="-35728" t="0" r="-35728"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493701" y="439398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16230600" cy="4114800"/>
            <a:chOff x="0" y="0"/>
            <a:chExt cx="22274565" cy="5647073"/>
          </a:xfrm>
        </p:grpSpPr>
        <p:sp>
          <p:nvSpPr>
            <p:cNvPr name="Freeform 4" id="4"/>
            <p:cNvSpPr/>
            <p:nvPr/>
          </p:nvSpPr>
          <p:spPr>
            <a:xfrm flipH="false" flipV="false" rot="0">
              <a:off x="72390" y="72390"/>
              <a:ext cx="22129785" cy="5502293"/>
            </a:xfrm>
            <a:custGeom>
              <a:avLst/>
              <a:gdLst/>
              <a:ahLst/>
              <a:cxnLst/>
              <a:rect r="r" b="b" t="t" l="l"/>
              <a:pathLst>
                <a:path h="5502293" w="22129785">
                  <a:moveTo>
                    <a:pt x="0" y="0"/>
                  </a:moveTo>
                  <a:lnTo>
                    <a:pt x="22129785" y="0"/>
                  </a:lnTo>
                  <a:lnTo>
                    <a:pt x="22129785" y="5502293"/>
                  </a:lnTo>
                  <a:lnTo>
                    <a:pt x="0" y="5502293"/>
                  </a:lnTo>
                  <a:lnTo>
                    <a:pt x="0" y="0"/>
                  </a:lnTo>
                  <a:close/>
                </a:path>
              </a:pathLst>
            </a:custGeom>
            <a:solidFill>
              <a:srgbClr val="FFFFFF"/>
            </a:solidFill>
          </p:spPr>
        </p:sp>
        <p:sp>
          <p:nvSpPr>
            <p:cNvPr name="Freeform 5" id="5"/>
            <p:cNvSpPr/>
            <p:nvPr/>
          </p:nvSpPr>
          <p:spPr>
            <a:xfrm flipH="false" flipV="false" rot="0">
              <a:off x="0" y="0"/>
              <a:ext cx="22274564" cy="5647073"/>
            </a:xfrm>
            <a:custGeom>
              <a:avLst/>
              <a:gdLst/>
              <a:ahLst/>
              <a:cxnLst/>
              <a:rect r="r" b="b" t="t" l="l"/>
              <a:pathLst>
                <a:path h="5647073" w="22274564">
                  <a:moveTo>
                    <a:pt x="22129784" y="5502293"/>
                  </a:moveTo>
                  <a:lnTo>
                    <a:pt x="22274564" y="5502293"/>
                  </a:lnTo>
                  <a:lnTo>
                    <a:pt x="22274564" y="5647073"/>
                  </a:lnTo>
                  <a:lnTo>
                    <a:pt x="22129784" y="5647073"/>
                  </a:lnTo>
                  <a:lnTo>
                    <a:pt x="22129784" y="5502293"/>
                  </a:lnTo>
                  <a:close/>
                  <a:moveTo>
                    <a:pt x="0" y="144780"/>
                  </a:moveTo>
                  <a:lnTo>
                    <a:pt x="144780" y="144780"/>
                  </a:lnTo>
                  <a:lnTo>
                    <a:pt x="144780" y="5502293"/>
                  </a:lnTo>
                  <a:lnTo>
                    <a:pt x="0" y="5502293"/>
                  </a:lnTo>
                  <a:lnTo>
                    <a:pt x="0" y="144780"/>
                  </a:lnTo>
                  <a:close/>
                  <a:moveTo>
                    <a:pt x="0" y="5502293"/>
                  </a:moveTo>
                  <a:lnTo>
                    <a:pt x="144780" y="5502293"/>
                  </a:lnTo>
                  <a:lnTo>
                    <a:pt x="144780" y="5647073"/>
                  </a:lnTo>
                  <a:lnTo>
                    <a:pt x="0" y="5647073"/>
                  </a:lnTo>
                  <a:lnTo>
                    <a:pt x="0" y="5502293"/>
                  </a:lnTo>
                  <a:close/>
                  <a:moveTo>
                    <a:pt x="22129784" y="144780"/>
                  </a:moveTo>
                  <a:lnTo>
                    <a:pt x="22274564" y="144780"/>
                  </a:lnTo>
                  <a:lnTo>
                    <a:pt x="22274564" y="5502293"/>
                  </a:lnTo>
                  <a:lnTo>
                    <a:pt x="22129784" y="5502293"/>
                  </a:lnTo>
                  <a:lnTo>
                    <a:pt x="22129784" y="144780"/>
                  </a:lnTo>
                  <a:close/>
                  <a:moveTo>
                    <a:pt x="144780" y="5502293"/>
                  </a:moveTo>
                  <a:lnTo>
                    <a:pt x="22129784" y="5502293"/>
                  </a:lnTo>
                  <a:lnTo>
                    <a:pt x="22129784" y="5647073"/>
                  </a:lnTo>
                  <a:lnTo>
                    <a:pt x="144780" y="5647073"/>
                  </a:lnTo>
                  <a:lnTo>
                    <a:pt x="144780" y="5502293"/>
                  </a:lnTo>
                  <a:close/>
                  <a:moveTo>
                    <a:pt x="22129784" y="0"/>
                  </a:moveTo>
                  <a:lnTo>
                    <a:pt x="22274564" y="0"/>
                  </a:lnTo>
                  <a:lnTo>
                    <a:pt x="22274564" y="144780"/>
                  </a:lnTo>
                  <a:lnTo>
                    <a:pt x="22129784" y="144780"/>
                  </a:lnTo>
                  <a:lnTo>
                    <a:pt x="22129784" y="0"/>
                  </a:lnTo>
                  <a:close/>
                  <a:moveTo>
                    <a:pt x="0" y="0"/>
                  </a:moveTo>
                  <a:lnTo>
                    <a:pt x="144780" y="0"/>
                  </a:lnTo>
                  <a:lnTo>
                    <a:pt x="144780" y="144780"/>
                  </a:lnTo>
                  <a:lnTo>
                    <a:pt x="0" y="144780"/>
                  </a:lnTo>
                  <a:lnTo>
                    <a:pt x="0" y="0"/>
                  </a:lnTo>
                  <a:close/>
                  <a:moveTo>
                    <a:pt x="144780" y="0"/>
                  </a:moveTo>
                  <a:lnTo>
                    <a:pt x="22129784" y="0"/>
                  </a:lnTo>
                  <a:lnTo>
                    <a:pt x="22129784" y="144780"/>
                  </a:lnTo>
                  <a:lnTo>
                    <a:pt x="144780" y="144780"/>
                  </a:lnTo>
                  <a:lnTo>
                    <a:pt x="144780" y="0"/>
                  </a:lnTo>
                  <a:close/>
                </a:path>
              </a:pathLst>
            </a:custGeom>
            <a:solidFill>
              <a:srgbClr val="2E2E2E"/>
            </a:solidFill>
          </p:spPr>
        </p:sp>
      </p:grpSp>
      <p:grpSp>
        <p:nvGrpSpPr>
          <p:cNvPr name="Group 6" id="6"/>
          <p:cNvGrpSpPr/>
          <p:nvPr/>
        </p:nvGrpSpPr>
        <p:grpSpPr>
          <a:xfrm rot="0">
            <a:off x="1028700" y="1028700"/>
            <a:ext cx="16230600" cy="908385"/>
            <a:chOff x="0" y="0"/>
            <a:chExt cx="22274565" cy="1246650"/>
          </a:xfrm>
        </p:grpSpPr>
        <p:sp>
          <p:nvSpPr>
            <p:cNvPr name="Freeform 7" id="7"/>
            <p:cNvSpPr/>
            <p:nvPr/>
          </p:nvSpPr>
          <p:spPr>
            <a:xfrm flipH="false" flipV="false" rot="0">
              <a:off x="72390" y="72390"/>
              <a:ext cx="22129785" cy="1101870"/>
            </a:xfrm>
            <a:custGeom>
              <a:avLst/>
              <a:gdLst/>
              <a:ahLst/>
              <a:cxnLst/>
              <a:rect r="r" b="b" t="t" l="l"/>
              <a:pathLst>
                <a:path h="1101870" w="22129785">
                  <a:moveTo>
                    <a:pt x="0" y="0"/>
                  </a:moveTo>
                  <a:lnTo>
                    <a:pt x="22129785" y="0"/>
                  </a:lnTo>
                  <a:lnTo>
                    <a:pt x="22129785" y="1101870"/>
                  </a:lnTo>
                  <a:lnTo>
                    <a:pt x="0" y="1101870"/>
                  </a:lnTo>
                  <a:lnTo>
                    <a:pt x="0" y="0"/>
                  </a:lnTo>
                  <a:close/>
                </a:path>
              </a:pathLst>
            </a:custGeom>
            <a:solidFill>
              <a:srgbClr val="F1DCED"/>
            </a:solidFill>
          </p:spPr>
        </p:sp>
        <p:sp>
          <p:nvSpPr>
            <p:cNvPr name="Freeform 8" id="8"/>
            <p:cNvSpPr/>
            <p:nvPr/>
          </p:nvSpPr>
          <p:spPr>
            <a:xfrm flipH="false" flipV="false" rot="0">
              <a:off x="0" y="0"/>
              <a:ext cx="22274564" cy="1246650"/>
            </a:xfrm>
            <a:custGeom>
              <a:avLst/>
              <a:gdLst/>
              <a:ahLst/>
              <a:cxnLst/>
              <a:rect r="r" b="b" t="t" l="l"/>
              <a:pathLst>
                <a:path h="1246650" w="22274564">
                  <a:moveTo>
                    <a:pt x="22129784" y="1101870"/>
                  </a:moveTo>
                  <a:lnTo>
                    <a:pt x="22274564" y="1101870"/>
                  </a:lnTo>
                  <a:lnTo>
                    <a:pt x="22274564" y="1246650"/>
                  </a:lnTo>
                  <a:lnTo>
                    <a:pt x="22129784" y="1246650"/>
                  </a:lnTo>
                  <a:lnTo>
                    <a:pt x="22129784"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22129784" y="144780"/>
                  </a:moveTo>
                  <a:lnTo>
                    <a:pt x="22274564" y="144780"/>
                  </a:lnTo>
                  <a:lnTo>
                    <a:pt x="22274564" y="1101870"/>
                  </a:lnTo>
                  <a:lnTo>
                    <a:pt x="22129784" y="1101870"/>
                  </a:lnTo>
                  <a:lnTo>
                    <a:pt x="22129784" y="144780"/>
                  </a:lnTo>
                  <a:close/>
                  <a:moveTo>
                    <a:pt x="144780" y="1101870"/>
                  </a:moveTo>
                  <a:lnTo>
                    <a:pt x="22129784" y="1101870"/>
                  </a:lnTo>
                  <a:lnTo>
                    <a:pt x="22129784" y="1246650"/>
                  </a:lnTo>
                  <a:lnTo>
                    <a:pt x="144780" y="1246650"/>
                  </a:lnTo>
                  <a:lnTo>
                    <a:pt x="144780" y="1101870"/>
                  </a:lnTo>
                  <a:close/>
                  <a:moveTo>
                    <a:pt x="22129784" y="0"/>
                  </a:moveTo>
                  <a:lnTo>
                    <a:pt x="22274564" y="0"/>
                  </a:lnTo>
                  <a:lnTo>
                    <a:pt x="22274564" y="144780"/>
                  </a:lnTo>
                  <a:lnTo>
                    <a:pt x="22129784" y="144780"/>
                  </a:lnTo>
                  <a:lnTo>
                    <a:pt x="22129784" y="0"/>
                  </a:lnTo>
                  <a:close/>
                  <a:moveTo>
                    <a:pt x="0" y="0"/>
                  </a:moveTo>
                  <a:lnTo>
                    <a:pt x="144780" y="0"/>
                  </a:lnTo>
                  <a:lnTo>
                    <a:pt x="144780" y="144780"/>
                  </a:lnTo>
                  <a:lnTo>
                    <a:pt x="0" y="144780"/>
                  </a:lnTo>
                  <a:lnTo>
                    <a:pt x="0" y="0"/>
                  </a:lnTo>
                  <a:close/>
                  <a:moveTo>
                    <a:pt x="144780" y="0"/>
                  </a:moveTo>
                  <a:lnTo>
                    <a:pt x="22129784" y="0"/>
                  </a:lnTo>
                  <a:lnTo>
                    <a:pt x="22129784" y="144780"/>
                  </a:lnTo>
                  <a:lnTo>
                    <a:pt x="144780" y="144780"/>
                  </a:lnTo>
                  <a:lnTo>
                    <a:pt x="144780" y="0"/>
                  </a:lnTo>
                  <a:close/>
                </a:path>
              </a:pathLst>
            </a:custGeom>
            <a:solidFill>
              <a:srgbClr val="2E2E2E"/>
            </a:solidFill>
          </p:spPr>
        </p:sp>
      </p:grpSp>
      <p:grpSp>
        <p:nvGrpSpPr>
          <p:cNvPr name="Group 9" id="9"/>
          <p:cNvGrpSpPr>
            <a:grpSpLocks noChangeAspect="true"/>
          </p:cNvGrpSpPr>
          <p:nvPr/>
        </p:nvGrpSpPr>
        <p:grpSpPr>
          <a:xfrm rot="0">
            <a:off x="1080765" y="8938890"/>
            <a:ext cx="181620" cy="181620"/>
            <a:chOff x="6705600" y="1371600"/>
            <a:chExt cx="10972800" cy="10972800"/>
          </a:xfrm>
        </p:grpSpPr>
        <p:sp>
          <p:nvSpPr>
            <p:cNvPr name="Freeform 10" id="10"/>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AutoShape 11" id="11"/>
          <p:cNvSpPr/>
          <p:nvPr/>
        </p:nvSpPr>
        <p:spPr>
          <a:xfrm rot="0">
            <a:off x="2717481" y="1440384"/>
            <a:ext cx="14080863" cy="85781"/>
          </a:xfrm>
          <a:prstGeom prst="rect">
            <a:avLst/>
          </a:prstGeom>
          <a:solidFill>
            <a:srgbClr val="2E2E2E"/>
          </a:solidFill>
        </p:spPr>
      </p:sp>
      <p:grpSp>
        <p:nvGrpSpPr>
          <p:cNvPr name="Group 12" id="12"/>
          <p:cNvGrpSpPr/>
          <p:nvPr/>
        </p:nvGrpSpPr>
        <p:grpSpPr>
          <a:xfrm rot="0">
            <a:off x="1511202" y="1340017"/>
            <a:ext cx="285750" cy="285750"/>
            <a:chOff x="0" y="0"/>
            <a:chExt cx="381000" cy="381000"/>
          </a:xfrm>
        </p:grpSpPr>
        <p:grpSp>
          <p:nvGrpSpPr>
            <p:cNvPr name="Group 13" id="13"/>
            <p:cNvGrpSpPr>
              <a:grpSpLocks noChangeAspect="true"/>
            </p:cNvGrpSpPr>
            <p:nvPr/>
          </p:nvGrpSpPr>
          <p:grpSpPr>
            <a:xfrm rot="0">
              <a:off x="0" y="0"/>
              <a:ext cx="381000" cy="381000"/>
              <a:chOff x="6705600" y="1371600"/>
              <a:chExt cx="10972800" cy="10972800"/>
            </a:xfrm>
          </p:grpSpPr>
          <p:sp>
            <p:nvSpPr>
              <p:cNvPr name="Freeform 14" id="14"/>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5" id="15"/>
            <p:cNvGrpSpPr>
              <a:grpSpLocks noChangeAspect="true"/>
            </p:cNvGrpSpPr>
            <p:nvPr/>
          </p:nvGrpSpPr>
          <p:grpSpPr>
            <a:xfrm rot="0">
              <a:off x="69420" y="69420"/>
              <a:ext cx="242160" cy="242160"/>
              <a:chOff x="6705600" y="1371600"/>
              <a:chExt cx="10972800" cy="10972800"/>
            </a:xfrm>
          </p:grpSpPr>
          <p:sp>
            <p:nvSpPr>
              <p:cNvPr name="Freeform 16" id="16"/>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7" id="17"/>
          <p:cNvGrpSpPr/>
          <p:nvPr/>
        </p:nvGrpSpPr>
        <p:grpSpPr>
          <a:xfrm rot="0">
            <a:off x="1930302" y="1340017"/>
            <a:ext cx="285750" cy="285750"/>
            <a:chOff x="0" y="0"/>
            <a:chExt cx="381000" cy="381000"/>
          </a:xfrm>
        </p:grpSpPr>
        <p:grpSp>
          <p:nvGrpSpPr>
            <p:cNvPr name="Group 18" id="18"/>
            <p:cNvGrpSpPr>
              <a:grpSpLocks noChangeAspect="true"/>
            </p:cNvGrpSpPr>
            <p:nvPr/>
          </p:nvGrpSpPr>
          <p:grpSpPr>
            <a:xfrm rot="0">
              <a:off x="0" y="0"/>
              <a:ext cx="381000" cy="381000"/>
              <a:chOff x="6705600" y="1371600"/>
              <a:chExt cx="10972800" cy="10972800"/>
            </a:xfrm>
          </p:grpSpPr>
          <p:sp>
            <p:nvSpPr>
              <p:cNvPr name="Freeform 19" id="19"/>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20" id="20"/>
            <p:cNvGrpSpPr>
              <a:grpSpLocks noChangeAspect="true"/>
            </p:cNvGrpSpPr>
            <p:nvPr/>
          </p:nvGrpSpPr>
          <p:grpSpPr>
            <a:xfrm rot="0">
              <a:off x="69420" y="69420"/>
              <a:ext cx="242160" cy="242160"/>
              <a:chOff x="6705600" y="1371600"/>
              <a:chExt cx="10972800" cy="10972800"/>
            </a:xfrm>
          </p:grpSpPr>
          <p:sp>
            <p:nvSpPr>
              <p:cNvPr name="Freeform 21" id="21"/>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sp>
        <p:nvSpPr>
          <p:cNvPr name="Freeform 22" id="22"/>
          <p:cNvSpPr/>
          <p:nvPr/>
        </p:nvSpPr>
        <p:spPr>
          <a:xfrm flipH="false" flipV="false" rot="0">
            <a:off x="3568057" y="5567680"/>
            <a:ext cx="11790495" cy="4200364"/>
          </a:xfrm>
          <a:custGeom>
            <a:avLst/>
            <a:gdLst/>
            <a:ahLst/>
            <a:cxnLst/>
            <a:rect r="r" b="b" t="t" l="l"/>
            <a:pathLst>
              <a:path h="4200364" w="11790495">
                <a:moveTo>
                  <a:pt x="0" y="0"/>
                </a:moveTo>
                <a:lnTo>
                  <a:pt x="11790495" y="0"/>
                </a:lnTo>
                <a:lnTo>
                  <a:pt x="11790495" y="4200364"/>
                </a:lnTo>
                <a:lnTo>
                  <a:pt x="0" y="4200364"/>
                </a:lnTo>
                <a:lnTo>
                  <a:pt x="0" y="0"/>
                </a:lnTo>
                <a:close/>
              </a:path>
            </a:pathLst>
          </a:custGeom>
          <a:blipFill>
            <a:blip r:embed="rId4"/>
            <a:stretch>
              <a:fillRect l="0" t="0" r="0" b="0"/>
            </a:stretch>
          </a:blipFill>
        </p:spPr>
      </p:sp>
      <p:sp>
        <p:nvSpPr>
          <p:cNvPr name="TextBox 23" id="23"/>
          <p:cNvSpPr txBox="true"/>
          <p:nvPr/>
        </p:nvSpPr>
        <p:spPr>
          <a:xfrm rot="0">
            <a:off x="16668640" y="87915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02</a:t>
            </a:r>
          </a:p>
        </p:txBody>
      </p:sp>
      <p:sp>
        <p:nvSpPr>
          <p:cNvPr name="TextBox 24" id="24"/>
          <p:cNvSpPr txBox="true"/>
          <p:nvPr/>
        </p:nvSpPr>
        <p:spPr>
          <a:xfrm rot="0">
            <a:off x="1028700" y="5076825"/>
            <a:ext cx="16230600" cy="490855"/>
          </a:xfrm>
          <a:prstGeom prst="rect">
            <a:avLst/>
          </a:prstGeom>
        </p:spPr>
        <p:txBody>
          <a:bodyPr anchor="t" rtlCol="false" tIns="0" lIns="0" bIns="0" rIns="0">
            <a:spAutoFit/>
          </a:bodyPr>
          <a:lstStyle/>
          <a:p>
            <a:pPr algn="ctr">
              <a:lnSpc>
                <a:spcPts val="3919"/>
              </a:lnSpc>
            </a:pPr>
          </a:p>
        </p:txBody>
      </p:sp>
      <p:sp>
        <p:nvSpPr>
          <p:cNvPr name="TextBox 25" id="25"/>
          <p:cNvSpPr txBox="true"/>
          <p:nvPr/>
        </p:nvSpPr>
        <p:spPr>
          <a:xfrm rot="0">
            <a:off x="1028700" y="2531526"/>
            <a:ext cx="16230600" cy="1481455"/>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000000"/>
                </a:solidFill>
                <a:latin typeface="Alice"/>
                <a:ea typeface="Alice"/>
                <a:cs typeface="Alice"/>
                <a:sym typeface="Alice"/>
              </a:rPr>
              <a:t>This dataset is built from information of profiles available on OkCupid. It has 59,946 San Francisco OkCupid users from a period in the 2010s. The data set includes typical user information, lifestyle variables.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35633" y="-1567159"/>
            <a:ext cx="3928667" cy="4163327"/>
          </a:xfrm>
          <a:custGeom>
            <a:avLst/>
            <a:gdLst/>
            <a:ahLst/>
            <a:cxnLst/>
            <a:rect r="r" b="b" t="t" l="l"/>
            <a:pathLst>
              <a:path h="4163327" w="3928667">
                <a:moveTo>
                  <a:pt x="0" y="0"/>
                </a:moveTo>
                <a:lnTo>
                  <a:pt x="3928666" y="0"/>
                </a:lnTo>
                <a:lnTo>
                  <a:pt x="3928666" y="4163328"/>
                </a:lnTo>
                <a:lnTo>
                  <a:pt x="0" y="4163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70254" y="1190625"/>
            <a:ext cx="12211386" cy="1209675"/>
          </a:xfrm>
          <a:prstGeom prst="rect">
            <a:avLst/>
          </a:prstGeom>
        </p:spPr>
        <p:txBody>
          <a:bodyPr anchor="t" rtlCol="false" tIns="0" lIns="0" bIns="0" rIns="0">
            <a:spAutoFit/>
          </a:bodyPr>
          <a:lstStyle/>
          <a:p>
            <a:pPr algn="l">
              <a:lnSpc>
                <a:spcPts val="9000"/>
              </a:lnSpc>
            </a:pPr>
            <a:r>
              <a:rPr lang="en-US" sz="9000" b="true">
                <a:solidFill>
                  <a:srgbClr val="2E2E2E"/>
                </a:solidFill>
                <a:latin typeface="Anonymous Pro Bold"/>
                <a:ea typeface="Anonymous Pro Bold"/>
                <a:cs typeface="Anonymous Pro Bold"/>
                <a:sym typeface="Anonymous Pro Bold"/>
              </a:rPr>
              <a:t>WHY THIS DATASET? </a:t>
            </a:r>
          </a:p>
        </p:txBody>
      </p:sp>
      <p:sp>
        <p:nvSpPr>
          <p:cNvPr name="TextBox 4" id="4"/>
          <p:cNvSpPr txBox="true"/>
          <p:nvPr/>
        </p:nvSpPr>
        <p:spPr>
          <a:xfrm rot="0">
            <a:off x="1028700" y="8791575"/>
            <a:ext cx="590660" cy="466725"/>
          </a:xfrm>
          <a:prstGeom prst="rect">
            <a:avLst/>
          </a:prstGeom>
        </p:spPr>
        <p:txBody>
          <a:bodyPr anchor="t" rtlCol="false" tIns="0" lIns="0" bIns="0" rIns="0">
            <a:spAutoFit/>
          </a:bodyPr>
          <a:lstStyle/>
          <a:p>
            <a:pPr algn="l">
              <a:lnSpc>
                <a:spcPts val="3600"/>
              </a:lnSpc>
            </a:pPr>
            <a:r>
              <a:rPr lang="en-US" sz="3000" b="true">
                <a:solidFill>
                  <a:srgbClr val="2E2E2E"/>
                </a:solidFill>
                <a:latin typeface="Anonymous Pro Bold"/>
                <a:ea typeface="Anonymous Pro Bold"/>
                <a:cs typeface="Anonymous Pro Bold"/>
                <a:sym typeface="Anonymous Pro Bold"/>
              </a:rPr>
              <a:t>03</a:t>
            </a:r>
          </a:p>
        </p:txBody>
      </p:sp>
      <p:sp>
        <p:nvSpPr>
          <p:cNvPr name="TextBox 5" id="5"/>
          <p:cNvSpPr txBox="true"/>
          <p:nvPr/>
        </p:nvSpPr>
        <p:spPr>
          <a:xfrm rot="0">
            <a:off x="363421" y="2577119"/>
            <a:ext cx="17924579" cy="5467350"/>
          </a:xfrm>
          <a:prstGeom prst="rect">
            <a:avLst/>
          </a:prstGeom>
        </p:spPr>
        <p:txBody>
          <a:bodyPr anchor="t" rtlCol="false" tIns="0" lIns="0" bIns="0" rIns="0">
            <a:spAutoFit/>
          </a:bodyPr>
          <a:lstStyle/>
          <a:p>
            <a:pPr algn="l">
              <a:lnSpc>
                <a:spcPts val="3924"/>
              </a:lnSpc>
              <a:spcBef>
                <a:spcPct val="0"/>
              </a:spcBef>
            </a:pPr>
            <a:r>
              <a:rPr lang="en-US" sz="3270">
                <a:solidFill>
                  <a:srgbClr val="2E2E2E"/>
                </a:solidFill>
                <a:latin typeface="Alice"/>
                <a:ea typeface="Alice"/>
                <a:cs typeface="Alice"/>
                <a:sym typeface="Alice"/>
              </a:rPr>
              <a:t>Modern-day dating apps reveal different aspects of how relationships have evolved over time. Millions of people have switched to online dating in the last few years.</a:t>
            </a:r>
          </a:p>
          <a:p>
            <a:pPr algn="l">
              <a:lnSpc>
                <a:spcPts val="3924"/>
              </a:lnSpc>
              <a:spcBef>
                <a:spcPct val="0"/>
              </a:spcBef>
            </a:pPr>
          </a:p>
          <a:p>
            <a:pPr algn="l">
              <a:lnSpc>
                <a:spcPts val="3924"/>
              </a:lnSpc>
              <a:spcBef>
                <a:spcPct val="0"/>
              </a:spcBef>
            </a:pPr>
            <a:r>
              <a:rPr lang="en-US" sz="3270">
                <a:solidFill>
                  <a:srgbClr val="2E2E2E"/>
                </a:solidFill>
                <a:latin typeface="Alice"/>
                <a:ea typeface="Alice"/>
                <a:cs typeface="Alice"/>
                <a:sym typeface="Alice"/>
              </a:rPr>
              <a:t>We are interested in exploring the audience who were involved in this particular dataset by their ethnicities, sex, sexual orientation, lifestyle choices, and education level.</a:t>
            </a:r>
          </a:p>
          <a:p>
            <a:pPr algn="l">
              <a:lnSpc>
                <a:spcPts val="3924"/>
              </a:lnSpc>
              <a:spcBef>
                <a:spcPct val="0"/>
              </a:spcBef>
            </a:pPr>
          </a:p>
          <a:p>
            <a:pPr algn="l">
              <a:lnSpc>
                <a:spcPts val="3924"/>
              </a:lnSpc>
              <a:spcBef>
                <a:spcPct val="0"/>
              </a:spcBef>
            </a:pPr>
            <a:r>
              <a:rPr lang="en-US" sz="3270">
                <a:solidFill>
                  <a:srgbClr val="2E2E2E"/>
                </a:solidFill>
                <a:latin typeface="Alice"/>
                <a:ea typeface="Alice"/>
                <a:cs typeface="Alice"/>
                <a:sym typeface="Alice"/>
              </a:rPr>
              <a:t>We are also interested to see how much stereotypical assumptions (every woman wanting kids, or queer people not wanting kids) hold up in predicting parental choices.</a:t>
            </a:r>
          </a:p>
          <a:p>
            <a:pPr algn="l">
              <a:lnSpc>
                <a:spcPts val="3924"/>
              </a:lnSpc>
              <a:spcBef>
                <a:spcPct val="0"/>
              </a:spcBef>
            </a:pPr>
          </a:p>
          <a:p>
            <a:pPr algn="l">
              <a:lnSpc>
                <a:spcPts val="3924"/>
              </a:lnSpc>
              <a:spcBef>
                <a:spcPct val="0"/>
              </a:spcBef>
            </a:pPr>
            <a:r>
              <a:rPr lang="en-US" sz="3270">
                <a:solidFill>
                  <a:srgbClr val="2E2E2E"/>
                </a:solidFill>
                <a:latin typeface="Alice"/>
                <a:ea typeface="Alice"/>
                <a:cs typeface="Alice"/>
                <a:sym typeface="Alice"/>
              </a:rPr>
              <a:t>Finally, we want to see how coherent people are when they are self-reporting their lifestyle choices in this app.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35633" y="-1567159"/>
            <a:ext cx="3928667" cy="4163327"/>
          </a:xfrm>
          <a:custGeom>
            <a:avLst/>
            <a:gdLst/>
            <a:ahLst/>
            <a:cxnLst/>
            <a:rect r="r" b="b" t="t" l="l"/>
            <a:pathLst>
              <a:path h="4163327" w="3928667">
                <a:moveTo>
                  <a:pt x="0" y="0"/>
                </a:moveTo>
                <a:lnTo>
                  <a:pt x="3928666" y="0"/>
                </a:lnTo>
                <a:lnTo>
                  <a:pt x="3928666" y="4163328"/>
                </a:lnTo>
                <a:lnTo>
                  <a:pt x="0" y="4163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0" y="3868479"/>
            <a:ext cx="6707438" cy="2352675"/>
          </a:xfrm>
          <a:prstGeom prst="rect">
            <a:avLst/>
          </a:prstGeom>
        </p:spPr>
        <p:txBody>
          <a:bodyPr anchor="t" rtlCol="false" tIns="0" lIns="0" bIns="0" rIns="0">
            <a:spAutoFit/>
          </a:bodyPr>
          <a:lstStyle/>
          <a:p>
            <a:pPr algn="l">
              <a:lnSpc>
                <a:spcPts val="9000"/>
              </a:lnSpc>
            </a:pPr>
            <a:r>
              <a:rPr lang="en-US" sz="9000" b="true">
                <a:solidFill>
                  <a:srgbClr val="2E2E2E"/>
                </a:solidFill>
                <a:latin typeface="Anonymous Pro Bold"/>
                <a:ea typeface="Anonymous Pro Bold"/>
                <a:cs typeface="Anonymous Pro Bold"/>
                <a:sym typeface="Anonymous Pro Bold"/>
              </a:rPr>
              <a:t>WHY THIS DATASET? </a:t>
            </a:r>
          </a:p>
        </p:txBody>
      </p:sp>
      <p:sp>
        <p:nvSpPr>
          <p:cNvPr name="Freeform 4" id="4"/>
          <p:cNvSpPr/>
          <p:nvPr/>
        </p:nvSpPr>
        <p:spPr>
          <a:xfrm flipH="false" flipV="false" rot="-5336403">
            <a:off x="3453261" y="4214580"/>
            <a:ext cx="6508354" cy="1857839"/>
          </a:xfrm>
          <a:custGeom>
            <a:avLst/>
            <a:gdLst/>
            <a:ahLst/>
            <a:cxnLst/>
            <a:rect r="r" b="b" t="t" l="l"/>
            <a:pathLst>
              <a:path h="1857839" w="6508354">
                <a:moveTo>
                  <a:pt x="0" y="0"/>
                </a:moveTo>
                <a:lnTo>
                  <a:pt x="6508354" y="0"/>
                </a:lnTo>
                <a:lnTo>
                  <a:pt x="6508354" y="1857840"/>
                </a:lnTo>
                <a:lnTo>
                  <a:pt x="0" y="1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8791575"/>
            <a:ext cx="590660" cy="466725"/>
          </a:xfrm>
          <a:prstGeom prst="rect">
            <a:avLst/>
          </a:prstGeom>
        </p:spPr>
        <p:txBody>
          <a:bodyPr anchor="t" rtlCol="false" tIns="0" lIns="0" bIns="0" rIns="0">
            <a:spAutoFit/>
          </a:bodyPr>
          <a:lstStyle/>
          <a:p>
            <a:pPr algn="l">
              <a:lnSpc>
                <a:spcPts val="3600"/>
              </a:lnSpc>
            </a:pPr>
            <a:r>
              <a:rPr lang="en-US" sz="3000" b="true">
                <a:solidFill>
                  <a:srgbClr val="2E2E2E"/>
                </a:solidFill>
                <a:latin typeface="Anonymous Pro Bold"/>
                <a:ea typeface="Anonymous Pro Bold"/>
                <a:cs typeface="Anonymous Pro Bold"/>
                <a:sym typeface="Anonymous Pro Bold"/>
              </a:rPr>
              <a:t>03</a:t>
            </a:r>
          </a:p>
        </p:txBody>
      </p:sp>
      <p:sp>
        <p:nvSpPr>
          <p:cNvPr name="TextBox 6" id="6"/>
          <p:cNvSpPr txBox="true"/>
          <p:nvPr/>
        </p:nvSpPr>
        <p:spPr>
          <a:xfrm rot="0">
            <a:off x="8041640" y="7230255"/>
            <a:ext cx="5761580" cy="1868992"/>
          </a:xfrm>
          <a:prstGeom prst="rect">
            <a:avLst/>
          </a:prstGeom>
        </p:spPr>
        <p:txBody>
          <a:bodyPr anchor="t" rtlCol="false" tIns="0" lIns="0" bIns="0" rIns="0">
            <a:spAutoFit/>
          </a:bodyPr>
          <a:lstStyle/>
          <a:p>
            <a:pPr algn="ctr">
              <a:lnSpc>
                <a:spcPts val="4754"/>
              </a:lnSpc>
            </a:pPr>
            <a:r>
              <a:rPr lang="en-US" sz="3962">
                <a:solidFill>
                  <a:srgbClr val="000000"/>
                </a:solidFill>
                <a:latin typeface="Times New Roman MT"/>
                <a:ea typeface="Times New Roman MT"/>
                <a:cs typeface="Times New Roman MT"/>
                <a:sym typeface="Times New Roman MT"/>
              </a:rPr>
              <a:t>How reliable are </a:t>
            </a:r>
          </a:p>
          <a:p>
            <a:pPr algn="ctr">
              <a:lnSpc>
                <a:spcPts val="4754"/>
              </a:lnSpc>
            </a:pPr>
            <a:r>
              <a:rPr lang="en-US" sz="3962">
                <a:solidFill>
                  <a:srgbClr val="000000"/>
                </a:solidFill>
                <a:latin typeface="Times New Roman MT"/>
                <a:ea typeface="Times New Roman MT"/>
                <a:cs typeface="Times New Roman MT"/>
                <a:sym typeface="Times New Roman MT"/>
              </a:rPr>
              <a:t>those choices in predicting </a:t>
            </a:r>
          </a:p>
          <a:p>
            <a:pPr algn="ctr">
              <a:lnSpc>
                <a:spcPts val="4754"/>
              </a:lnSpc>
              <a:spcBef>
                <a:spcPct val="0"/>
              </a:spcBef>
            </a:pPr>
            <a:r>
              <a:rPr lang="en-US" sz="3962">
                <a:solidFill>
                  <a:srgbClr val="000000"/>
                </a:solidFill>
                <a:latin typeface="Times New Roman MT"/>
                <a:ea typeface="Times New Roman MT"/>
                <a:cs typeface="Times New Roman MT"/>
                <a:sym typeface="Times New Roman MT"/>
              </a:rPr>
              <a:t>their behavior</a:t>
            </a:r>
          </a:p>
        </p:txBody>
      </p:sp>
      <p:sp>
        <p:nvSpPr>
          <p:cNvPr name="TextBox 7" id="7"/>
          <p:cNvSpPr txBox="true"/>
          <p:nvPr/>
        </p:nvSpPr>
        <p:spPr>
          <a:xfrm rot="0">
            <a:off x="8041640" y="4382224"/>
            <a:ext cx="5444759" cy="1838930"/>
          </a:xfrm>
          <a:prstGeom prst="rect">
            <a:avLst/>
          </a:prstGeom>
        </p:spPr>
        <p:txBody>
          <a:bodyPr anchor="t" rtlCol="false" tIns="0" lIns="0" bIns="0" rIns="0">
            <a:spAutoFit/>
          </a:bodyPr>
          <a:lstStyle/>
          <a:p>
            <a:pPr algn="ctr" marL="0" indent="0" lvl="0">
              <a:lnSpc>
                <a:spcPts val="4675"/>
              </a:lnSpc>
              <a:spcBef>
                <a:spcPct val="0"/>
              </a:spcBef>
            </a:pPr>
            <a:r>
              <a:rPr lang="en-US" sz="3896" strike="noStrike" u="none">
                <a:solidFill>
                  <a:srgbClr val="000000"/>
                </a:solidFill>
                <a:latin typeface="Times New Roman MT"/>
                <a:ea typeface="Times New Roman MT"/>
                <a:cs typeface="Times New Roman MT"/>
                <a:sym typeface="Times New Roman MT"/>
              </a:rPr>
              <a:t>To understand user </a:t>
            </a:r>
          </a:p>
          <a:p>
            <a:pPr algn="ctr" marL="0" indent="0" lvl="0">
              <a:lnSpc>
                <a:spcPts val="4675"/>
              </a:lnSpc>
              <a:spcBef>
                <a:spcPct val="0"/>
              </a:spcBef>
            </a:pPr>
            <a:r>
              <a:rPr lang="en-US" sz="3896" strike="noStrike" u="none">
                <a:solidFill>
                  <a:srgbClr val="000000"/>
                </a:solidFill>
                <a:latin typeface="Times New Roman MT"/>
                <a:ea typeface="Times New Roman MT"/>
                <a:cs typeface="Times New Roman MT"/>
                <a:sym typeface="Times New Roman MT"/>
              </a:rPr>
              <a:t>behavior based </a:t>
            </a:r>
          </a:p>
          <a:p>
            <a:pPr algn="ctr" marL="0" indent="0" lvl="0">
              <a:lnSpc>
                <a:spcPts val="4675"/>
              </a:lnSpc>
              <a:spcBef>
                <a:spcPct val="0"/>
              </a:spcBef>
            </a:pPr>
            <a:r>
              <a:rPr lang="en-US" sz="3896" strike="noStrike" u="none">
                <a:solidFill>
                  <a:srgbClr val="000000"/>
                </a:solidFill>
                <a:latin typeface="Times New Roman MT"/>
                <a:ea typeface="Times New Roman MT"/>
                <a:cs typeface="Times New Roman MT"/>
                <a:sym typeface="Times New Roman MT"/>
              </a:rPr>
              <a:t>on the choices they make </a:t>
            </a:r>
          </a:p>
        </p:txBody>
      </p:sp>
      <p:sp>
        <p:nvSpPr>
          <p:cNvPr name="TextBox 8" id="8"/>
          <p:cNvSpPr txBox="true"/>
          <p:nvPr/>
        </p:nvSpPr>
        <p:spPr>
          <a:xfrm rot="0">
            <a:off x="7566380" y="1297303"/>
            <a:ext cx="6761419" cy="2521532"/>
          </a:xfrm>
          <a:prstGeom prst="rect">
            <a:avLst/>
          </a:prstGeom>
        </p:spPr>
        <p:txBody>
          <a:bodyPr anchor="t" rtlCol="false" tIns="0" lIns="0" bIns="0" rIns="0">
            <a:spAutoFit/>
          </a:bodyPr>
          <a:lstStyle/>
          <a:p>
            <a:pPr algn="ctr">
              <a:lnSpc>
                <a:spcPts val="4864"/>
              </a:lnSpc>
            </a:pPr>
            <a:r>
              <a:rPr lang="en-US" sz="4053">
                <a:solidFill>
                  <a:srgbClr val="000000"/>
                </a:solidFill>
                <a:latin typeface="Times New Roman MT"/>
                <a:ea typeface="Times New Roman MT"/>
                <a:cs typeface="Times New Roman MT"/>
                <a:sym typeface="Times New Roman MT"/>
              </a:rPr>
              <a:t>Exploring the dataset to see</a:t>
            </a:r>
          </a:p>
          <a:p>
            <a:pPr algn="ctr">
              <a:lnSpc>
                <a:spcPts val="4864"/>
              </a:lnSpc>
            </a:pPr>
            <a:r>
              <a:rPr lang="en-US" sz="4053">
                <a:solidFill>
                  <a:srgbClr val="000000"/>
                </a:solidFill>
                <a:latin typeface="Times New Roman MT"/>
                <a:ea typeface="Times New Roman MT"/>
                <a:cs typeface="Times New Roman MT"/>
                <a:sym typeface="Times New Roman MT"/>
              </a:rPr>
              <a:t>how diverse they are and identifying</a:t>
            </a:r>
          </a:p>
          <a:p>
            <a:pPr algn="ctr" marL="0" indent="0" lvl="0">
              <a:lnSpc>
                <a:spcPts val="4864"/>
              </a:lnSpc>
              <a:spcBef>
                <a:spcPct val="0"/>
              </a:spcBef>
            </a:pPr>
            <a:r>
              <a:rPr lang="en-US" sz="4053">
                <a:solidFill>
                  <a:srgbClr val="000000"/>
                </a:solidFill>
                <a:latin typeface="Times New Roman MT"/>
                <a:ea typeface="Times New Roman MT"/>
                <a:cs typeface="Times New Roman MT"/>
                <a:sym typeface="Times New Roman MT"/>
              </a:rPr>
              <a:t>any limitation in data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35633" y="-1567159"/>
            <a:ext cx="3928667" cy="4163327"/>
          </a:xfrm>
          <a:custGeom>
            <a:avLst/>
            <a:gdLst/>
            <a:ahLst/>
            <a:cxnLst/>
            <a:rect r="r" b="b" t="t" l="l"/>
            <a:pathLst>
              <a:path h="4163327" w="3928667">
                <a:moveTo>
                  <a:pt x="0" y="0"/>
                </a:moveTo>
                <a:lnTo>
                  <a:pt x="3928666" y="0"/>
                </a:lnTo>
                <a:lnTo>
                  <a:pt x="3928666" y="4163328"/>
                </a:lnTo>
                <a:lnTo>
                  <a:pt x="0" y="4163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33253" y="2400300"/>
            <a:ext cx="4285389" cy="2962275"/>
          </a:xfrm>
          <a:custGeom>
            <a:avLst/>
            <a:gdLst/>
            <a:ahLst/>
            <a:cxnLst/>
            <a:rect r="r" b="b" t="t" l="l"/>
            <a:pathLst>
              <a:path h="2962275" w="4285389">
                <a:moveTo>
                  <a:pt x="0" y="0"/>
                </a:moveTo>
                <a:lnTo>
                  <a:pt x="4285389" y="0"/>
                </a:lnTo>
                <a:lnTo>
                  <a:pt x="4285389" y="2962275"/>
                </a:lnTo>
                <a:lnTo>
                  <a:pt x="0" y="29622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880918">
            <a:off x="7863718" y="7918626"/>
            <a:ext cx="1547532" cy="642226"/>
          </a:xfrm>
          <a:custGeom>
            <a:avLst/>
            <a:gdLst/>
            <a:ahLst/>
            <a:cxnLst/>
            <a:rect r="r" b="b" t="t" l="l"/>
            <a:pathLst>
              <a:path h="642226" w="1547532">
                <a:moveTo>
                  <a:pt x="0" y="0"/>
                </a:moveTo>
                <a:lnTo>
                  <a:pt x="1547531" y="0"/>
                </a:lnTo>
                <a:lnTo>
                  <a:pt x="1547531" y="642226"/>
                </a:lnTo>
                <a:lnTo>
                  <a:pt x="0" y="642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8791575"/>
            <a:ext cx="590660" cy="466725"/>
          </a:xfrm>
          <a:prstGeom prst="rect">
            <a:avLst/>
          </a:prstGeom>
        </p:spPr>
        <p:txBody>
          <a:bodyPr anchor="t" rtlCol="false" tIns="0" lIns="0" bIns="0" rIns="0">
            <a:spAutoFit/>
          </a:bodyPr>
          <a:lstStyle/>
          <a:p>
            <a:pPr algn="l">
              <a:lnSpc>
                <a:spcPts val="3600"/>
              </a:lnSpc>
            </a:pPr>
            <a:r>
              <a:rPr lang="en-US" sz="3000" b="true">
                <a:solidFill>
                  <a:srgbClr val="2E2E2E"/>
                </a:solidFill>
                <a:latin typeface="Anonymous Pro Bold"/>
                <a:ea typeface="Anonymous Pro Bold"/>
                <a:cs typeface="Anonymous Pro Bold"/>
                <a:sym typeface="Anonymous Pro Bold"/>
              </a:rPr>
              <a:t>03</a:t>
            </a:r>
          </a:p>
        </p:txBody>
      </p:sp>
      <p:sp>
        <p:nvSpPr>
          <p:cNvPr name="TextBox 6" id="6"/>
          <p:cNvSpPr txBox="true"/>
          <p:nvPr/>
        </p:nvSpPr>
        <p:spPr>
          <a:xfrm rot="0">
            <a:off x="3470254" y="1190625"/>
            <a:ext cx="12211386" cy="1209675"/>
          </a:xfrm>
          <a:prstGeom prst="rect">
            <a:avLst/>
          </a:prstGeom>
        </p:spPr>
        <p:txBody>
          <a:bodyPr anchor="t" rtlCol="false" tIns="0" lIns="0" bIns="0" rIns="0">
            <a:spAutoFit/>
          </a:bodyPr>
          <a:lstStyle/>
          <a:p>
            <a:pPr algn="ctr">
              <a:lnSpc>
                <a:spcPts val="9000"/>
              </a:lnSpc>
            </a:pPr>
            <a:r>
              <a:rPr lang="en-US" b="true" sz="9000">
                <a:solidFill>
                  <a:srgbClr val="2E2E2E"/>
                </a:solidFill>
                <a:latin typeface="Anonymous Pro Bold"/>
                <a:ea typeface="Anonymous Pro Bold"/>
                <a:cs typeface="Anonymous Pro Bold"/>
                <a:sym typeface="Anonymous Pro Bold"/>
              </a:rPr>
              <a:t>ANALYSIS TOOLS </a:t>
            </a:r>
          </a:p>
        </p:txBody>
      </p:sp>
      <p:sp>
        <p:nvSpPr>
          <p:cNvPr name="TextBox 7" id="7"/>
          <p:cNvSpPr txBox="true"/>
          <p:nvPr/>
        </p:nvSpPr>
        <p:spPr>
          <a:xfrm rot="0">
            <a:off x="6200204" y="5267325"/>
            <a:ext cx="1869430" cy="771526"/>
          </a:xfrm>
          <a:prstGeom prst="rect">
            <a:avLst/>
          </a:prstGeom>
        </p:spPr>
        <p:txBody>
          <a:bodyPr anchor="t" rtlCol="false" tIns="0" lIns="0" bIns="0" rIns="0">
            <a:spAutoFit/>
          </a:bodyPr>
          <a:lstStyle/>
          <a:p>
            <a:pPr algn="ctr" marL="0" indent="0" lvl="0">
              <a:lnSpc>
                <a:spcPts val="6299"/>
              </a:lnSpc>
              <a:spcBef>
                <a:spcPct val="0"/>
              </a:spcBef>
            </a:pPr>
            <a:r>
              <a:rPr lang="en-US" sz="4499">
                <a:solidFill>
                  <a:srgbClr val="000000"/>
                </a:solidFill>
                <a:latin typeface="Alice Bold"/>
                <a:ea typeface="Alice Bold"/>
                <a:cs typeface="Alice Bold"/>
                <a:sym typeface="Alice Bold"/>
              </a:rPr>
              <a:t>Python</a:t>
            </a:r>
          </a:p>
        </p:txBody>
      </p:sp>
      <p:sp>
        <p:nvSpPr>
          <p:cNvPr name="TextBox 8" id="8"/>
          <p:cNvSpPr txBox="true"/>
          <p:nvPr/>
        </p:nvSpPr>
        <p:spPr>
          <a:xfrm rot="0">
            <a:off x="10805075" y="5257800"/>
            <a:ext cx="2193578" cy="790574"/>
          </a:xfrm>
          <a:prstGeom prst="rect">
            <a:avLst/>
          </a:prstGeom>
        </p:spPr>
        <p:txBody>
          <a:bodyPr anchor="t" rtlCol="false" tIns="0" lIns="0" bIns="0" rIns="0">
            <a:spAutoFit/>
          </a:bodyPr>
          <a:lstStyle/>
          <a:p>
            <a:pPr algn="ctr" marL="0" indent="0" lvl="0">
              <a:lnSpc>
                <a:spcPts val="6300"/>
              </a:lnSpc>
              <a:spcBef>
                <a:spcPct val="0"/>
              </a:spcBef>
            </a:pPr>
            <a:r>
              <a:rPr lang="en-US" sz="4500">
                <a:solidFill>
                  <a:srgbClr val="000000"/>
                </a:solidFill>
                <a:latin typeface="Alice Bold"/>
                <a:ea typeface="Alice Bold"/>
                <a:cs typeface="Alice Bold"/>
                <a:sym typeface="Alice Bold"/>
              </a:rPr>
              <a:t>R Studio</a:t>
            </a:r>
          </a:p>
        </p:txBody>
      </p:sp>
      <p:sp>
        <p:nvSpPr>
          <p:cNvPr name="TextBox 9" id="9"/>
          <p:cNvSpPr txBox="true"/>
          <p:nvPr/>
        </p:nvSpPr>
        <p:spPr>
          <a:xfrm rot="0">
            <a:off x="9799743" y="6257636"/>
            <a:ext cx="4597327" cy="819727"/>
          </a:xfrm>
          <a:prstGeom prst="rect">
            <a:avLst/>
          </a:prstGeom>
        </p:spPr>
        <p:txBody>
          <a:bodyPr anchor="t" rtlCol="false" tIns="0" lIns="0" bIns="0" rIns="0">
            <a:spAutoFit/>
          </a:bodyPr>
          <a:lstStyle/>
          <a:p>
            <a:pPr algn="ctr">
              <a:lnSpc>
                <a:spcPts val="3227"/>
              </a:lnSpc>
              <a:spcBef>
                <a:spcPct val="0"/>
              </a:spcBef>
            </a:pPr>
            <a:r>
              <a:rPr lang="en-US" b="true" sz="2689">
                <a:solidFill>
                  <a:srgbClr val="000000"/>
                </a:solidFill>
                <a:latin typeface="HK Grotesk Medium"/>
                <a:ea typeface="HK Grotesk Medium"/>
                <a:cs typeface="HK Grotesk Medium"/>
                <a:sym typeface="HK Grotesk Medium"/>
              </a:rPr>
              <a:t>Packages : tidyverse, dplyr, gam, ggplot2, pROC,</a:t>
            </a:r>
          </a:p>
        </p:txBody>
      </p:sp>
      <p:sp>
        <p:nvSpPr>
          <p:cNvPr name="TextBox 10" id="10"/>
          <p:cNvSpPr txBox="true"/>
          <p:nvPr/>
        </p:nvSpPr>
        <p:spPr>
          <a:xfrm rot="0">
            <a:off x="5673687" y="6052445"/>
            <a:ext cx="3470313" cy="1397333"/>
          </a:xfrm>
          <a:prstGeom prst="rect">
            <a:avLst/>
          </a:prstGeom>
        </p:spPr>
        <p:txBody>
          <a:bodyPr anchor="t" rtlCol="false" tIns="0" lIns="0" bIns="0" rIns="0">
            <a:spAutoFit/>
          </a:bodyPr>
          <a:lstStyle/>
          <a:p>
            <a:pPr algn="ctr">
              <a:lnSpc>
                <a:spcPts val="2731"/>
              </a:lnSpc>
              <a:spcBef>
                <a:spcPct val="0"/>
              </a:spcBef>
            </a:pPr>
            <a:r>
              <a:rPr lang="en-US" b="true" sz="2276">
                <a:solidFill>
                  <a:srgbClr val="000000"/>
                </a:solidFill>
                <a:latin typeface="HK Grotesk Medium"/>
                <a:ea typeface="HK Grotesk Medium"/>
                <a:cs typeface="HK Grotesk Medium"/>
                <a:sym typeface="HK Grotesk Medium"/>
              </a:rPr>
              <a:t>Packages : NumPy, Pandas, Seaborn, Matplotlib,IsolationForest</a:t>
            </a:r>
          </a:p>
          <a:p>
            <a:pPr algn="ctr">
              <a:lnSpc>
                <a:spcPts val="2731"/>
              </a:lnSpc>
              <a:spcBef>
                <a:spcPct val="0"/>
              </a:spcBef>
            </a:pPr>
          </a:p>
        </p:txBody>
      </p:sp>
      <p:sp>
        <p:nvSpPr>
          <p:cNvPr name="Freeform 11" id="11"/>
          <p:cNvSpPr/>
          <p:nvPr/>
        </p:nvSpPr>
        <p:spPr>
          <a:xfrm flipH="false" flipV="false" rot="7928980">
            <a:off x="9589132" y="7720015"/>
            <a:ext cx="1544442" cy="640943"/>
          </a:xfrm>
          <a:custGeom>
            <a:avLst/>
            <a:gdLst/>
            <a:ahLst/>
            <a:cxnLst/>
            <a:rect r="r" b="b" t="t" l="l"/>
            <a:pathLst>
              <a:path h="640943" w="1544442">
                <a:moveTo>
                  <a:pt x="0" y="0"/>
                </a:moveTo>
                <a:lnTo>
                  <a:pt x="1544442" y="0"/>
                </a:lnTo>
                <a:lnTo>
                  <a:pt x="1544442" y="640943"/>
                </a:lnTo>
                <a:lnTo>
                  <a:pt x="0" y="6409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8781475" y="8942648"/>
            <a:ext cx="1581448" cy="679451"/>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000000"/>
                </a:solidFill>
                <a:latin typeface="Alice Bold"/>
                <a:ea typeface="Alice Bold"/>
                <a:cs typeface="Alice Bold"/>
                <a:sym typeface="Alice Bold"/>
              </a:rPr>
              <a:t>Github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8574" y="-492354"/>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81312" y="1277992"/>
            <a:ext cx="6433611" cy="7731016"/>
            <a:chOff x="0" y="0"/>
            <a:chExt cx="8829365" cy="10609899"/>
          </a:xfrm>
        </p:grpSpPr>
        <p:sp>
          <p:nvSpPr>
            <p:cNvPr name="Freeform 5" id="5"/>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6" id="6"/>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7" id="7"/>
          <p:cNvGrpSpPr/>
          <p:nvPr/>
        </p:nvGrpSpPr>
        <p:grpSpPr>
          <a:xfrm rot="0">
            <a:off x="1581312" y="1277992"/>
            <a:ext cx="6433611" cy="908385"/>
            <a:chOff x="0" y="0"/>
            <a:chExt cx="8829365" cy="1246650"/>
          </a:xfrm>
        </p:grpSpPr>
        <p:sp>
          <p:nvSpPr>
            <p:cNvPr name="Freeform 8" id="8"/>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9" id="9"/>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10" id="10"/>
          <p:cNvSpPr/>
          <p:nvPr/>
        </p:nvSpPr>
        <p:spPr>
          <a:xfrm rot="0">
            <a:off x="3270093" y="1689676"/>
            <a:ext cx="4304837" cy="85017"/>
          </a:xfrm>
          <a:prstGeom prst="rect">
            <a:avLst/>
          </a:prstGeom>
          <a:solidFill>
            <a:srgbClr val="2E2E2E"/>
          </a:solidFill>
        </p:spPr>
      </p:sp>
      <p:grpSp>
        <p:nvGrpSpPr>
          <p:cNvPr name="Group 11" id="11"/>
          <p:cNvGrpSpPr/>
          <p:nvPr/>
        </p:nvGrpSpPr>
        <p:grpSpPr>
          <a:xfrm rot="0">
            <a:off x="2063814" y="1589309"/>
            <a:ext cx="285750" cy="285750"/>
            <a:chOff x="0" y="0"/>
            <a:chExt cx="381000" cy="381000"/>
          </a:xfrm>
        </p:grpSpPr>
        <p:grpSp>
          <p:nvGrpSpPr>
            <p:cNvPr name="Group 12" id="12"/>
            <p:cNvGrpSpPr>
              <a:grpSpLocks noChangeAspect="true"/>
            </p:cNvGrpSpPr>
            <p:nvPr/>
          </p:nvGrpSpPr>
          <p:grpSpPr>
            <a:xfrm rot="0">
              <a:off x="0" y="0"/>
              <a:ext cx="381000" cy="38100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a:grpSpLocks noChangeAspect="true"/>
            </p:cNvGrpSpPr>
            <p:nvPr/>
          </p:nvGrpSpPr>
          <p:grpSpPr>
            <a:xfrm rot="0">
              <a:off x="69420" y="69420"/>
              <a:ext cx="242160" cy="242160"/>
              <a:chOff x="6705600" y="1371600"/>
              <a:chExt cx="10972800" cy="10972800"/>
            </a:xfrm>
          </p:grpSpPr>
          <p:sp>
            <p:nvSpPr>
              <p:cNvPr name="Freeform 15" id="1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6" id="16"/>
          <p:cNvGrpSpPr/>
          <p:nvPr/>
        </p:nvGrpSpPr>
        <p:grpSpPr>
          <a:xfrm rot="0">
            <a:off x="2482914" y="1589309"/>
            <a:ext cx="285750" cy="285750"/>
            <a:chOff x="0" y="0"/>
            <a:chExt cx="381000" cy="381000"/>
          </a:xfrm>
        </p:grpSpPr>
        <p:grpSp>
          <p:nvGrpSpPr>
            <p:cNvPr name="Group 17" id="17"/>
            <p:cNvGrpSpPr>
              <a:grpSpLocks noChangeAspect="true"/>
            </p:cNvGrpSpPr>
            <p:nvPr/>
          </p:nvGrpSpPr>
          <p:grpSpPr>
            <a:xfrm rot="0">
              <a:off x="0" y="0"/>
              <a:ext cx="381000" cy="38100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9" id="19"/>
            <p:cNvGrpSpPr>
              <a:grpSpLocks noChangeAspect="true"/>
            </p:cNvGrpSpPr>
            <p:nvPr/>
          </p:nvGrpSpPr>
          <p:grpSpPr>
            <a:xfrm rot="0">
              <a:off x="69420" y="69420"/>
              <a:ext cx="242160" cy="242160"/>
              <a:chOff x="6705600" y="1371600"/>
              <a:chExt cx="10972800" cy="10972800"/>
            </a:xfrm>
          </p:grpSpPr>
          <p:sp>
            <p:nvSpPr>
              <p:cNvPr name="Freeform 20" id="20"/>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21" id="21"/>
          <p:cNvGrpSpPr/>
          <p:nvPr/>
        </p:nvGrpSpPr>
        <p:grpSpPr>
          <a:xfrm rot="0">
            <a:off x="2063814" y="3684602"/>
            <a:ext cx="5139781" cy="2771894"/>
            <a:chOff x="0" y="0"/>
            <a:chExt cx="6853042" cy="3695858"/>
          </a:xfrm>
        </p:grpSpPr>
        <p:sp>
          <p:nvSpPr>
            <p:cNvPr name="TextBox 22" id="22"/>
            <p:cNvSpPr txBox="true"/>
            <p:nvPr/>
          </p:nvSpPr>
          <p:spPr>
            <a:xfrm rot="0">
              <a:off x="418386" y="95250"/>
              <a:ext cx="6434656" cy="31169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EXPLORATORY DATA ANALYSIS</a:t>
              </a:r>
            </a:p>
          </p:txBody>
        </p:sp>
        <p:pic>
          <p:nvPicPr>
            <p:cNvPr name="Picture 23" id="23"/>
            <p:cNvPicPr>
              <a:picLocks noChangeAspect="true"/>
            </p:cNvPicPr>
            <p:nvPr/>
          </p:nvPicPr>
          <p:blipFill>
            <a:blip r:embed="rId4"/>
            <a:srcRect l="0" t="0" r="0" b="0"/>
            <a:stretch>
              <a:fillRect/>
            </a:stretch>
          </p:blipFill>
          <p:spPr>
            <a:xfrm flipH="false" flipV="false" rot="0">
              <a:off x="0" y="3273450"/>
              <a:ext cx="5450424" cy="422408"/>
            </a:xfrm>
            <a:prstGeom prst="rect">
              <a:avLst/>
            </a:prstGeom>
          </p:spPr>
        </p:pic>
      </p:grpSp>
      <p:grpSp>
        <p:nvGrpSpPr>
          <p:cNvPr name="Group 24" id="24"/>
          <p:cNvGrpSpPr>
            <a:grpSpLocks noChangeAspect="true"/>
          </p:cNvGrpSpPr>
          <p:nvPr/>
        </p:nvGrpSpPr>
        <p:grpSpPr>
          <a:xfrm rot="0">
            <a:off x="10273646" y="2953033"/>
            <a:ext cx="181620" cy="181620"/>
            <a:chOff x="6705600" y="1371600"/>
            <a:chExt cx="10972800" cy="10972800"/>
          </a:xfrm>
        </p:grpSpPr>
        <p:sp>
          <p:nvSpPr>
            <p:cNvPr name="Freeform 25" id="2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grpSp>
        <p:nvGrpSpPr>
          <p:cNvPr name="Group 26" id="26"/>
          <p:cNvGrpSpPr/>
          <p:nvPr/>
        </p:nvGrpSpPr>
        <p:grpSpPr>
          <a:xfrm rot="0">
            <a:off x="9812917" y="3350436"/>
            <a:ext cx="6855723" cy="2669969"/>
            <a:chOff x="0" y="0"/>
            <a:chExt cx="1076130" cy="419100"/>
          </a:xfrm>
        </p:grpSpPr>
        <p:sp>
          <p:nvSpPr>
            <p:cNvPr name="Freeform 27" id="27"/>
            <p:cNvSpPr/>
            <p:nvPr/>
          </p:nvSpPr>
          <p:spPr>
            <a:xfrm flipH="false" flipV="false" rot="0">
              <a:off x="0" y="0"/>
              <a:ext cx="1076130" cy="419100"/>
            </a:xfrm>
            <a:custGeom>
              <a:avLst/>
              <a:gdLst/>
              <a:ahLst/>
              <a:cxnLst/>
              <a:rect r="r" b="b" t="t" l="l"/>
              <a:pathLst>
                <a:path h="419100" w="1076130">
                  <a:moveTo>
                    <a:pt x="22056" y="0"/>
                  </a:moveTo>
                  <a:lnTo>
                    <a:pt x="1054074" y="0"/>
                  </a:lnTo>
                  <a:cubicBezTo>
                    <a:pt x="1059924" y="0"/>
                    <a:pt x="1065534" y="2324"/>
                    <a:pt x="1069670" y="6460"/>
                  </a:cubicBezTo>
                  <a:cubicBezTo>
                    <a:pt x="1073806" y="10596"/>
                    <a:pt x="1076130" y="16206"/>
                    <a:pt x="1076130" y="22056"/>
                  </a:cubicBezTo>
                  <a:lnTo>
                    <a:pt x="1076130" y="397044"/>
                  </a:lnTo>
                  <a:cubicBezTo>
                    <a:pt x="1076130" y="402894"/>
                    <a:pt x="1073806" y="408504"/>
                    <a:pt x="1069670" y="412640"/>
                  </a:cubicBezTo>
                  <a:cubicBezTo>
                    <a:pt x="1065534" y="416776"/>
                    <a:pt x="1059924" y="419100"/>
                    <a:pt x="1054074" y="419100"/>
                  </a:cubicBezTo>
                  <a:lnTo>
                    <a:pt x="22056" y="419100"/>
                  </a:lnTo>
                  <a:cubicBezTo>
                    <a:pt x="16206" y="419100"/>
                    <a:pt x="10596" y="416776"/>
                    <a:pt x="6460" y="412640"/>
                  </a:cubicBezTo>
                  <a:cubicBezTo>
                    <a:pt x="2324" y="408504"/>
                    <a:pt x="0" y="402894"/>
                    <a:pt x="0" y="397044"/>
                  </a:cubicBezTo>
                  <a:lnTo>
                    <a:pt x="0" y="22056"/>
                  </a:lnTo>
                  <a:cubicBezTo>
                    <a:pt x="0" y="16206"/>
                    <a:pt x="2324" y="10596"/>
                    <a:pt x="6460" y="6460"/>
                  </a:cubicBezTo>
                  <a:cubicBezTo>
                    <a:pt x="10596" y="2324"/>
                    <a:pt x="16206" y="0"/>
                    <a:pt x="22056" y="0"/>
                  </a:cubicBezTo>
                  <a:close/>
                </a:path>
              </a:pathLst>
            </a:custGeom>
            <a:solidFill>
              <a:srgbClr val="F1DCED"/>
            </a:solidFill>
          </p:spPr>
        </p:sp>
        <p:sp>
          <p:nvSpPr>
            <p:cNvPr name="TextBox 28" id="28"/>
            <p:cNvSpPr txBox="true"/>
            <p:nvPr/>
          </p:nvSpPr>
          <p:spPr>
            <a:xfrm>
              <a:off x="0" y="-104775"/>
              <a:ext cx="1076130" cy="523875"/>
            </a:xfrm>
            <a:prstGeom prst="rect">
              <a:avLst/>
            </a:prstGeom>
          </p:spPr>
          <p:txBody>
            <a:bodyPr anchor="ctr" rtlCol="false" tIns="50800" lIns="50800" bIns="50800" rIns="50800"/>
            <a:lstStyle/>
            <a:p>
              <a:pPr algn="ctr">
                <a:lnSpc>
                  <a:spcPts val="7279"/>
                </a:lnSpc>
              </a:pPr>
              <a:r>
                <a:rPr lang="en-US" b="true" sz="5199">
                  <a:solidFill>
                    <a:srgbClr val="2E2E2E"/>
                  </a:solidFill>
                  <a:latin typeface="Anonymous Pro Bold"/>
                  <a:ea typeface="Anonymous Pro Bold"/>
                  <a:cs typeface="Anonymous Pro Bold"/>
                  <a:sym typeface="Anonymous Pro Bold"/>
                </a:rPr>
                <a:t>Ethnicity, Sex </a:t>
              </a:r>
              <a:r>
                <a:rPr lang="en-US" b="true" sz="5199">
                  <a:solidFill>
                    <a:srgbClr val="2E2E2E"/>
                  </a:solidFill>
                  <a:latin typeface="Anonymous Pro Bold"/>
                  <a:ea typeface="Anonymous Pro Bold"/>
                  <a:cs typeface="Anonymous Pro Bold"/>
                  <a:sym typeface="Anonymous Pro Bold"/>
                </a:rPr>
                <a:t> </a:t>
              </a:r>
            </a:p>
          </p:txBody>
        </p:sp>
      </p:grpSp>
      <p:sp>
        <p:nvSpPr>
          <p:cNvPr name="TextBox 29" id="2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3832430">
            <a:off x="15294967" y="-741646"/>
            <a:ext cx="3928667" cy="4163327"/>
          </a:xfrm>
          <a:custGeom>
            <a:avLst/>
            <a:gdLst/>
            <a:ahLst/>
            <a:cxnLst/>
            <a:rect r="r" b="b" t="t" l="l"/>
            <a:pathLst>
              <a:path h="4163327" w="3928667">
                <a:moveTo>
                  <a:pt x="0" y="0"/>
                </a:moveTo>
                <a:lnTo>
                  <a:pt x="3928666" y="0"/>
                </a:lnTo>
                <a:lnTo>
                  <a:pt x="3928666"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203732" y="5847214"/>
            <a:ext cx="181620" cy="181620"/>
            <a:chOff x="6705600" y="1371600"/>
            <a:chExt cx="10972800" cy="10972800"/>
          </a:xfrm>
        </p:grpSpPr>
        <p:sp>
          <p:nvSpPr>
            <p:cNvPr name="Freeform 4" id="4"/>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5" id="5"/>
          <p:cNvSpPr/>
          <p:nvPr/>
        </p:nvSpPr>
        <p:spPr>
          <a:xfrm flipH="false" flipV="false" rot="0">
            <a:off x="2523484" y="3661948"/>
            <a:ext cx="12793978" cy="2366886"/>
          </a:xfrm>
          <a:custGeom>
            <a:avLst/>
            <a:gdLst/>
            <a:ahLst/>
            <a:cxnLst/>
            <a:rect r="r" b="b" t="t" l="l"/>
            <a:pathLst>
              <a:path h="2366886" w="12793978">
                <a:moveTo>
                  <a:pt x="0" y="0"/>
                </a:moveTo>
                <a:lnTo>
                  <a:pt x="12793978" y="0"/>
                </a:lnTo>
                <a:lnTo>
                  <a:pt x="12793978" y="2366886"/>
                </a:lnTo>
                <a:lnTo>
                  <a:pt x="0" y="2366886"/>
                </a:lnTo>
                <a:lnTo>
                  <a:pt x="0" y="0"/>
                </a:lnTo>
                <a:close/>
              </a:path>
            </a:pathLst>
          </a:custGeom>
          <a:blipFill>
            <a:blip r:embed="rId4"/>
            <a:stretch>
              <a:fillRect l="0" t="0" r="0" b="0"/>
            </a:stretch>
          </a:blipFill>
        </p:spPr>
      </p:sp>
      <p:sp>
        <p:nvSpPr>
          <p:cNvPr name="TextBox 6" id="6"/>
          <p:cNvSpPr txBox="true"/>
          <p:nvPr/>
        </p:nvSpPr>
        <p:spPr>
          <a:xfrm rot="0">
            <a:off x="1942064" y="1435267"/>
            <a:ext cx="13956819" cy="808985"/>
          </a:xfrm>
          <a:prstGeom prst="rect">
            <a:avLst/>
          </a:prstGeom>
        </p:spPr>
        <p:txBody>
          <a:bodyPr anchor="t" rtlCol="false" tIns="0" lIns="0" bIns="0" rIns="0">
            <a:spAutoFit/>
          </a:bodyPr>
          <a:lstStyle/>
          <a:p>
            <a:pPr algn="ctr">
              <a:lnSpc>
                <a:spcPts val="5974"/>
              </a:lnSpc>
            </a:pPr>
            <a:r>
              <a:rPr lang="en-US" b="true" sz="5974">
                <a:solidFill>
                  <a:srgbClr val="2E2E2E"/>
                </a:solidFill>
                <a:latin typeface="Anonymous Pro Bold"/>
                <a:ea typeface="Anonymous Pro Bold"/>
                <a:cs typeface="Anonymous Pro Bold"/>
                <a:sym typeface="Anonymous Pro Bold"/>
              </a:rPr>
              <a:t>CLEANING AND PREPARING THE DATA</a:t>
            </a:r>
          </a:p>
        </p:txBody>
      </p:sp>
      <p:sp>
        <p:nvSpPr>
          <p:cNvPr name="TextBox 7" id="7"/>
          <p:cNvSpPr txBox="true"/>
          <p:nvPr/>
        </p:nvSpPr>
        <p:spPr>
          <a:xfrm rot="0">
            <a:off x="2176988" y="6628114"/>
            <a:ext cx="14554042" cy="2855759"/>
          </a:xfrm>
          <a:prstGeom prst="rect">
            <a:avLst/>
          </a:prstGeom>
        </p:spPr>
        <p:txBody>
          <a:bodyPr anchor="t" rtlCol="false" tIns="0" lIns="0" bIns="0" rIns="0">
            <a:spAutoFit/>
          </a:bodyPr>
          <a:lstStyle/>
          <a:p>
            <a:pPr algn="ctr">
              <a:lnSpc>
                <a:spcPts val="3245"/>
              </a:lnSpc>
            </a:pPr>
            <a:r>
              <a:rPr lang="en-US" sz="2318">
                <a:solidFill>
                  <a:srgbClr val="000000"/>
                </a:solidFill>
                <a:latin typeface="Alice"/>
                <a:ea typeface="Alice"/>
                <a:cs typeface="Alice"/>
                <a:sym typeface="Alice"/>
              </a:rPr>
              <a:t>Because some users listed multiple ethnicities separated by commas, we used a string delimiter to split those entries into separate columns. Specifically, we created five new variables:</a:t>
            </a:r>
          </a:p>
          <a:p>
            <a:pPr algn="l" marL="500572" indent="-250286" lvl="1">
              <a:lnSpc>
                <a:spcPts val="3245"/>
              </a:lnSpc>
              <a:buFont typeface="Arial"/>
              <a:buChar char="•"/>
            </a:pPr>
            <a:r>
              <a:rPr lang="en-US" sz="2318">
                <a:solidFill>
                  <a:srgbClr val="000000"/>
                </a:solidFill>
                <a:latin typeface="Alice"/>
                <a:ea typeface="Alice"/>
                <a:cs typeface="Alice"/>
                <a:sym typeface="Alice"/>
              </a:rPr>
              <a:t>first_ethnicity, second_ethnicity, and third_ethnicity represent the first, second, and third reported ethnicities.</a:t>
            </a:r>
          </a:p>
          <a:p>
            <a:pPr algn="l" marL="500572" indent="-250286" lvl="1">
              <a:lnSpc>
                <a:spcPts val="3245"/>
              </a:lnSpc>
              <a:buFont typeface="Arial"/>
              <a:buChar char="•"/>
            </a:pPr>
            <a:r>
              <a:rPr lang="en-US" sz="2318">
                <a:solidFill>
                  <a:srgbClr val="000000"/>
                </a:solidFill>
                <a:latin typeface="Alice"/>
                <a:ea typeface="Alice"/>
                <a:cs typeface="Alice"/>
                <a:sym typeface="Alice"/>
              </a:rPr>
              <a:t>ethnicity_count records the total number of ethnicities listed by each user</a:t>
            </a:r>
          </a:p>
          <a:p>
            <a:pPr algn="l">
              <a:lnSpc>
                <a:spcPts val="3245"/>
              </a:lnSpc>
            </a:pPr>
            <a:r>
              <a:rPr lang="en-US" sz="2318">
                <a:solidFill>
                  <a:srgbClr val="000000"/>
                </a:solidFill>
                <a:latin typeface="Alice"/>
                <a:ea typeface="Alice"/>
                <a:cs typeface="Alice"/>
                <a:sym typeface="Alice"/>
              </a:rPr>
              <a:t>  Later we filtered the NaN value. </a:t>
            </a:r>
          </a:p>
          <a:p>
            <a:pPr algn="ctr" marL="0" indent="0" lvl="0">
              <a:lnSpc>
                <a:spcPts val="324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3832430">
            <a:off x="15294967" y="-741646"/>
            <a:ext cx="3928667" cy="4163327"/>
          </a:xfrm>
          <a:custGeom>
            <a:avLst/>
            <a:gdLst/>
            <a:ahLst/>
            <a:cxnLst/>
            <a:rect r="r" b="b" t="t" l="l"/>
            <a:pathLst>
              <a:path h="4163327" w="3928667">
                <a:moveTo>
                  <a:pt x="0" y="0"/>
                </a:moveTo>
                <a:lnTo>
                  <a:pt x="3928666" y="0"/>
                </a:lnTo>
                <a:lnTo>
                  <a:pt x="3928666"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203732" y="5847214"/>
            <a:ext cx="181620" cy="181620"/>
            <a:chOff x="6705600" y="1371600"/>
            <a:chExt cx="10972800" cy="10972800"/>
          </a:xfrm>
        </p:grpSpPr>
        <p:sp>
          <p:nvSpPr>
            <p:cNvPr name="Freeform 4" id="4"/>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5" id="5"/>
          <p:cNvSpPr/>
          <p:nvPr/>
        </p:nvSpPr>
        <p:spPr>
          <a:xfrm flipH="false" flipV="false" rot="0">
            <a:off x="3803380" y="3250539"/>
            <a:ext cx="11301259" cy="3785922"/>
          </a:xfrm>
          <a:custGeom>
            <a:avLst/>
            <a:gdLst/>
            <a:ahLst/>
            <a:cxnLst/>
            <a:rect r="r" b="b" t="t" l="l"/>
            <a:pathLst>
              <a:path h="3785922" w="11301259">
                <a:moveTo>
                  <a:pt x="0" y="0"/>
                </a:moveTo>
                <a:lnTo>
                  <a:pt x="11301259" y="0"/>
                </a:lnTo>
                <a:lnTo>
                  <a:pt x="11301259" y="3785922"/>
                </a:lnTo>
                <a:lnTo>
                  <a:pt x="0" y="3785922"/>
                </a:lnTo>
                <a:lnTo>
                  <a:pt x="0" y="0"/>
                </a:lnTo>
                <a:close/>
              </a:path>
            </a:pathLst>
          </a:custGeom>
          <a:blipFill>
            <a:blip r:embed="rId4"/>
            <a:stretch>
              <a:fillRect l="0" t="0" r="0" b="0"/>
            </a:stretch>
          </a:blipFill>
        </p:spPr>
      </p:sp>
      <p:sp>
        <p:nvSpPr>
          <p:cNvPr name="TextBox 6" id="6"/>
          <p:cNvSpPr txBox="true"/>
          <p:nvPr/>
        </p:nvSpPr>
        <p:spPr>
          <a:xfrm rot="0">
            <a:off x="1942064" y="1435267"/>
            <a:ext cx="13956819" cy="808985"/>
          </a:xfrm>
          <a:prstGeom prst="rect">
            <a:avLst/>
          </a:prstGeom>
        </p:spPr>
        <p:txBody>
          <a:bodyPr anchor="t" rtlCol="false" tIns="0" lIns="0" bIns="0" rIns="0">
            <a:spAutoFit/>
          </a:bodyPr>
          <a:lstStyle/>
          <a:p>
            <a:pPr algn="ctr">
              <a:lnSpc>
                <a:spcPts val="5974"/>
              </a:lnSpc>
            </a:pPr>
            <a:r>
              <a:rPr lang="en-US" b="true" sz="5974">
                <a:solidFill>
                  <a:srgbClr val="2E2E2E"/>
                </a:solidFill>
                <a:latin typeface="Anonymous Pro Bold"/>
                <a:ea typeface="Anonymous Pro Bold"/>
                <a:cs typeface="Anonymous Pro Bold"/>
                <a:sym typeface="Anonymous Pro Bold"/>
              </a:rPr>
              <a:t>CLEANING AND PREPARING THE DATA</a:t>
            </a:r>
          </a:p>
        </p:txBody>
      </p:sp>
      <p:sp>
        <p:nvSpPr>
          <p:cNvPr name="TextBox 7" id="7"/>
          <p:cNvSpPr txBox="true"/>
          <p:nvPr/>
        </p:nvSpPr>
        <p:spPr>
          <a:xfrm rot="0">
            <a:off x="2176988" y="7265406"/>
            <a:ext cx="14554042" cy="1217459"/>
          </a:xfrm>
          <a:prstGeom prst="rect">
            <a:avLst/>
          </a:prstGeom>
        </p:spPr>
        <p:txBody>
          <a:bodyPr anchor="t" rtlCol="false" tIns="0" lIns="0" bIns="0" rIns="0">
            <a:spAutoFit/>
          </a:bodyPr>
          <a:lstStyle/>
          <a:p>
            <a:pPr algn="ctr">
              <a:lnSpc>
                <a:spcPts val="3245"/>
              </a:lnSpc>
            </a:pPr>
            <a:r>
              <a:rPr lang="en-US" sz="2318">
                <a:solidFill>
                  <a:srgbClr val="000000"/>
                </a:solidFill>
                <a:latin typeface="Alice"/>
                <a:ea typeface="Alice"/>
                <a:cs typeface="Alice"/>
                <a:sym typeface="Alice"/>
              </a:rPr>
              <a:t>We melted the dataset into a long format keeping the column sex as it is. One thing to note that is : we did not keep the third ethnicities because of their low count. And then we filtered to keep only the non-empty values. </a:t>
            </a:r>
          </a:p>
          <a:p>
            <a:pPr algn="ctr" marL="0" indent="0" lvl="0">
              <a:lnSpc>
                <a:spcPts val="3245"/>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03732" y="5847214"/>
            <a:ext cx="181620" cy="181620"/>
            <a:chOff x="6705600" y="1371600"/>
            <a:chExt cx="10972800" cy="10972800"/>
          </a:xfrm>
        </p:grpSpPr>
        <p:sp>
          <p:nvSpPr>
            <p:cNvPr name="Freeform 3" id="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4" id="4"/>
          <p:cNvSpPr/>
          <p:nvPr/>
        </p:nvSpPr>
        <p:spPr>
          <a:xfrm flipH="false" flipV="false" rot="0">
            <a:off x="256862" y="495248"/>
            <a:ext cx="7239352" cy="5533586"/>
          </a:xfrm>
          <a:custGeom>
            <a:avLst/>
            <a:gdLst/>
            <a:ahLst/>
            <a:cxnLst/>
            <a:rect r="r" b="b" t="t" l="l"/>
            <a:pathLst>
              <a:path h="5533586" w="7239352">
                <a:moveTo>
                  <a:pt x="0" y="0"/>
                </a:moveTo>
                <a:lnTo>
                  <a:pt x="7239352" y="0"/>
                </a:lnTo>
                <a:lnTo>
                  <a:pt x="7239352" y="5533586"/>
                </a:lnTo>
                <a:lnTo>
                  <a:pt x="0" y="5533586"/>
                </a:lnTo>
                <a:lnTo>
                  <a:pt x="0" y="0"/>
                </a:lnTo>
                <a:close/>
              </a:path>
            </a:pathLst>
          </a:custGeom>
          <a:blipFill>
            <a:blip r:embed="rId2"/>
            <a:stretch>
              <a:fillRect l="0" t="0" r="0" b="0"/>
            </a:stretch>
          </a:blipFill>
        </p:spPr>
      </p:sp>
      <p:sp>
        <p:nvSpPr>
          <p:cNvPr name="Freeform 5" id="5"/>
          <p:cNvSpPr/>
          <p:nvPr/>
        </p:nvSpPr>
        <p:spPr>
          <a:xfrm flipH="false" flipV="false" rot="0">
            <a:off x="9625368" y="634251"/>
            <a:ext cx="7633932" cy="5255579"/>
          </a:xfrm>
          <a:custGeom>
            <a:avLst/>
            <a:gdLst/>
            <a:ahLst/>
            <a:cxnLst/>
            <a:rect r="r" b="b" t="t" l="l"/>
            <a:pathLst>
              <a:path h="5255579" w="7633932">
                <a:moveTo>
                  <a:pt x="0" y="0"/>
                </a:moveTo>
                <a:lnTo>
                  <a:pt x="7633932" y="0"/>
                </a:lnTo>
                <a:lnTo>
                  <a:pt x="7633932" y="5255579"/>
                </a:lnTo>
                <a:lnTo>
                  <a:pt x="0" y="5255579"/>
                </a:lnTo>
                <a:lnTo>
                  <a:pt x="0" y="0"/>
                </a:lnTo>
                <a:close/>
              </a:path>
            </a:pathLst>
          </a:custGeom>
          <a:blipFill>
            <a:blip r:embed="rId3"/>
            <a:stretch>
              <a:fillRect l="0" t="0" r="0" b="0"/>
            </a:stretch>
          </a:blipFill>
        </p:spPr>
      </p:sp>
      <p:sp>
        <p:nvSpPr>
          <p:cNvPr name="Freeform 6" id="6"/>
          <p:cNvSpPr/>
          <p:nvPr/>
        </p:nvSpPr>
        <p:spPr>
          <a:xfrm flipH="false" flipV="false" rot="0">
            <a:off x="-999970" y="6974198"/>
            <a:ext cx="20287941" cy="8229600"/>
          </a:xfrm>
          <a:custGeom>
            <a:avLst/>
            <a:gdLst/>
            <a:ahLst/>
            <a:cxnLst/>
            <a:rect r="r" b="b" t="t" l="l"/>
            <a:pathLst>
              <a:path h="8229600" w="20287941">
                <a:moveTo>
                  <a:pt x="0" y="0"/>
                </a:moveTo>
                <a:lnTo>
                  <a:pt x="20287940" y="0"/>
                </a:lnTo>
                <a:lnTo>
                  <a:pt x="20287940" y="8229600"/>
                </a:lnTo>
                <a:lnTo>
                  <a:pt x="0" y="8229600"/>
                </a:lnTo>
                <a:lnTo>
                  <a:pt x="0" y="0"/>
                </a:lnTo>
                <a:close/>
              </a:path>
            </a:pathLst>
          </a:custGeom>
          <a:blipFill>
            <a:blip r:embed="rId4"/>
            <a:stretch>
              <a:fillRect l="0" t="-48609" r="0" b="-48609"/>
            </a:stretch>
          </a:blipFill>
        </p:spPr>
      </p:sp>
      <p:sp>
        <p:nvSpPr>
          <p:cNvPr name="TextBox 7" id="7"/>
          <p:cNvSpPr txBox="true"/>
          <p:nvPr/>
        </p:nvSpPr>
        <p:spPr>
          <a:xfrm rot="0">
            <a:off x="2465521" y="7253445"/>
            <a:ext cx="1693515" cy="405765"/>
          </a:xfrm>
          <a:prstGeom prst="rect">
            <a:avLst/>
          </a:prstGeom>
        </p:spPr>
        <p:txBody>
          <a:bodyPr anchor="t" rtlCol="false" tIns="0" lIns="0" bIns="0" rIns="0">
            <a:spAutoFit/>
          </a:bodyPr>
          <a:lstStyle/>
          <a:p>
            <a:pPr algn="ctr" marL="0" indent="0" lvl="0">
              <a:lnSpc>
                <a:spcPts val="3359"/>
              </a:lnSpc>
              <a:spcBef>
                <a:spcPct val="0"/>
              </a:spcBef>
            </a:pPr>
          </a:p>
        </p:txBody>
      </p:sp>
      <p:sp>
        <p:nvSpPr>
          <p:cNvPr name="TextBox 8" id="8"/>
          <p:cNvSpPr txBox="true"/>
          <p:nvPr/>
        </p:nvSpPr>
        <p:spPr>
          <a:xfrm rot="0">
            <a:off x="1028700" y="6308082"/>
            <a:ext cx="6601933" cy="666116"/>
          </a:xfrm>
          <a:prstGeom prst="rect">
            <a:avLst/>
          </a:prstGeom>
        </p:spPr>
        <p:txBody>
          <a:bodyPr anchor="t" rtlCol="false" tIns="0" lIns="0" bIns="0" rIns="0">
            <a:spAutoFit/>
          </a:bodyPr>
          <a:lstStyle/>
          <a:p>
            <a:pPr algn="ctr">
              <a:lnSpc>
                <a:spcPts val="2659"/>
              </a:lnSpc>
            </a:pPr>
            <a:r>
              <a:rPr lang="en-US" sz="1899" b="true">
                <a:solidFill>
                  <a:srgbClr val="000000"/>
                </a:solidFill>
                <a:latin typeface="Roboto Bold"/>
                <a:ea typeface="Roboto Bold"/>
                <a:cs typeface="Roboto Bold"/>
                <a:sym typeface="Roboto Bold"/>
              </a:rPr>
              <a:t>Figure 1: Representation of singular and multi ethnicities</a:t>
            </a:r>
          </a:p>
          <a:p>
            <a:pPr algn="ctr" marL="0" indent="0" lvl="0">
              <a:lnSpc>
                <a:spcPts val="2659"/>
              </a:lnSpc>
              <a:spcBef>
                <a:spcPct val="0"/>
              </a:spcBef>
            </a:pPr>
            <a:r>
              <a:rPr lang="en-US" b="true" sz="1899">
                <a:solidFill>
                  <a:srgbClr val="000000"/>
                </a:solidFill>
                <a:latin typeface="Roboto Bold"/>
                <a:ea typeface="Roboto Bold"/>
                <a:cs typeface="Roboto Bold"/>
                <a:sym typeface="Roboto Bold"/>
              </a:rPr>
              <a:t> </a:t>
            </a:r>
          </a:p>
        </p:txBody>
      </p:sp>
      <p:sp>
        <p:nvSpPr>
          <p:cNvPr name="TextBox 9" id="9"/>
          <p:cNvSpPr txBox="true"/>
          <p:nvPr/>
        </p:nvSpPr>
        <p:spPr>
          <a:xfrm rot="0">
            <a:off x="10403792" y="6346182"/>
            <a:ext cx="7699921" cy="304800"/>
          </a:xfrm>
          <a:prstGeom prst="rect">
            <a:avLst/>
          </a:prstGeom>
        </p:spPr>
        <p:txBody>
          <a:bodyPr anchor="t" rtlCol="false" tIns="0" lIns="0" bIns="0" rIns="0">
            <a:spAutoFit/>
          </a:bodyPr>
          <a:lstStyle/>
          <a:p>
            <a:pPr algn="ctr">
              <a:lnSpc>
                <a:spcPts val="2347"/>
              </a:lnSpc>
              <a:spcBef>
                <a:spcPct val="0"/>
              </a:spcBef>
            </a:pPr>
            <a:r>
              <a:rPr lang="en-US" b="true" sz="1956">
                <a:solidFill>
                  <a:srgbClr val="000000"/>
                </a:solidFill>
                <a:latin typeface="Roboto Bold"/>
                <a:ea typeface="Roboto Bold"/>
                <a:cs typeface="Roboto Bold"/>
                <a:sym typeface="Roboto Bold"/>
              </a:rPr>
              <a:t>Figure 2: Distribution of different ethnicities among male and female </a:t>
            </a:r>
          </a:p>
        </p:txBody>
      </p:sp>
      <p:sp>
        <p:nvSpPr>
          <p:cNvPr name="TextBox 10" id="10"/>
          <p:cNvSpPr txBox="true"/>
          <p:nvPr/>
        </p:nvSpPr>
        <p:spPr>
          <a:xfrm rot="0">
            <a:off x="642781" y="7573485"/>
            <a:ext cx="17002438" cy="1935144"/>
          </a:xfrm>
          <a:prstGeom prst="rect">
            <a:avLst/>
          </a:prstGeom>
        </p:spPr>
        <p:txBody>
          <a:bodyPr anchor="t" rtlCol="false" tIns="0" lIns="0" bIns="0" rIns="0">
            <a:spAutoFit/>
          </a:bodyPr>
          <a:lstStyle/>
          <a:p>
            <a:pPr algn="l" marL="0" indent="0" lvl="0">
              <a:lnSpc>
                <a:spcPts val="3063"/>
              </a:lnSpc>
              <a:spcBef>
                <a:spcPct val="0"/>
              </a:spcBef>
            </a:pPr>
            <a:r>
              <a:rPr lang="en-US" sz="2188">
                <a:solidFill>
                  <a:srgbClr val="000000"/>
                </a:solidFill>
                <a:latin typeface="Times New Roman MT"/>
                <a:ea typeface="Times New Roman MT"/>
                <a:cs typeface="Times New Roman MT"/>
                <a:sym typeface="Times New Roman MT"/>
              </a:rPr>
              <a:t>From Figure 1, we can see that most profiles report a single ethnicity. Figure 2 reveals that the majority of profiles represent</a:t>
            </a:r>
            <a:r>
              <a:rPr lang="en-US" b="true" sz="2188">
                <a:solidFill>
                  <a:srgbClr val="000000"/>
                </a:solidFill>
                <a:latin typeface="Times New Roman MT Bold"/>
                <a:ea typeface="Times New Roman MT Bold"/>
                <a:cs typeface="Times New Roman MT Bold"/>
                <a:sym typeface="Times New Roman MT Bold"/>
              </a:rPr>
              <a:t> white males</a:t>
            </a:r>
            <a:r>
              <a:rPr lang="en-US" sz="2188">
                <a:solidFill>
                  <a:srgbClr val="000000"/>
                </a:solidFill>
                <a:latin typeface="Times New Roman MT"/>
                <a:ea typeface="Times New Roman MT"/>
                <a:cs typeface="Times New Roman MT"/>
                <a:sym typeface="Times New Roman MT"/>
              </a:rPr>
              <a:t>. This is a critical observation because unbiased data collection is essential for producing generalized results. As shown in Figure 2, there is significantly lower representation of </a:t>
            </a:r>
            <a:r>
              <a:rPr lang="en-US" b="true" sz="2188">
                <a:solidFill>
                  <a:srgbClr val="000000"/>
                </a:solidFill>
                <a:latin typeface="Times New Roman MT Bold"/>
                <a:ea typeface="Times New Roman MT Bold"/>
                <a:cs typeface="Times New Roman MT Bold"/>
                <a:sym typeface="Times New Roman MT Bold"/>
              </a:rPr>
              <a:t>Black, Middle Eastern, Indian, and Pacific Islander</a:t>
            </a:r>
            <a:r>
              <a:rPr lang="en-US" sz="2188">
                <a:solidFill>
                  <a:srgbClr val="000000"/>
                </a:solidFill>
                <a:latin typeface="Times New Roman MT"/>
                <a:ea typeface="Times New Roman MT"/>
                <a:cs typeface="Times New Roman MT"/>
                <a:sym typeface="Times New Roman MT"/>
              </a:rPr>
              <a:t> demographics compared to </a:t>
            </a:r>
            <a:r>
              <a:rPr lang="en-US" b="true" sz="2188">
                <a:solidFill>
                  <a:srgbClr val="000000"/>
                </a:solidFill>
                <a:latin typeface="Times New Roman MT Bold"/>
                <a:ea typeface="Times New Roman MT Bold"/>
                <a:cs typeface="Times New Roman MT Bold"/>
                <a:sym typeface="Times New Roman MT Bold"/>
              </a:rPr>
              <a:t>White, Hispanic, and Asian </a:t>
            </a:r>
            <a:r>
              <a:rPr lang="en-US" sz="2188">
                <a:solidFill>
                  <a:srgbClr val="000000"/>
                </a:solidFill>
                <a:latin typeface="Times New Roman MT"/>
                <a:ea typeface="Times New Roman MT"/>
                <a:cs typeface="Times New Roman MT"/>
                <a:sym typeface="Times New Roman MT"/>
              </a:rPr>
              <a:t>populations. Furthermore, female representation is consistently lower across all racial categories. These disparities highlight underrepresentation, where both race and gender contribute.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8574" y="-492354"/>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81312" y="1277992"/>
            <a:ext cx="6433611" cy="7731016"/>
            <a:chOff x="0" y="0"/>
            <a:chExt cx="8829365" cy="10609899"/>
          </a:xfrm>
        </p:grpSpPr>
        <p:sp>
          <p:nvSpPr>
            <p:cNvPr name="Freeform 5" id="5"/>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6" id="6"/>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7" id="7"/>
          <p:cNvGrpSpPr/>
          <p:nvPr/>
        </p:nvGrpSpPr>
        <p:grpSpPr>
          <a:xfrm rot="0">
            <a:off x="1581312" y="1277992"/>
            <a:ext cx="6433611" cy="908385"/>
            <a:chOff x="0" y="0"/>
            <a:chExt cx="8829365" cy="1246650"/>
          </a:xfrm>
        </p:grpSpPr>
        <p:sp>
          <p:nvSpPr>
            <p:cNvPr name="Freeform 8" id="8"/>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9" id="9"/>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10" id="10"/>
          <p:cNvSpPr/>
          <p:nvPr/>
        </p:nvSpPr>
        <p:spPr>
          <a:xfrm rot="0">
            <a:off x="3270093" y="1689676"/>
            <a:ext cx="4304837" cy="85017"/>
          </a:xfrm>
          <a:prstGeom prst="rect">
            <a:avLst/>
          </a:prstGeom>
          <a:solidFill>
            <a:srgbClr val="2E2E2E"/>
          </a:solidFill>
        </p:spPr>
      </p:sp>
      <p:grpSp>
        <p:nvGrpSpPr>
          <p:cNvPr name="Group 11" id="11"/>
          <p:cNvGrpSpPr/>
          <p:nvPr/>
        </p:nvGrpSpPr>
        <p:grpSpPr>
          <a:xfrm rot="0">
            <a:off x="2063814" y="1589309"/>
            <a:ext cx="285750" cy="285750"/>
            <a:chOff x="0" y="0"/>
            <a:chExt cx="381000" cy="381000"/>
          </a:xfrm>
        </p:grpSpPr>
        <p:grpSp>
          <p:nvGrpSpPr>
            <p:cNvPr name="Group 12" id="12"/>
            <p:cNvGrpSpPr>
              <a:grpSpLocks noChangeAspect="true"/>
            </p:cNvGrpSpPr>
            <p:nvPr/>
          </p:nvGrpSpPr>
          <p:grpSpPr>
            <a:xfrm rot="0">
              <a:off x="0" y="0"/>
              <a:ext cx="381000" cy="38100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a:grpSpLocks noChangeAspect="true"/>
            </p:cNvGrpSpPr>
            <p:nvPr/>
          </p:nvGrpSpPr>
          <p:grpSpPr>
            <a:xfrm rot="0">
              <a:off x="69420" y="69420"/>
              <a:ext cx="242160" cy="242160"/>
              <a:chOff x="6705600" y="1371600"/>
              <a:chExt cx="10972800" cy="10972800"/>
            </a:xfrm>
          </p:grpSpPr>
          <p:sp>
            <p:nvSpPr>
              <p:cNvPr name="Freeform 15" id="1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6" id="16"/>
          <p:cNvGrpSpPr/>
          <p:nvPr/>
        </p:nvGrpSpPr>
        <p:grpSpPr>
          <a:xfrm rot="0">
            <a:off x="2482914" y="1589309"/>
            <a:ext cx="285750" cy="285750"/>
            <a:chOff x="0" y="0"/>
            <a:chExt cx="381000" cy="381000"/>
          </a:xfrm>
        </p:grpSpPr>
        <p:grpSp>
          <p:nvGrpSpPr>
            <p:cNvPr name="Group 17" id="17"/>
            <p:cNvGrpSpPr>
              <a:grpSpLocks noChangeAspect="true"/>
            </p:cNvGrpSpPr>
            <p:nvPr/>
          </p:nvGrpSpPr>
          <p:grpSpPr>
            <a:xfrm rot="0">
              <a:off x="0" y="0"/>
              <a:ext cx="381000" cy="38100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9" id="19"/>
            <p:cNvGrpSpPr>
              <a:grpSpLocks noChangeAspect="true"/>
            </p:cNvGrpSpPr>
            <p:nvPr/>
          </p:nvGrpSpPr>
          <p:grpSpPr>
            <a:xfrm rot="0">
              <a:off x="69420" y="69420"/>
              <a:ext cx="242160" cy="242160"/>
              <a:chOff x="6705600" y="1371600"/>
              <a:chExt cx="10972800" cy="10972800"/>
            </a:xfrm>
          </p:grpSpPr>
          <p:sp>
            <p:nvSpPr>
              <p:cNvPr name="Freeform 20" id="20"/>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21" id="21"/>
          <p:cNvGrpSpPr/>
          <p:nvPr/>
        </p:nvGrpSpPr>
        <p:grpSpPr>
          <a:xfrm rot="0">
            <a:off x="2063814" y="3684602"/>
            <a:ext cx="5139781" cy="2771894"/>
            <a:chOff x="0" y="0"/>
            <a:chExt cx="6853042" cy="3695858"/>
          </a:xfrm>
        </p:grpSpPr>
        <p:sp>
          <p:nvSpPr>
            <p:cNvPr name="TextBox 22" id="22"/>
            <p:cNvSpPr txBox="true"/>
            <p:nvPr/>
          </p:nvSpPr>
          <p:spPr>
            <a:xfrm rot="0">
              <a:off x="418386" y="95250"/>
              <a:ext cx="6434656" cy="31169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EXPLORATORY DATA ANALYSIS</a:t>
              </a:r>
            </a:p>
          </p:txBody>
        </p:sp>
        <p:pic>
          <p:nvPicPr>
            <p:cNvPr name="Picture 23" id="23"/>
            <p:cNvPicPr>
              <a:picLocks noChangeAspect="true"/>
            </p:cNvPicPr>
            <p:nvPr/>
          </p:nvPicPr>
          <p:blipFill>
            <a:blip r:embed="rId4"/>
            <a:srcRect l="0" t="0" r="0" b="0"/>
            <a:stretch>
              <a:fillRect/>
            </a:stretch>
          </p:blipFill>
          <p:spPr>
            <a:xfrm flipH="false" flipV="false" rot="0">
              <a:off x="0" y="3273450"/>
              <a:ext cx="5450424" cy="422408"/>
            </a:xfrm>
            <a:prstGeom prst="rect">
              <a:avLst/>
            </a:prstGeom>
          </p:spPr>
        </p:pic>
      </p:grpSp>
      <p:grpSp>
        <p:nvGrpSpPr>
          <p:cNvPr name="Group 24" id="24"/>
          <p:cNvGrpSpPr>
            <a:grpSpLocks noChangeAspect="true"/>
          </p:cNvGrpSpPr>
          <p:nvPr/>
        </p:nvGrpSpPr>
        <p:grpSpPr>
          <a:xfrm rot="0">
            <a:off x="10273646" y="2953033"/>
            <a:ext cx="181620" cy="181620"/>
            <a:chOff x="6705600" y="1371600"/>
            <a:chExt cx="10972800" cy="10972800"/>
          </a:xfrm>
        </p:grpSpPr>
        <p:sp>
          <p:nvSpPr>
            <p:cNvPr name="Freeform 25" id="2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grpSp>
        <p:nvGrpSpPr>
          <p:cNvPr name="Group 26" id="26"/>
          <p:cNvGrpSpPr/>
          <p:nvPr/>
        </p:nvGrpSpPr>
        <p:grpSpPr>
          <a:xfrm rot="0">
            <a:off x="9812917" y="3350436"/>
            <a:ext cx="6855723" cy="2780711"/>
            <a:chOff x="0" y="0"/>
            <a:chExt cx="1076130" cy="436483"/>
          </a:xfrm>
        </p:grpSpPr>
        <p:sp>
          <p:nvSpPr>
            <p:cNvPr name="Freeform 27" id="27"/>
            <p:cNvSpPr/>
            <p:nvPr/>
          </p:nvSpPr>
          <p:spPr>
            <a:xfrm flipH="false" flipV="false" rot="0">
              <a:off x="0" y="0"/>
              <a:ext cx="1076130" cy="436483"/>
            </a:xfrm>
            <a:custGeom>
              <a:avLst/>
              <a:gdLst/>
              <a:ahLst/>
              <a:cxnLst/>
              <a:rect r="r" b="b" t="t" l="l"/>
              <a:pathLst>
                <a:path h="436483" w="1076130">
                  <a:moveTo>
                    <a:pt x="22056" y="0"/>
                  </a:moveTo>
                  <a:lnTo>
                    <a:pt x="1054074" y="0"/>
                  </a:lnTo>
                  <a:cubicBezTo>
                    <a:pt x="1059924" y="0"/>
                    <a:pt x="1065534" y="2324"/>
                    <a:pt x="1069670" y="6460"/>
                  </a:cubicBezTo>
                  <a:cubicBezTo>
                    <a:pt x="1073806" y="10596"/>
                    <a:pt x="1076130" y="16206"/>
                    <a:pt x="1076130" y="22056"/>
                  </a:cubicBezTo>
                  <a:lnTo>
                    <a:pt x="1076130" y="414427"/>
                  </a:lnTo>
                  <a:cubicBezTo>
                    <a:pt x="1076130" y="420277"/>
                    <a:pt x="1073806" y="425887"/>
                    <a:pt x="1069670" y="430023"/>
                  </a:cubicBezTo>
                  <a:cubicBezTo>
                    <a:pt x="1065534" y="434159"/>
                    <a:pt x="1059924" y="436483"/>
                    <a:pt x="1054074" y="436483"/>
                  </a:cubicBezTo>
                  <a:lnTo>
                    <a:pt x="22056" y="436483"/>
                  </a:lnTo>
                  <a:cubicBezTo>
                    <a:pt x="16206" y="436483"/>
                    <a:pt x="10596" y="434159"/>
                    <a:pt x="6460" y="430023"/>
                  </a:cubicBezTo>
                  <a:cubicBezTo>
                    <a:pt x="2324" y="425887"/>
                    <a:pt x="0" y="420277"/>
                    <a:pt x="0" y="414427"/>
                  </a:cubicBezTo>
                  <a:lnTo>
                    <a:pt x="0" y="22056"/>
                  </a:lnTo>
                  <a:cubicBezTo>
                    <a:pt x="0" y="16206"/>
                    <a:pt x="2324" y="10596"/>
                    <a:pt x="6460" y="6460"/>
                  </a:cubicBezTo>
                  <a:cubicBezTo>
                    <a:pt x="10596" y="2324"/>
                    <a:pt x="16206" y="0"/>
                    <a:pt x="22056" y="0"/>
                  </a:cubicBezTo>
                  <a:close/>
                </a:path>
              </a:pathLst>
            </a:custGeom>
            <a:solidFill>
              <a:srgbClr val="F1DCED"/>
            </a:solidFill>
          </p:spPr>
        </p:sp>
        <p:sp>
          <p:nvSpPr>
            <p:cNvPr name="TextBox 28" id="28"/>
            <p:cNvSpPr txBox="true"/>
            <p:nvPr/>
          </p:nvSpPr>
          <p:spPr>
            <a:xfrm>
              <a:off x="0" y="-104775"/>
              <a:ext cx="1076130" cy="541258"/>
            </a:xfrm>
            <a:prstGeom prst="rect">
              <a:avLst/>
            </a:prstGeom>
          </p:spPr>
          <p:txBody>
            <a:bodyPr anchor="ctr" rtlCol="false" tIns="50800" lIns="50800" bIns="50800" rIns="50800"/>
            <a:lstStyle/>
            <a:p>
              <a:pPr algn="ctr">
                <a:lnSpc>
                  <a:spcPts val="7279"/>
                </a:lnSpc>
              </a:pPr>
              <a:r>
                <a:rPr lang="en-US" b="true" sz="5199">
                  <a:solidFill>
                    <a:srgbClr val="2E2E2E"/>
                  </a:solidFill>
                  <a:latin typeface="Anonymous Pro Bold"/>
                  <a:ea typeface="Anonymous Pro Bold"/>
                  <a:cs typeface="Anonymous Pro Bold"/>
                  <a:sym typeface="Anonymous Pro Bold"/>
                </a:rPr>
                <a:t>Body Type, Sex, Sexual Orientation </a:t>
              </a:r>
            </a:p>
          </p:txBody>
        </p:sp>
      </p:grpSp>
      <p:sp>
        <p:nvSpPr>
          <p:cNvPr name="TextBox 29" id="2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03732" y="5847214"/>
            <a:ext cx="181620" cy="181620"/>
            <a:chOff x="6705600" y="1371600"/>
            <a:chExt cx="10972800" cy="10972800"/>
          </a:xfrm>
        </p:grpSpPr>
        <p:sp>
          <p:nvSpPr>
            <p:cNvPr name="Freeform 3" id="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4" id="4"/>
          <p:cNvSpPr/>
          <p:nvPr/>
        </p:nvSpPr>
        <p:spPr>
          <a:xfrm flipH="false" flipV="false" rot="0">
            <a:off x="-999970" y="7919561"/>
            <a:ext cx="20287941" cy="8229600"/>
          </a:xfrm>
          <a:custGeom>
            <a:avLst/>
            <a:gdLst/>
            <a:ahLst/>
            <a:cxnLst/>
            <a:rect r="r" b="b" t="t" l="l"/>
            <a:pathLst>
              <a:path h="8229600" w="20287941">
                <a:moveTo>
                  <a:pt x="0" y="0"/>
                </a:moveTo>
                <a:lnTo>
                  <a:pt x="20287940" y="0"/>
                </a:lnTo>
                <a:lnTo>
                  <a:pt x="20287940" y="8229600"/>
                </a:lnTo>
                <a:lnTo>
                  <a:pt x="0" y="8229600"/>
                </a:lnTo>
                <a:lnTo>
                  <a:pt x="0" y="0"/>
                </a:lnTo>
                <a:close/>
              </a:path>
            </a:pathLst>
          </a:custGeom>
          <a:blipFill>
            <a:blip r:embed="rId2"/>
            <a:stretch>
              <a:fillRect l="0" t="-48609" r="0" b="-48609"/>
            </a:stretch>
          </a:blipFill>
        </p:spPr>
      </p:sp>
      <p:sp>
        <p:nvSpPr>
          <p:cNvPr name="Freeform 5" id="5"/>
          <p:cNvSpPr/>
          <p:nvPr/>
        </p:nvSpPr>
        <p:spPr>
          <a:xfrm flipH="false" flipV="false" rot="0">
            <a:off x="363322" y="415013"/>
            <a:ext cx="7713806" cy="6628882"/>
          </a:xfrm>
          <a:custGeom>
            <a:avLst/>
            <a:gdLst/>
            <a:ahLst/>
            <a:cxnLst/>
            <a:rect r="r" b="b" t="t" l="l"/>
            <a:pathLst>
              <a:path h="6628882" w="7713806">
                <a:moveTo>
                  <a:pt x="0" y="0"/>
                </a:moveTo>
                <a:lnTo>
                  <a:pt x="7713805" y="0"/>
                </a:lnTo>
                <a:lnTo>
                  <a:pt x="7713805" y="6628882"/>
                </a:lnTo>
                <a:lnTo>
                  <a:pt x="0" y="6628882"/>
                </a:lnTo>
                <a:lnTo>
                  <a:pt x="0" y="0"/>
                </a:lnTo>
                <a:close/>
              </a:path>
            </a:pathLst>
          </a:custGeom>
          <a:blipFill>
            <a:blip r:embed="rId3"/>
            <a:stretch>
              <a:fillRect l="0" t="0" r="0" b="0"/>
            </a:stretch>
          </a:blipFill>
        </p:spPr>
      </p:sp>
      <p:sp>
        <p:nvSpPr>
          <p:cNvPr name="Freeform 6" id="6"/>
          <p:cNvSpPr/>
          <p:nvPr/>
        </p:nvSpPr>
        <p:spPr>
          <a:xfrm flipH="false" flipV="false" rot="0">
            <a:off x="9490272" y="702277"/>
            <a:ext cx="7769028" cy="6341619"/>
          </a:xfrm>
          <a:custGeom>
            <a:avLst/>
            <a:gdLst/>
            <a:ahLst/>
            <a:cxnLst/>
            <a:rect r="r" b="b" t="t" l="l"/>
            <a:pathLst>
              <a:path h="6341619" w="7769028">
                <a:moveTo>
                  <a:pt x="0" y="0"/>
                </a:moveTo>
                <a:lnTo>
                  <a:pt x="7769028" y="0"/>
                </a:lnTo>
                <a:lnTo>
                  <a:pt x="7769028" y="6341618"/>
                </a:lnTo>
                <a:lnTo>
                  <a:pt x="0" y="6341618"/>
                </a:lnTo>
                <a:lnTo>
                  <a:pt x="0" y="0"/>
                </a:lnTo>
                <a:close/>
              </a:path>
            </a:pathLst>
          </a:custGeom>
          <a:blipFill>
            <a:blip r:embed="rId4"/>
            <a:stretch>
              <a:fillRect l="0" t="0" r="0" b="0"/>
            </a:stretch>
          </a:blipFill>
        </p:spPr>
      </p:sp>
      <p:sp>
        <p:nvSpPr>
          <p:cNvPr name="TextBox 7" id="7"/>
          <p:cNvSpPr txBox="true"/>
          <p:nvPr/>
        </p:nvSpPr>
        <p:spPr>
          <a:xfrm rot="0">
            <a:off x="2465521" y="7253445"/>
            <a:ext cx="1693515" cy="405765"/>
          </a:xfrm>
          <a:prstGeom prst="rect">
            <a:avLst/>
          </a:prstGeom>
        </p:spPr>
        <p:txBody>
          <a:bodyPr anchor="t" rtlCol="false" tIns="0" lIns="0" bIns="0" rIns="0">
            <a:spAutoFit/>
          </a:bodyPr>
          <a:lstStyle/>
          <a:p>
            <a:pPr algn="ctr" marL="0" indent="0" lvl="0">
              <a:lnSpc>
                <a:spcPts val="3359"/>
              </a:lnSpc>
              <a:spcBef>
                <a:spcPct val="0"/>
              </a:spcBef>
            </a:pPr>
          </a:p>
        </p:txBody>
      </p:sp>
      <p:sp>
        <p:nvSpPr>
          <p:cNvPr name="TextBox 8" id="8"/>
          <p:cNvSpPr txBox="true"/>
          <p:nvPr/>
        </p:nvSpPr>
        <p:spPr>
          <a:xfrm rot="0">
            <a:off x="642781" y="8056965"/>
            <a:ext cx="17002438" cy="1935144"/>
          </a:xfrm>
          <a:prstGeom prst="rect">
            <a:avLst/>
          </a:prstGeom>
        </p:spPr>
        <p:txBody>
          <a:bodyPr anchor="t" rtlCol="false" tIns="0" lIns="0" bIns="0" rIns="0">
            <a:spAutoFit/>
          </a:bodyPr>
          <a:lstStyle/>
          <a:p>
            <a:pPr algn="l">
              <a:lnSpc>
                <a:spcPts val="3063"/>
              </a:lnSpc>
            </a:pPr>
            <a:r>
              <a:rPr lang="en-US" sz="2188">
                <a:solidFill>
                  <a:srgbClr val="000000"/>
                </a:solidFill>
                <a:latin typeface="Times New Roman MT"/>
                <a:ea typeface="Times New Roman MT"/>
                <a:cs typeface="Times New Roman MT"/>
                <a:sym typeface="Times New Roman MT"/>
              </a:rPr>
              <a:t>From figure 3 and Figure 4, we can see that more men are likely to report their body type and sexual orientation on OkCupid. In the first plot</a:t>
            </a:r>
          </a:p>
          <a:p>
            <a:pPr algn="l" marL="0" indent="0" lvl="0">
              <a:lnSpc>
                <a:spcPts val="3063"/>
              </a:lnSpc>
              <a:spcBef>
                <a:spcPct val="0"/>
              </a:spcBef>
            </a:pPr>
            <a:r>
              <a:rPr lang="en-US" sz="2188">
                <a:solidFill>
                  <a:srgbClr val="000000"/>
                </a:solidFill>
                <a:latin typeface="Times New Roman MT"/>
                <a:ea typeface="Times New Roman MT"/>
                <a:cs typeface="Times New Roman MT"/>
                <a:sym typeface="Times New Roman MT"/>
              </a:rPr>
              <a:t>the reports of being </a:t>
            </a:r>
            <a:r>
              <a:rPr lang="en-US" b="true" sz="2188">
                <a:solidFill>
                  <a:srgbClr val="000000"/>
                </a:solidFill>
                <a:latin typeface="Times New Roman MT Bold"/>
                <a:ea typeface="Times New Roman MT Bold"/>
                <a:cs typeface="Times New Roman MT Bold"/>
                <a:sym typeface="Times New Roman MT Bold"/>
              </a:rPr>
              <a:t>average, fit, athletic </a:t>
            </a:r>
            <a:r>
              <a:rPr lang="en-US" sz="2188">
                <a:solidFill>
                  <a:srgbClr val="000000"/>
                </a:solidFill>
                <a:latin typeface="Times New Roman MT"/>
                <a:ea typeface="Times New Roman MT"/>
                <a:cs typeface="Times New Roman MT"/>
                <a:sym typeface="Times New Roman MT"/>
              </a:rPr>
              <a:t>body type is more than other body types.Women reported curvy more which is understandable in context of curvy being associated with women. In the second plot, the profiles which reported </a:t>
            </a:r>
            <a:r>
              <a:rPr lang="en-US" b="true" sz="2188">
                <a:solidFill>
                  <a:srgbClr val="000000"/>
                </a:solidFill>
                <a:latin typeface="Times New Roman MT Bold"/>
                <a:ea typeface="Times New Roman MT Bold"/>
                <a:cs typeface="Times New Roman MT Bold"/>
                <a:sym typeface="Times New Roman MT Bold"/>
              </a:rPr>
              <a:t>gay</a:t>
            </a:r>
            <a:r>
              <a:rPr lang="en-US" sz="2188">
                <a:solidFill>
                  <a:srgbClr val="000000"/>
                </a:solidFill>
                <a:latin typeface="Times New Roman MT"/>
                <a:ea typeface="Times New Roman MT"/>
                <a:cs typeface="Times New Roman MT"/>
                <a:sym typeface="Times New Roman MT"/>
              </a:rPr>
              <a:t> were the least. This distribution may indicate either true user base composition or potential underreporting due to social stigma regarding body types/sexual orientation/ lack of security for homesexual identity. </a:t>
            </a:r>
          </a:p>
        </p:txBody>
      </p:sp>
      <p:sp>
        <p:nvSpPr>
          <p:cNvPr name="TextBox 9" id="9"/>
          <p:cNvSpPr txBox="true"/>
          <p:nvPr/>
        </p:nvSpPr>
        <p:spPr>
          <a:xfrm rot="0">
            <a:off x="642781" y="7253445"/>
            <a:ext cx="6601933" cy="332741"/>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000000"/>
                </a:solidFill>
                <a:latin typeface="Roboto Bold"/>
                <a:ea typeface="Roboto Bold"/>
                <a:cs typeface="Roboto Bold"/>
                <a:sym typeface="Roboto Bold"/>
              </a:rPr>
              <a:t>Figure 3 : Count of Profiles for different body type by sex </a:t>
            </a:r>
          </a:p>
        </p:txBody>
      </p:sp>
      <p:sp>
        <p:nvSpPr>
          <p:cNvPr name="TextBox 10" id="10"/>
          <p:cNvSpPr txBox="true"/>
          <p:nvPr/>
        </p:nvSpPr>
        <p:spPr>
          <a:xfrm rot="0">
            <a:off x="8390650" y="7294479"/>
            <a:ext cx="10493913" cy="295275"/>
          </a:xfrm>
          <a:prstGeom prst="rect">
            <a:avLst/>
          </a:prstGeom>
        </p:spPr>
        <p:txBody>
          <a:bodyPr anchor="t" rtlCol="false" tIns="0" lIns="0" bIns="0" rIns="0">
            <a:spAutoFit/>
          </a:bodyPr>
          <a:lstStyle/>
          <a:p>
            <a:pPr algn="ctr">
              <a:lnSpc>
                <a:spcPts val="2279"/>
              </a:lnSpc>
              <a:spcBef>
                <a:spcPct val="0"/>
              </a:spcBef>
            </a:pPr>
            <a:r>
              <a:rPr lang="en-US" b="true" sz="1899">
                <a:solidFill>
                  <a:srgbClr val="000000"/>
                </a:solidFill>
                <a:latin typeface="Roboto Bold"/>
                <a:ea typeface="Roboto Bold"/>
                <a:cs typeface="Roboto Bold"/>
                <a:sym typeface="Roboto Bold"/>
              </a:rPr>
              <a:t>Figure 4 : Count of profiles of three different sexual orientation by sex</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03732" y="5847214"/>
            <a:ext cx="181620" cy="181620"/>
            <a:chOff x="6705600" y="1371600"/>
            <a:chExt cx="10972800" cy="10972800"/>
          </a:xfrm>
        </p:grpSpPr>
        <p:sp>
          <p:nvSpPr>
            <p:cNvPr name="Freeform 3" id="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4" id="4"/>
          <p:cNvSpPr/>
          <p:nvPr/>
        </p:nvSpPr>
        <p:spPr>
          <a:xfrm flipH="false" flipV="false" rot="0">
            <a:off x="10801791" y="0"/>
            <a:ext cx="16097602" cy="10287000"/>
          </a:xfrm>
          <a:custGeom>
            <a:avLst/>
            <a:gdLst/>
            <a:ahLst/>
            <a:cxnLst/>
            <a:rect r="r" b="b" t="t" l="l"/>
            <a:pathLst>
              <a:path h="10287000" w="16097602">
                <a:moveTo>
                  <a:pt x="0" y="0"/>
                </a:moveTo>
                <a:lnTo>
                  <a:pt x="16097602" y="0"/>
                </a:lnTo>
                <a:lnTo>
                  <a:pt x="16097602" y="10287000"/>
                </a:lnTo>
                <a:lnTo>
                  <a:pt x="0" y="10287000"/>
                </a:lnTo>
                <a:lnTo>
                  <a:pt x="0" y="0"/>
                </a:lnTo>
                <a:close/>
              </a:path>
            </a:pathLst>
          </a:custGeom>
          <a:blipFill>
            <a:blip r:embed="rId2"/>
            <a:stretch>
              <a:fillRect l="-25016" t="-17930" r="0" b="-38574"/>
            </a:stretch>
          </a:blipFill>
        </p:spPr>
      </p:sp>
      <p:sp>
        <p:nvSpPr>
          <p:cNvPr name="Freeform 5" id="5"/>
          <p:cNvSpPr/>
          <p:nvPr/>
        </p:nvSpPr>
        <p:spPr>
          <a:xfrm flipH="false" flipV="false" rot="0">
            <a:off x="736709" y="0"/>
            <a:ext cx="9109403" cy="10287000"/>
          </a:xfrm>
          <a:custGeom>
            <a:avLst/>
            <a:gdLst/>
            <a:ahLst/>
            <a:cxnLst/>
            <a:rect r="r" b="b" t="t" l="l"/>
            <a:pathLst>
              <a:path h="10287000" w="9109403">
                <a:moveTo>
                  <a:pt x="0" y="0"/>
                </a:moveTo>
                <a:lnTo>
                  <a:pt x="9109403" y="0"/>
                </a:lnTo>
                <a:lnTo>
                  <a:pt x="9109403" y="10287000"/>
                </a:lnTo>
                <a:lnTo>
                  <a:pt x="0" y="10287000"/>
                </a:lnTo>
                <a:lnTo>
                  <a:pt x="0" y="0"/>
                </a:lnTo>
                <a:close/>
              </a:path>
            </a:pathLst>
          </a:custGeom>
          <a:blipFill>
            <a:blip r:embed="rId3"/>
            <a:stretch>
              <a:fillRect l="0" t="-54" r="-3594" b="-54"/>
            </a:stretch>
          </a:blipFill>
        </p:spPr>
      </p:sp>
      <p:sp>
        <p:nvSpPr>
          <p:cNvPr name="TextBox 6" id="6"/>
          <p:cNvSpPr txBox="true"/>
          <p:nvPr/>
        </p:nvSpPr>
        <p:spPr>
          <a:xfrm rot="0">
            <a:off x="2465521" y="7253445"/>
            <a:ext cx="1693515" cy="405765"/>
          </a:xfrm>
          <a:prstGeom prst="rect">
            <a:avLst/>
          </a:prstGeom>
        </p:spPr>
        <p:txBody>
          <a:bodyPr anchor="t" rtlCol="false" tIns="0" lIns="0" bIns="0" rIns="0">
            <a:spAutoFit/>
          </a:bodyPr>
          <a:lstStyle/>
          <a:p>
            <a:pPr algn="ctr" marL="0" indent="0" lvl="0">
              <a:lnSpc>
                <a:spcPts val="3359"/>
              </a:lnSpc>
              <a:spcBef>
                <a:spcPct val="0"/>
              </a:spcBef>
            </a:pPr>
          </a:p>
        </p:txBody>
      </p:sp>
      <p:sp>
        <p:nvSpPr>
          <p:cNvPr name="TextBox 7" id="7"/>
          <p:cNvSpPr txBox="true"/>
          <p:nvPr/>
        </p:nvSpPr>
        <p:spPr>
          <a:xfrm rot="0">
            <a:off x="11632225" y="2898783"/>
            <a:ext cx="6187096" cy="6889205"/>
          </a:xfrm>
          <a:prstGeom prst="rect">
            <a:avLst/>
          </a:prstGeom>
        </p:spPr>
        <p:txBody>
          <a:bodyPr anchor="t" rtlCol="false" tIns="0" lIns="0" bIns="0" rIns="0">
            <a:spAutoFit/>
          </a:bodyPr>
          <a:lstStyle/>
          <a:p>
            <a:pPr algn="l">
              <a:lnSpc>
                <a:spcPts val="3005"/>
              </a:lnSpc>
            </a:pPr>
            <a:r>
              <a:rPr lang="en-US" sz="2146">
                <a:solidFill>
                  <a:srgbClr val="000000"/>
                </a:solidFill>
                <a:latin typeface="Times New Roman MT"/>
                <a:ea typeface="Times New Roman MT"/>
                <a:cs typeface="Times New Roman MT"/>
                <a:sym typeface="Times New Roman MT"/>
              </a:rPr>
              <a:t>This figure combines the two plots and shows us a comprehensive analysis of how different body types are represented among Male and Female across three different sexual orientation. </a:t>
            </a:r>
          </a:p>
          <a:p>
            <a:pPr algn="l">
              <a:lnSpc>
                <a:spcPts val="3005"/>
              </a:lnSpc>
            </a:pPr>
          </a:p>
          <a:p>
            <a:pPr algn="l">
              <a:lnSpc>
                <a:spcPts val="3005"/>
              </a:lnSpc>
            </a:pPr>
            <a:r>
              <a:rPr lang="en-US" sz="2146">
                <a:solidFill>
                  <a:srgbClr val="000000"/>
                </a:solidFill>
                <a:latin typeface="Times New Roman MT"/>
                <a:ea typeface="Times New Roman MT"/>
                <a:cs typeface="Times New Roman MT"/>
                <a:sym typeface="Times New Roman MT"/>
              </a:rPr>
              <a:t>As expected from the figure 3 and figure 4, overweight, used up, jacked body type has less data. One key observation is full figured body type has more heterosexual male reported than women or queer people.</a:t>
            </a:r>
          </a:p>
          <a:p>
            <a:pPr algn="l">
              <a:lnSpc>
                <a:spcPts val="3005"/>
              </a:lnSpc>
            </a:pPr>
          </a:p>
          <a:p>
            <a:pPr algn="l">
              <a:lnSpc>
                <a:spcPts val="3005"/>
              </a:lnSpc>
            </a:pPr>
            <a:r>
              <a:rPr lang="en-US" sz="2146">
                <a:solidFill>
                  <a:srgbClr val="000000"/>
                </a:solidFill>
                <a:latin typeface="Times New Roman MT"/>
                <a:ea typeface="Times New Roman MT"/>
                <a:cs typeface="Times New Roman MT"/>
                <a:sym typeface="Times New Roman MT"/>
              </a:rPr>
              <a:t>A societal bias on conventional beauty standards that cater to thin bodies might be a factor here. Additionally, heteronormativity can be a factor here too. </a:t>
            </a:r>
          </a:p>
          <a:p>
            <a:pPr algn="l">
              <a:lnSpc>
                <a:spcPts val="3005"/>
              </a:lnSpc>
            </a:pPr>
          </a:p>
          <a:p>
            <a:pPr algn="l">
              <a:lnSpc>
                <a:spcPts val="3005"/>
              </a:lnSpc>
            </a:pPr>
          </a:p>
          <a:p>
            <a:pPr algn="l" marL="0" indent="0" lvl="0">
              <a:lnSpc>
                <a:spcPts val="3005"/>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8574" y="-492354"/>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81312" y="1277992"/>
            <a:ext cx="6433611" cy="7731016"/>
            <a:chOff x="0" y="0"/>
            <a:chExt cx="8829365" cy="10609899"/>
          </a:xfrm>
        </p:grpSpPr>
        <p:sp>
          <p:nvSpPr>
            <p:cNvPr name="Freeform 5" id="5"/>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6" id="6"/>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7" id="7"/>
          <p:cNvGrpSpPr/>
          <p:nvPr/>
        </p:nvGrpSpPr>
        <p:grpSpPr>
          <a:xfrm rot="0">
            <a:off x="1581312" y="1277992"/>
            <a:ext cx="6433611" cy="908385"/>
            <a:chOff x="0" y="0"/>
            <a:chExt cx="8829365" cy="1246650"/>
          </a:xfrm>
        </p:grpSpPr>
        <p:sp>
          <p:nvSpPr>
            <p:cNvPr name="Freeform 8" id="8"/>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9" id="9"/>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10" id="10"/>
          <p:cNvSpPr/>
          <p:nvPr/>
        </p:nvSpPr>
        <p:spPr>
          <a:xfrm rot="0">
            <a:off x="3270093" y="1689676"/>
            <a:ext cx="4304837" cy="85017"/>
          </a:xfrm>
          <a:prstGeom prst="rect">
            <a:avLst/>
          </a:prstGeom>
          <a:solidFill>
            <a:srgbClr val="2E2E2E"/>
          </a:solidFill>
        </p:spPr>
      </p:sp>
      <p:grpSp>
        <p:nvGrpSpPr>
          <p:cNvPr name="Group 11" id="11"/>
          <p:cNvGrpSpPr/>
          <p:nvPr/>
        </p:nvGrpSpPr>
        <p:grpSpPr>
          <a:xfrm rot="0">
            <a:off x="2063814" y="1589309"/>
            <a:ext cx="285750" cy="285750"/>
            <a:chOff x="0" y="0"/>
            <a:chExt cx="381000" cy="381000"/>
          </a:xfrm>
        </p:grpSpPr>
        <p:grpSp>
          <p:nvGrpSpPr>
            <p:cNvPr name="Group 12" id="12"/>
            <p:cNvGrpSpPr>
              <a:grpSpLocks noChangeAspect="true"/>
            </p:cNvGrpSpPr>
            <p:nvPr/>
          </p:nvGrpSpPr>
          <p:grpSpPr>
            <a:xfrm rot="0">
              <a:off x="0" y="0"/>
              <a:ext cx="381000" cy="38100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a:grpSpLocks noChangeAspect="true"/>
            </p:cNvGrpSpPr>
            <p:nvPr/>
          </p:nvGrpSpPr>
          <p:grpSpPr>
            <a:xfrm rot="0">
              <a:off x="69420" y="69420"/>
              <a:ext cx="242160" cy="242160"/>
              <a:chOff x="6705600" y="1371600"/>
              <a:chExt cx="10972800" cy="10972800"/>
            </a:xfrm>
          </p:grpSpPr>
          <p:sp>
            <p:nvSpPr>
              <p:cNvPr name="Freeform 15" id="1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6" id="16"/>
          <p:cNvGrpSpPr/>
          <p:nvPr/>
        </p:nvGrpSpPr>
        <p:grpSpPr>
          <a:xfrm rot="0">
            <a:off x="2482914" y="1589309"/>
            <a:ext cx="285750" cy="285750"/>
            <a:chOff x="0" y="0"/>
            <a:chExt cx="381000" cy="381000"/>
          </a:xfrm>
        </p:grpSpPr>
        <p:grpSp>
          <p:nvGrpSpPr>
            <p:cNvPr name="Group 17" id="17"/>
            <p:cNvGrpSpPr>
              <a:grpSpLocks noChangeAspect="true"/>
            </p:cNvGrpSpPr>
            <p:nvPr/>
          </p:nvGrpSpPr>
          <p:grpSpPr>
            <a:xfrm rot="0">
              <a:off x="0" y="0"/>
              <a:ext cx="381000" cy="38100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9" id="19"/>
            <p:cNvGrpSpPr>
              <a:grpSpLocks noChangeAspect="true"/>
            </p:cNvGrpSpPr>
            <p:nvPr/>
          </p:nvGrpSpPr>
          <p:grpSpPr>
            <a:xfrm rot="0">
              <a:off x="69420" y="69420"/>
              <a:ext cx="242160" cy="242160"/>
              <a:chOff x="6705600" y="1371600"/>
              <a:chExt cx="10972800" cy="10972800"/>
            </a:xfrm>
          </p:grpSpPr>
          <p:sp>
            <p:nvSpPr>
              <p:cNvPr name="Freeform 20" id="20"/>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21" id="21"/>
          <p:cNvGrpSpPr/>
          <p:nvPr/>
        </p:nvGrpSpPr>
        <p:grpSpPr>
          <a:xfrm rot="0">
            <a:off x="2063814" y="3684602"/>
            <a:ext cx="5139781" cy="2771894"/>
            <a:chOff x="0" y="0"/>
            <a:chExt cx="6853042" cy="3695858"/>
          </a:xfrm>
        </p:grpSpPr>
        <p:sp>
          <p:nvSpPr>
            <p:cNvPr name="TextBox 22" id="22"/>
            <p:cNvSpPr txBox="true"/>
            <p:nvPr/>
          </p:nvSpPr>
          <p:spPr>
            <a:xfrm rot="0">
              <a:off x="418386" y="95250"/>
              <a:ext cx="6434656" cy="31169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EXPLORATORY DATA ANALYSIS</a:t>
              </a:r>
            </a:p>
          </p:txBody>
        </p:sp>
        <p:pic>
          <p:nvPicPr>
            <p:cNvPr name="Picture 23" id="23"/>
            <p:cNvPicPr>
              <a:picLocks noChangeAspect="true"/>
            </p:cNvPicPr>
            <p:nvPr/>
          </p:nvPicPr>
          <p:blipFill>
            <a:blip r:embed="rId4"/>
            <a:srcRect l="0" t="0" r="0" b="0"/>
            <a:stretch>
              <a:fillRect/>
            </a:stretch>
          </p:blipFill>
          <p:spPr>
            <a:xfrm flipH="false" flipV="false" rot="0">
              <a:off x="0" y="3273450"/>
              <a:ext cx="5450424" cy="422408"/>
            </a:xfrm>
            <a:prstGeom prst="rect">
              <a:avLst/>
            </a:prstGeom>
          </p:spPr>
        </p:pic>
      </p:grpSp>
      <p:grpSp>
        <p:nvGrpSpPr>
          <p:cNvPr name="Group 24" id="24"/>
          <p:cNvGrpSpPr>
            <a:grpSpLocks noChangeAspect="true"/>
          </p:cNvGrpSpPr>
          <p:nvPr/>
        </p:nvGrpSpPr>
        <p:grpSpPr>
          <a:xfrm rot="0">
            <a:off x="10273646" y="2953033"/>
            <a:ext cx="181620" cy="181620"/>
            <a:chOff x="6705600" y="1371600"/>
            <a:chExt cx="10972800" cy="10972800"/>
          </a:xfrm>
        </p:grpSpPr>
        <p:sp>
          <p:nvSpPr>
            <p:cNvPr name="Freeform 25" id="2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grpSp>
        <p:nvGrpSpPr>
          <p:cNvPr name="Group 26" id="26"/>
          <p:cNvGrpSpPr/>
          <p:nvPr/>
        </p:nvGrpSpPr>
        <p:grpSpPr>
          <a:xfrm rot="0">
            <a:off x="9812917" y="3350436"/>
            <a:ext cx="6855723" cy="2669969"/>
            <a:chOff x="0" y="0"/>
            <a:chExt cx="1076130" cy="419100"/>
          </a:xfrm>
        </p:grpSpPr>
        <p:sp>
          <p:nvSpPr>
            <p:cNvPr name="Freeform 27" id="27"/>
            <p:cNvSpPr/>
            <p:nvPr/>
          </p:nvSpPr>
          <p:spPr>
            <a:xfrm flipH="false" flipV="false" rot="0">
              <a:off x="0" y="0"/>
              <a:ext cx="1076130" cy="419100"/>
            </a:xfrm>
            <a:custGeom>
              <a:avLst/>
              <a:gdLst/>
              <a:ahLst/>
              <a:cxnLst/>
              <a:rect r="r" b="b" t="t" l="l"/>
              <a:pathLst>
                <a:path h="419100" w="1076130">
                  <a:moveTo>
                    <a:pt x="22056" y="0"/>
                  </a:moveTo>
                  <a:lnTo>
                    <a:pt x="1054074" y="0"/>
                  </a:lnTo>
                  <a:cubicBezTo>
                    <a:pt x="1059924" y="0"/>
                    <a:pt x="1065534" y="2324"/>
                    <a:pt x="1069670" y="6460"/>
                  </a:cubicBezTo>
                  <a:cubicBezTo>
                    <a:pt x="1073806" y="10596"/>
                    <a:pt x="1076130" y="16206"/>
                    <a:pt x="1076130" y="22056"/>
                  </a:cubicBezTo>
                  <a:lnTo>
                    <a:pt x="1076130" y="397044"/>
                  </a:lnTo>
                  <a:cubicBezTo>
                    <a:pt x="1076130" y="402894"/>
                    <a:pt x="1073806" y="408504"/>
                    <a:pt x="1069670" y="412640"/>
                  </a:cubicBezTo>
                  <a:cubicBezTo>
                    <a:pt x="1065534" y="416776"/>
                    <a:pt x="1059924" y="419100"/>
                    <a:pt x="1054074" y="419100"/>
                  </a:cubicBezTo>
                  <a:lnTo>
                    <a:pt x="22056" y="419100"/>
                  </a:lnTo>
                  <a:cubicBezTo>
                    <a:pt x="16206" y="419100"/>
                    <a:pt x="10596" y="416776"/>
                    <a:pt x="6460" y="412640"/>
                  </a:cubicBezTo>
                  <a:cubicBezTo>
                    <a:pt x="2324" y="408504"/>
                    <a:pt x="0" y="402894"/>
                    <a:pt x="0" y="397044"/>
                  </a:cubicBezTo>
                  <a:lnTo>
                    <a:pt x="0" y="22056"/>
                  </a:lnTo>
                  <a:cubicBezTo>
                    <a:pt x="0" y="16206"/>
                    <a:pt x="2324" y="10596"/>
                    <a:pt x="6460" y="6460"/>
                  </a:cubicBezTo>
                  <a:cubicBezTo>
                    <a:pt x="10596" y="2324"/>
                    <a:pt x="16206" y="0"/>
                    <a:pt x="22056" y="0"/>
                  </a:cubicBezTo>
                  <a:close/>
                </a:path>
              </a:pathLst>
            </a:custGeom>
            <a:solidFill>
              <a:srgbClr val="F1DCED"/>
            </a:solidFill>
          </p:spPr>
        </p:sp>
        <p:sp>
          <p:nvSpPr>
            <p:cNvPr name="TextBox 28" id="28"/>
            <p:cNvSpPr txBox="true"/>
            <p:nvPr/>
          </p:nvSpPr>
          <p:spPr>
            <a:xfrm>
              <a:off x="0" y="-104775"/>
              <a:ext cx="1076130" cy="523875"/>
            </a:xfrm>
            <a:prstGeom prst="rect">
              <a:avLst/>
            </a:prstGeom>
          </p:spPr>
          <p:txBody>
            <a:bodyPr anchor="ctr" rtlCol="false" tIns="50800" lIns="50800" bIns="50800" rIns="50800"/>
            <a:lstStyle/>
            <a:p>
              <a:pPr algn="ctr">
                <a:lnSpc>
                  <a:spcPts val="7279"/>
                </a:lnSpc>
              </a:pPr>
              <a:r>
                <a:rPr lang="en-US" b="true" sz="5199">
                  <a:solidFill>
                    <a:srgbClr val="2E2E2E"/>
                  </a:solidFill>
                  <a:latin typeface="Anonymous Pro Bold"/>
                  <a:ea typeface="Anonymous Pro Bold"/>
                  <a:cs typeface="Anonymous Pro Bold"/>
                  <a:sym typeface="Anonymous Pro Bold"/>
                </a:rPr>
                <a:t>Age,Income</a:t>
              </a:r>
            </a:p>
          </p:txBody>
        </p:sp>
      </p:grpSp>
      <p:sp>
        <p:nvSpPr>
          <p:cNvPr name="TextBox 29" id="2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3832430">
            <a:off x="15294967" y="-741646"/>
            <a:ext cx="3928667" cy="4163327"/>
          </a:xfrm>
          <a:custGeom>
            <a:avLst/>
            <a:gdLst/>
            <a:ahLst/>
            <a:cxnLst/>
            <a:rect r="r" b="b" t="t" l="l"/>
            <a:pathLst>
              <a:path h="4163327" w="3928667">
                <a:moveTo>
                  <a:pt x="0" y="0"/>
                </a:moveTo>
                <a:lnTo>
                  <a:pt x="3928666" y="0"/>
                </a:lnTo>
                <a:lnTo>
                  <a:pt x="3928666"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203732" y="5847214"/>
            <a:ext cx="181620" cy="181620"/>
            <a:chOff x="6705600" y="1371600"/>
            <a:chExt cx="10972800" cy="10972800"/>
          </a:xfrm>
        </p:grpSpPr>
        <p:sp>
          <p:nvSpPr>
            <p:cNvPr name="Freeform 4" id="4"/>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5" id="5"/>
          <p:cNvSpPr/>
          <p:nvPr/>
        </p:nvSpPr>
        <p:spPr>
          <a:xfrm flipH="false" flipV="false" rot="0">
            <a:off x="5290315" y="1885838"/>
            <a:ext cx="7430453" cy="6083684"/>
          </a:xfrm>
          <a:custGeom>
            <a:avLst/>
            <a:gdLst/>
            <a:ahLst/>
            <a:cxnLst/>
            <a:rect r="r" b="b" t="t" l="l"/>
            <a:pathLst>
              <a:path h="6083684" w="7430453">
                <a:moveTo>
                  <a:pt x="0" y="0"/>
                </a:moveTo>
                <a:lnTo>
                  <a:pt x="7430454" y="0"/>
                </a:lnTo>
                <a:lnTo>
                  <a:pt x="7430454" y="6083684"/>
                </a:lnTo>
                <a:lnTo>
                  <a:pt x="0" y="6083684"/>
                </a:lnTo>
                <a:lnTo>
                  <a:pt x="0" y="0"/>
                </a:lnTo>
                <a:close/>
              </a:path>
            </a:pathLst>
          </a:custGeom>
          <a:blipFill>
            <a:blip r:embed="rId4"/>
            <a:stretch>
              <a:fillRect l="0" t="0" r="0" b="0"/>
            </a:stretch>
          </a:blipFill>
        </p:spPr>
      </p:sp>
      <p:sp>
        <p:nvSpPr>
          <p:cNvPr name="TextBox 6" id="6"/>
          <p:cNvSpPr txBox="true"/>
          <p:nvPr/>
        </p:nvSpPr>
        <p:spPr>
          <a:xfrm rot="0">
            <a:off x="1826682" y="671832"/>
            <a:ext cx="13956819" cy="808985"/>
          </a:xfrm>
          <a:prstGeom prst="rect">
            <a:avLst/>
          </a:prstGeom>
        </p:spPr>
        <p:txBody>
          <a:bodyPr anchor="t" rtlCol="false" tIns="0" lIns="0" bIns="0" rIns="0">
            <a:spAutoFit/>
          </a:bodyPr>
          <a:lstStyle/>
          <a:p>
            <a:pPr algn="ctr">
              <a:lnSpc>
                <a:spcPts val="5974"/>
              </a:lnSpc>
            </a:pPr>
            <a:r>
              <a:rPr lang="en-US" b="true" sz="5974">
                <a:solidFill>
                  <a:srgbClr val="2E2E2E"/>
                </a:solidFill>
                <a:latin typeface="Anonymous Pro Bold"/>
                <a:ea typeface="Anonymous Pro Bold"/>
                <a:cs typeface="Anonymous Pro Bold"/>
                <a:sym typeface="Anonymous Pro Bold"/>
              </a:rPr>
              <a:t>SUMMARY STATISTICS </a:t>
            </a:r>
          </a:p>
        </p:txBody>
      </p:sp>
      <p:sp>
        <p:nvSpPr>
          <p:cNvPr name="TextBox 7" id="7"/>
          <p:cNvSpPr txBox="true"/>
          <p:nvPr/>
        </p:nvSpPr>
        <p:spPr>
          <a:xfrm rot="0">
            <a:off x="2084683" y="8279292"/>
            <a:ext cx="14554042" cy="1748319"/>
          </a:xfrm>
          <a:prstGeom prst="rect">
            <a:avLst/>
          </a:prstGeom>
        </p:spPr>
        <p:txBody>
          <a:bodyPr anchor="t" rtlCol="false" tIns="0" lIns="0" bIns="0" rIns="0">
            <a:spAutoFit/>
          </a:bodyPr>
          <a:lstStyle/>
          <a:p>
            <a:pPr algn="ctr">
              <a:lnSpc>
                <a:spcPts val="3385"/>
              </a:lnSpc>
            </a:pPr>
            <a:r>
              <a:rPr lang="en-US" sz="2418">
                <a:solidFill>
                  <a:srgbClr val="000000"/>
                </a:solidFill>
                <a:latin typeface="Times New Roman MT"/>
                <a:ea typeface="Times New Roman MT"/>
                <a:cs typeface="Times New Roman MT"/>
                <a:sym typeface="Times New Roman MT"/>
              </a:rPr>
              <a:t>The table displays descriptive statistics (mean, median, standard deviation, etc.) for age, income, and height, separated by sex. </a:t>
            </a:r>
          </a:p>
          <a:p>
            <a:pPr algn="ctr">
              <a:lnSpc>
                <a:spcPts val="3385"/>
              </a:lnSpc>
            </a:pPr>
          </a:p>
          <a:p>
            <a:pPr algn="ctr" marL="0" indent="0" lvl="0">
              <a:lnSpc>
                <a:spcPts val="3385"/>
              </a:lnSpc>
              <a:spcBef>
                <a:spcPct val="0"/>
              </a:spcBef>
            </a:pPr>
            <a:r>
              <a:rPr lang="en-US" sz="2418">
                <a:solidFill>
                  <a:srgbClr val="000000"/>
                </a:solidFill>
                <a:latin typeface="Times New Roman MT"/>
                <a:ea typeface="Times New Roman MT"/>
                <a:cs typeface="Times New Roman MT"/>
                <a:sym typeface="Times New Roman MT"/>
              </a:rPr>
              <a:t>The first summary is for female users and the second summary is for male users.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03732" y="5847214"/>
            <a:ext cx="181620" cy="181620"/>
            <a:chOff x="6705600" y="1371600"/>
            <a:chExt cx="10972800" cy="10972800"/>
          </a:xfrm>
        </p:grpSpPr>
        <p:sp>
          <p:nvSpPr>
            <p:cNvPr name="Freeform 3" id="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4" id="4"/>
          <p:cNvSpPr/>
          <p:nvPr/>
        </p:nvSpPr>
        <p:spPr>
          <a:xfrm flipH="false" flipV="false" rot="0">
            <a:off x="-999970" y="6561085"/>
            <a:ext cx="20287941" cy="8229600"/>
          </a:xfrm>
          <a:custGeom>
            <a:avLst/>
            <a:gdLst/>
            <a:ahLst/>
            <a:cxnLst/>
            <a:rect r="r" b="b" t="t" l="l"/>
            <a:pathLst>
              <a:path h="8229600" w="20287941">
                <a:moveTo>
                  <a:pt x="0" y="0"/>
                </a:moveTo>
                <a:lnTo>
                  <a:pt x="20287940" y="0"/>
                </a:lnTo>
                <a:lnTo>
                  <a:pt x="20287940" y="8229600"/>
                </a:lnTo>
                <a:lnTo>
                  <a:pt x="0" y="8229600"/>
                </a:lnTo>
                <a:lnTo>
                  <a:pt x="0" y="0"/>
                </a:lnTo>
                <a:close/>
              </a:path>
            </a:pathLst>
          </a:custGeom>
          <a:blipFill>
            <a:blip r:embed="rId2"/>
            <a:stretch>
              <a:fillRect l="0" t="-48609" r="0" b="-48609"/>
            </a:stretch>
          </a:blipFill>
        </p:spPr>
      </p:sp>
      <p:sp>
        <p:nvSpPr>
          <p:cNvPr name="Freeform 5" id="5"/>
          <p:cNvSpPr/>
          <p:nvPr/>
        </p:nvSpPr>
        <p:spPr>
          <a:xfrm flipH="false" flipV="false" rot="0">
            <a:off x="254685" y="1028700"/>
            <a:ext cx="5731047" cy="4546697"/>
          </a:xfrm>
          <a:custGeom>
            <a:avLst/>
            <a:gdLst/>
            <a:ahLst/>
            <a:cxnLst/>
            <a:rect r="r" b="b" t="t" l="l"/>
            <a:pathLst>
              <a:path h="4546697" w="5731047">
                <a:moveTo>
                  <a:pt x="0" y="0"/>
                </a:moveTo>
                <a:lnTo>
                  <a:pt x="5731046" y="0"/>
                </a:lnTo>
                <a:lnTo>
                  <a:pt x="5731046" y="4546697"/>
                </a:lnTo>
                <a:lnTo>
                  <a:pt x="0" y="4546697"/>
                </a:lnTo>
                <a:lnTo>
                  <a:pt x="0" y="0"/>
                </a:lnTo>
                <a:close/>
              </a:path>
            </a:pathLst>
          </a:custGeom>
          <a:blipFill>
            <a:blip r:embed="rId3"/>
            <a:stretch>
              <a:fillRect l="0" t="0" r="0" b="0"/>
            </a:stretch>
          </a:blipFill>
        </p:spPr>
      </p:sp>
      <p:sp>
        <p:nvSpPr>
          <p:cNvPr name="Freeform 6" id="6"/>
          <p:cNvSpPr/>
          <p:nvPr/>
        </p:nvSpPr>
        <p:spPr>
          <a:xfrm flipH="false" flipV="false" rot="0">
            <a:off x="5731091" y="839444"/>
            <a:ext cx="5891402" cy="4531078"/>
          </a:xfrm>
          <a:custGeom>
            <a:avLst/>
            <a:gdLst/>
            <a:ahLst/>
            <a:cxnLst/>
            <a:rect r="r" b="b" t="t" l="l"/>
            <a:pathLst>
              <a:path h="4531078" w="5891402">
                <a:moveTo>
                  <a:pt x="0" y="0"/>
                </a:moveTo>
                <a:lnTo>
                  <a:pt x="5891402" y="0"/>
                </a:lnTo>
                <a:lnTo>
                  <a:pt x="5891402" y="4531078"/>
                </a:lnTo>
                <a:lnTo>
                  <a:pt x="0" y="4531078"/>
                </a:lnTo>
                <a:lnTo>
                  <a:pt x="0" y="0"/>
                </a:lnTo>
                <a:close/>
              </a:path>
            </a:pathLst>
          </a:custGeom>
          <a:blipFill>
            <a:blip r:embed="rId4"/>
            <a:stretch>
              <a:fillRect l="0" t="0" r="0" b="0"/>
            </a:stretch>
          </a:blipFill>
        </p:spPr>
      </p:sp>
      <p:sp>
        <p:nvSpPr>
          <p:cNvPr name="Freeform 7" id="7"/>
          <p:cNvSpPr/>
          <p:nvPr/>
        </p:nvSpPr>
        <p:spPr>
          <a:xfrm flipH="false" flipV="false" rot="0">
            <a:off x="11622493" y="735079"/>
            <a:ext cx="6022726" cy="4632079"/>
          </a:xfrm>
          <a:custGeom>
            <a:avLst/>
            <a:gdLst/>
            <a:ahLst/>
            <a:cxnLst/>
            <a:rect r="r" b="b" t="t" l="l"/>
            <a:pathLst>
              <a:path h="4632079" w="6022726">
                <a:moveTo>
                  <a:pt x="0" y="0"/>
                </a:moveTo>
                <a:lnTo>
                  <a:pt x="6022726" y="0"/>
                </a:lnTo>
                <a:lnTo>
                  <a:pt x="6022726" y="4632079"/>
                </a:lnTo>
                <a:lnTo>
                  <a:pt x="0" y="4632079"/>
                </a:lnTo>
                <a:lnTo>
                  <a:pt x="0" y="0"/>
                </a:lnTo>
                <a:close/>
              </a:path>
            </a:pathLst>
          </a:custGeom>
          <a:blipFill>
            <a:blip r:embed="rId5"/>
            <a:stretch>
              <a:fillRect l="0" t="0" r="0" b="0"/>
            </a:stretch>
          </a:blipFill>
        </p:spPr>
      </p:sp>
      <p:sp>
        <p:nvSpPr>
          <p:cNvPr name="TextBox 8" id="8"/>
          <p:cNvSpPr txBox="true"/>
          <p:nvPr/>
        </p:nvSpPr>
        <p:spPr>
          <a:xfrm rot="0">
            <a:off x="2465521" y="7253445"/>
            <a:ext cx="1693515" cy="405765"/>
          </a:xfrm>
          <a:prstGeom prst="rect">
            <a:avLst/>
          </a:prstGeom>
        </p:spPr>
        <p:txBody>
          <a:bodyPr anchor="t" rtlCol="false" tIns="0" lIns="0" bIns="0" rIns="0">
            <a:spAutoFit/>
          </a:bodyPr>
          <a:lstStyle/>
          <a:p>
            <a:pPr algn="ctr" marL="0" indent="0" lvl="0">
              <a:lnSpc>
                <a:spcPts val="3359"/>
              </a:lnSpc>
              <a:spcBef>
                <a:spcPct val="0"/>
              </a:spcBef>
            </a:pPr>
          </a:p>
        </p:txBody>
      </p:sp>
      <p:sp>
        <p:nvSpPr>
          <p:cNvPr name="TextBox 9" id="9"/>
          <p:cNvSpPr txBox="true"/>
          <p:nvPr/>
        </p:nvSpPr>
        <p:spPr>
          <a:xfrm rot="0">
            <a:off x="642781" y="7019434"/>
            <a:ext cx="17002438" cy="1935144"/>
          </a:xfrm>
          <a:prstGeom prst="rect">
            <a:avLst/>
          </a:prstGeom>
        </p:spPr>
        <p:txBody>
          <a:bodyPr anchor="t" rtlCol="false" tIns="0" lIns="0" bIns="0" rIns="0">
            <a:spAutoFit/>
          </a:bodyPr>
          <a:lstStyle/>
          <a:p>
            <a:pPr algn="l">
              <a:lnSpc>
                <a:spcPts val="3063"/>
              </a:lnSpc>
            </a:pPr>
            <a:r>
              <a:rPr lang="en-US" sz="2188">
                <a:solidFill>
                  <a:srgbClr val="000000"/>
                </a:solidFill>
                <a:latin typeface="Times New Roman MT"/>
                <a:ea typeface="Times New Roman MT"/>
                <a:cs typeface="Times New Roman MT"/>
                <a:sym typeface="Times New Roman MT"/>
              </a:rPr>
              <a:t>From figure 6: we can see that the age is similarly distributed among male and female users except outliers. Eliminating any age bias that might skew results. From figure 7 and 8, we can see that the majority users belong to male and female users making less than 40k indicating there is less representation of users making more than 100K. The factors contributing to this is the socio economic context of SF at that time. </a:t>
            </a:r>
          </a:p>
          <a:p>
            <a:pPr algn="l">
              <a:lnSpc>
                <a:spcPts val="3063"/>
              </a:lnSpc>
            </a:pPr>
          </a:p>
          <a:p>
            <a:pPr algn="l" marL="0" indent="0" lvl="0">
              <a:lnSpc>
                <a:spcPts val="3063"/>
              </a:lnSpc>
              <a:spcBef>
                <a:spcPct val="0"/>
              </a:spcBef>
            </a:pPr>
            <a:r>
              <a:rPr lang="en-US" sz="2188">
                <a:solidFill>
                  <a:srgbClr val="000000"/>
                </a:solidFill>
                <a:latin typeface="Times New Roman MT"/>
                <a:ea typeface="Times New Roman MT"/>
                <a:cs typeface="Times New Roman MT"/>
                <a:sym typeface="Times New Roman MT"/>
              </a:rPr>
              <a:t>Overall, we can say that the balance of age and income is similar for both categories of users. </a:t>
            </a:r>
          </a:p>
        </p:txBody>
      </p:sp>
      <p:sp>
        <p:nvSpPr>
          <p:cNvPr name="TextBox 10" id="10"/>
          <p:cNvSpPr txBox="true"/>
          <p:nvPr/>
        </p:nvSpPr>
        <p:spPr>
          <a:xfrm rot="0">
            <a:off x="527060" y="5605283"/>
            <a:ext cx="5186297" cy="332741"/>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000000"/>
                </a:solidFill>
                <a:latin typeface="Roboto Bold"/>
                <a:ea typeface="Roboto Bold"/>
                <a:cs typeface="Roboto Bold"/>
                <a:sym typeface="Roboto Bold"/>
              </a:rPr>
              <a:t>Figure 6 : Distribution of age in the dataset </a:t>
            </a:r>
          </a:p>
        </p:txBody>
      </p:sp>
      <p:sp>
        <p:nvSpPr>
          <p:cNvPr name="TextBox 11" id="11"/>
          <p:cNvSpPr txBox="true"/>
          <p:nvPr/>
        </p:nvSpPr>
        <p:spPr>
          <a:xfrm rot="0">
            <a:off x="6436197" y="5605283"/>
            <a:ext cx="5186297" cy="332741"/>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000000"/>
                </a:solidFill>
                <a:latin typeface="Roboto Bold"/>
                <a:ea typeface="Roboto Bold"/>
                <a:cs typeface="Roboto Bold"/>
                <a:sym typeface="Roboto Bold"/>
              </a:rPr>
              <a:t>Figure 7: Distribution of income for male users</a:t>
            </a:r>
          </a:p>
        </p:txBody>
      </p:sp>
      <p:sp>
        <p:nvSpPr>
          <p:cNvPr name="TextBox 12" id="12"/>
          <p:cNvSpPr txBox="true"/>
          <p:nvPr/>
        </p:nvSpPr>
        <p:spPr>
          <a:xfrm rot="0">
            <a:off x="12458922" y="5605283"/>
            <a:ext cx="5186297" cy="666116"/>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000000"/>
                </a:solidFill>
                <a:latin typeface="Roboto Bold"/>
                <a:ea typeface="Roboto Bold"/>
                <a:cs typeface="Roboto Bold"/>
                <a:sym typeface="Roboto Bold"/>
              </a:rPr>
              <a:t>Figure 8: Distribution of income for Female users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8574" y="-492354"/>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81312" y="1277992"/>
            <a:ext cx="6433611" cy="7731016"/>
            <a:chOff x="0" y="0"/>
            <a:chExt cx="8829365" cy="10609899"/>
          </a:xfrm>
        </p:grpSpPr>
        <p:sp>
          <p:nvSpPr>
            <p:cNvPr name="Freeform 5" id="5"/>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6" id="6"/>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7" id="7"/>
          <p:cNvGrpSpPr/>
          <p:nvPr/>
        </p:nvGrpSpPr>
        <p:grpSpPr>
          <a:xfrm rot="0">
            <a:off x="1581312" y="1277992"/>
            <a:ext cx="6433611" cy="908385"/>
            <a:chOff x="0" y="0"/>
            <a:chExt cx="8829365" cy="1246650"/>
          </a:xfrm>
        </p:grpSpPr>
        <p:sp>
          <p:nvSpPr>
            <p:cNvPr name="Freeform 8" id="8"/>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9" id="9"/>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10" id="10"/>
          <p:cNvSpPr/>
          <p:nvPr/>
        </p:nvSpPr>
        <p:spPr>
          <a:xfrm rot="0">
            <a:off x="3270093" y="1689676"/>
            <a:ext cx="4304837" cy="85017"/>
          </a:xfrm>
          <a:prstGeom prst="rect">
            <a:avLst/>
          </a:prstGeom>
          <a:solidFill>
            <a:srgbClr val="2E2E2E"/>
          </a:solidFill>
        </p:spPr>
      </p:sp>
      <p:grpSp>
        <p:nvGrpSpPr>
          <p:cNvPr name="Group 11" id="11"/>
          <p:cNvGrpSpPr/>
          <p:nvPr/>
        </p:nvGrpSpPr>
        <p:grpSpPr>
          <a:xfrm rot="0">
            <a:off x="2063814" y="1589309"/>
            <a:ext cx="285750" cy="285750"/>
            <a:chOff x="0" y="0"/>
            <a:chExt cx="381000" cy="381000"/>
          </a:xfrm>
        </p:grpSpPr>
        <p:grpSp>
          <p:nvGrpSpPr>
            <p:cNvPr name="Group 12" id="12"/>
            <p:cNvGrpSpPr>
              <a:grpSpLocks noChangeAspect="true"/>
            </p:cNvGrpSpPr>
            <p:nvPr/>
          </p:nvGrpSpPr>
          <p:grpSpPr>
            <a:xfrm rot="0">
              <a:off x="0" y="0"/>
              <a:ext cx="381000" cy="38100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a:grpSpLocks noChangeAspect="true"/>
            </p:cNvGrpSpPr>
            <p:nvPr/>
          </p:nvGrpSpPr>
          <p:grpSpPr>
            <a:xfrm rot="0">
              <a:off x="69420" y="69420"/>
              <a:ext cx="242160" cy="242160"/>
              <a:chOff x="6705600" y="1371600"/>
              <a:chExt cx="10972800" cy="10972800"/>
            </a:xfrm>
          </p:grpSpPr>
          <p:sp>
            <p:nvSpPr>
              <p:cNvPr name="Freeform 15" id="1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6" id="16"/>
          <p:cNvGrpSpPr/>
          <p:nvPr/>
        </p:nvGrpSpPr>
        <p:grpSpPr>
          <a:xfrm rot="0">
            <a:off x="2482914" y="1589309"/>
            <a:ext cx="285750" cy="285750"/>
            <a:chOff x="0" y="0"/>
            <a:chExt cx="381000" cy="381000"/>
          </a:xfrm>
        </p:grpSpPr>
        <p:grpSp>
          <p:nvGrpSpPr>
            <p:cNvPr name="Group 17" id="17"/>
            <p:cNvGrpSpPr>
              <a:grpSpLocks noChangeAspect="true"/>
            </p:cNvGrpSpPr>
            <p:nvPr/>
          </p:nvGrpSpPr>
          <p:grpSpPr>
            <a:xfrm rot="0">
              <a:off x="0" y="0"/>
              <a:ext cx="381000" cy="38100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9" id="19"/>
            <p:cNvGrpSpPr>
              <a:grpSpLocks noChangeAspect="true"/>
            </p:cNvGrpSpPr>
            <p:nvPr/>
          </p:nvGrpSpPr>
          <p:grpSpPr>
            <a:xfrm rot="0">
              <a:off x="69420" y="69420"/>
              <a:ext cx="242160" cy="242160"/>
              <a:chOff x="6705600" y="1371600"/>
              <a:chExt cx="10972800" cy="10972800"/>
            </a:xfrm>
          </p:grpSpPr>
          <p:sp>
            <p:nvSpPr>
              <p:cNvPr name="Freeform 20" id="20"/>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21" id="21"/>
          <p:cNvGrpSpPr/>
          <p:nvPr/>
        </p:nvGrpSpPr>
        <p:grpSpPr>
          <a:xfrm rot="0">
            <a:off x="2063814" y="4437077"/>
            <a:ext cx="5139781" cy="1266944"/>
            <a:chOff x="0" y="0"/>
            <a:chExt cx="6853042" cy="1689258"/>
          </a:xfrm>
        </p:grpSpPr>
        <p:sp>
          <p:nvSpPr>
            <p:cNvPr name="TextBox 22" id="22"/>
            <p:cNvSpPr txBox="true"/>
            <p:nvPr/>
          </p:nvSpPr>
          <p:spPr>
            <a:xfrm rot="0">
              <a:off x="418386" y="95250"/>
              <a:ext cx="6434656" cy="11103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ASSOCIATION</a:t>
              </a:r>
            </a:p>
          </p:txBody>
        </p:sp>
        <p:pic>
          <p:nvPicPr>
            <p:cNvPr name="Picture 23" id="23"/>
            <p:cNvPicPr>
              <a:picLocks noChangeAspect="true"/>
            </p:cNvPicPr>
            <p:nvPr/>
          </p:nvPicPr>
          <p:blipFill>
            <a:blip r:embed="rId4"/>
            <a:srcRect l="0" t="0" r="0" b="0"/>
            <a:stretch>
              <a:fillRect/>
            </a:stretch>
          </p:blipFill>
          <p:spPr>
            <a:xfrm flipH="false" flipV="false" rot="0">
              <a:off x="0" y="1266850"/>
              <a:ext cx="5450424" cy="422408"/>
            </a:xfrm>
            <a:prstGeom prst="rect">
              <a:avLst/>
            </a:prstGeom>
          </p:spPr>
        </p:pic>
      </p:grpSp>
      <p:grpSp>
        <p:nvGrpSpPr>
          <p:cNvPr name="Group 24" id="24"/>
          <p:cNvGrpSpPr>
            <a:grpSpLocks noChangeAspect="true"/>
          </p:cNvGrpSpPr>
          <p:nvPr/>
        </p:nvGrpSpPr>
        <p:grpSpPr>
          <a:xfrm rot="0">
            <a:off x="10273646" y="2953033"/>
            <a:ext cx="181620" cy="181620"/>
            <a:chOff x="6705600" y="1371600"/>
            <a:chExt cx="10972800" cy="10972800"/>
          </a:xfrm>
        </p:grpSpPr>
        <p:sp>
          <p:nvSpPr>
            <p:cNvPr name="Freeform 25" id="25"/>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grpSp>
        <p:nvGrpSpPr>
          <p:cNvPr name="Group 26" id="26"/>
          <p:cNvGrpSpPr/>
          <p:nvPr/>
        </p:nvGrpSpPr>
        <p:grpSpPr>
          <a:xfrm rot="0">
            <a:off x="9812917" y="3350436"/>
            <a:ext cx="7151053" cy="2669969"/>
            <a:chOff x="0" y="0"/>
            <a:chExt cx="1122487" cy="419100"/>
          </a:xfrm>
        </p:grpSpPr>
        <p:sp>
          <p:nvSpPr>
            <p:cNvPr name="Freeform 27" id="27"/>
            <p:cNvSpPr/>
            <p:nvPr/>
          </p:nvSpPr>
          <p:spPr>
            <a:xfrm flipH="false" flipV="false" rot="0">
              <a:off x="0" y="0"/>
              <a:ext cx="1122487" cy="419100"/>
            </a:xfrm>
            <a:custGeom>
              <a:avLst/>
              <a:gdLst/>
              <a:ahLst/>
              <a:cxnLst/>
              <a:rect r="r" b="b" t="t" l="l"/>
              <a:pathLst>
                <a:path h="419100" w="1122487">
                  <a:moveTo>
                    <a:pt x="21145" y="0"/>
                  </a:moveTo>
                  <a:lnTo>
                    <a:pt x="1101342" y="0"/>
                  </a:lnTo>
                  <a:cubicBezTo>
                    <a:pt x="1113020" y="0"/>
                    <a:pt x="1122487" y="9467"/>
                    <a:pt x="1122487" y="21145"/>
                  </a:cubicBezTo>
                  <a:lnTo>
                    <a:pt x="1122487" y="397955"/>
                  </a:lnTo>
                  <a:cubicBezTo>
                    <a:pt x="1122487" y="409633"/>
                    <a:pt x="1113020" y="419100"/>
                    <a:pt x="1101342" y="419100"/>
                  </a:cubicBezTo>
                  <a:lnTo>
                    <a:pt x="21145" y="419100"/>
                  </a:lnTo>
                  <a:cubicBezTo>
                    <a:pt x="9467" y="419100"/>
                    <a:pt x="0" y="409633"/>
                    <a:pt x="0" y="397955"/>
                  </a:cubicBezTo>
                  <a:lnTo>
                    <a:pt x="0" y="21145"/>
                  </a:lnTo>
                  <a:cubicBezTo>
                    <a:pt x="0" y="9467"/>
                    <a:pt x="9467" y="0"/>
                    <a:pt x="21145" y="0"/>
                  </a:cubicBezTo>
                  <a:close/>
                </a:path>
              </a:pathLst>
            </a:custGeom>
            <a:solidFill>
              <a:srgbClr val="F1DCED"/>
            </a:solidFill>
          </p:spPr>
        </p:sp>
        <p:sp>
          <p:nvSpPr>
            <p:cNvPr name="TextBox 28" id="28"/>
            <p:cNvSpPr txBox="true"/>
            <p:nvPr/>
          </p:nvSpPr>
          <p:spPr>
            <a:xfrm>
              <a:off x="0" y="-104775"/>
              <a:ext cx="1122487" cy="523875"/>
            </a:xfrm>
            <a:prstGeom prst="rect">
              <a:avLst/>
            </a:prstGeom>
          </p:spPr>
          <p:txBody>
            <a:bodyPr anchor="ctr" rtlCol="false" tIns="50800" lIns="50800" bIns="50800" rIns="50800"/>
            <a:lstStyle/>
            <a:p>
              <a:pPr algn="ctr">
                <a:lnSpc>
                  <a:spcPts val="7279"/>
                </a:lnSpc>
              </a:pPr>
              <a:r>
                <a:rPr lang="en-US" sz="5199" b="true">
                  <a:solidFill>
                    <a:srgbClr val="2E2E2E"/>
                  </a:solidFill>
                  <a:latin typeface="Anonymous Pro Bold"/>
                  <a:ea typeface="Anonymous Pro Bold"/>
                  <a:cs typeface="Anonymous Pro Bold"/>
                  <a:sym typeface="Anonymous Pro Bold"/>
                </a:rPr>
                <a:t>Educational Level,</a:t>
              </a:r>
            </a:p>
            <a:p>
              <a:pPr algn="ctr">
                <a:lnSpc>
                  <a:spcPts val="7279"/>
                </a:lnSpc>
              </a:pPr>
              <a:r>
                <a:rPr lang="en-US" b="true" sz="5199">
                  <a:solidFill>
                    <a:srgbClr val="2E2E2E"/>
                  </a:solidFill>
                  <a:latin typeface="Anonymous Pro Bold"/>
                  <a:ea typeface="Anonymous Pro Bold"/>
                  <a:cs typeface="Anonymous Pro Bold"/>
                  <a:sym typeface="Anonymous Pro Bold"/>
                </a:rPr>
                <a:t>Sex</a:t>
              </a:r>
            </a:p>
          </p:txBody>
        </p:sp>
      </p:grpSp>
      <p:sp>
        <p:nvSpPr>
          <p:cNvPr name="TextBox 29" id="2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03732" y="5847214"/>
            <a:ext cx="181620" cy="181620"/>
            <a:chOff x="6705600" y="1371600"/>
            <a:chExt cx="10972800" cy="10972800"/>
          </a:xfrm>
        </p:grpSpPr>
        <p:sp>
          <p:nvSpPr>
            <p:cNvPr name="Freeform 3" id="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4" id="4"/>
          <p:cNvSpPr/>
          <p:nvPr/>
        </p:nvSpPr>
        <p:spPr>
          <a:xfrm flipH="false" flipV="false" rot="0">
            <a:off x="248168" y="1601647"/>
            <a:ext cx="5201484" cy="5661479"/>
          </a:xfrm>
          <a:custGeom>
            <a:avLst/>
            <a:gdLst/>
            <a:ahLst/>
            <a:cxnLst/>
            <a:rect r="r" b="b" t="t" l="l"/>
            <a:pathLst>
              <a:path h="5661479" w="5201484">
                <a:moveTo>
                  <a:pt x="0" y="0"/>
                </a:moveTo>
                <a:lnTo>
                  <a:pt x="5201484" y="0"/>
                </a:lnTo>
                <a:lnTo>
                  <a:pt x="5201484" y="5661479"/>
                </a:lnTo>
                <a:lnTo>
                  <a:pt x="0" y="5661479"/>
                </a:lnTo>
                <a:lnTo>
                  <a:pt x="0" y="0"/>
                </a:lnTo>
                <a:close/>
              </a:path>
            </a:pathLst>
          </a:custGeom>
          <a:blipFill>
            <a:blip r:embed="rId2"/>
            <a:stretch>
              <a:fillRect l="0" t="0" r="0" b="0"/>
            </a:stretch>
          </a:blipFill>
        </p:spPr>
      </p:sp>
      <p:sp>
        <p:nvSpPr>
          <p:cNvPr name="Freeform 5" id="5"/>
          <p:cNvSpPr/>
          <p:nvPr/>
        </p:nvSpPr>
        <p:spPr>
          <a:xfrm flipH="false" flipV="false" rot="0">
            <a:off x="10670129" y="2526938"/>
            <a:ext cx="6719429" cy="3411086"/>
          </a:xfrm>
          <a:custGeom>
            <a:avLst/>
            <a:gdLst/>
            <a:ahLst/>
            <a:cxnLst/>
            <a:rect r="r" b="b" t="t" l="l"/>
            <a:pathLst>
              <a:path h="3411086" w="6719429">
                <a:moveTo>
                  <a:pt x="0" y="0"/>
                </a:moveTo>
                <a:lnTo>
                  <a:pt x="6719429" y="0"/>
                </a:lnTo>
                <a:lnTo>
                  <a:pt x="6719429" y="3411086"/>
                </a:lnTo>
                <a:lnTo>
                  <a:pt x="0" y="3411086"/>
                </a:lnTo>
                <a:lnTo>
                  <a:pt x="0" y="0"/>
                </a:lnTo>
                <a:close/>
              </a:path>
            </a:pathLst>
          </a:custGeom>
          <a:blipFill>
            <a:blip r:embed="rId3"/>
            <a:stretch>
              <a:fillRect l="0" t="0" r="0" b="0"/>
            </a:stretch>
          </a:blipFill>
        </p:spPr>
      </p:sp>
      <p:sp>
        <p:nvSpPr>
          <p:cNvPr name="Freeform 6" id="6"/>
          <p:cNvSpPr/>
          <p:nvPr/>
        </p:nvSpPr>
        <p:spPr>
          <a:xfrm flipH="false" flipV="false" rot="0">
            <a:off x="6708280" y="3439282"/>
            <a:ext cx="2840103" cy="1178643"/>
          </a:xfrm>
          <a:custGeom>
            <a:avLst/>
            <a:gdLst/>
            <a:ahLst/>
            <a:cxnLst/>
            <a:rect r="r" b="b" t="t" l="l"/>
            <a:pathLst>
              <a:path h="1178643" w="2840103">
                <a:moveTo>
                  <a:pt x="0" y="0"/>
                </a:moveTo>
                <a:lnTo>
                  <a:pt x="2840103" y="0"/>
                </a:lnTo>
                <a:lnTo>
                  <a:pt x="2840103" y="1178643"/>
                </a:lnTo>
                <a:lnTo>
                  <a:pt x="0" y="11786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302481" y="541201"/>
            <a:ext cx="13956819" cy="727071"/>
          </a:xfrm>
          <a:prstGeom prst="rect">
            <a:avLst/>
          </a:prstGeom>
        </p:spPr>
        <p:txBody>
          <a:bodyPr anchor="t" rtlCol="false" tIns="0" lIns="0" bIns="0" rIns="0">
            <a:spAutoFit/>
          </a:bodyPr>
          <a:lstStyle/>
          <a:p>
            <a:pPr algn="just">
              <a:lnSpc>
                <a:spcPts val="5374"/>
              </a:lnSpc>
            </a:pPr>
            <a:r>
              <a:rPr lang="en-US" b="true" sz="5374">
                <a:solidFill>
                  <a:srgbClr val="2E2E2E"/>
                </a:solidFill>
                <a:latin typeface="Anonymous Pro Bold"/>
                <a:ea typeface="Anonymous Pro Bold"/>
                <a:cs typeface="Anonymous Pro Bold"/>
                <a:sym typeface="Anonymous Pro Bold"/>
              </a:rPr>
              <a:t>CLEANING AND PREPARING THE DATA</a:t>
            </a:r>
          </a:p>
        </p:txBody>
      </p:sp>
      <p:sp>
        <p:nvSpPr>
          <p:cNvPr name="TextBox 8" id="8"/>
          <p:cNvSpPr txBox="true"/>
          <p:nvPr/>
        </p:nvSpPr>
        <p:spPr>
          <a:xfrm rot="0">
            <a:off x="248168" y="7520301"/>
            <a:ext cx="5449652" cy="2859253"/>
          </a:xfrm>
          <a:prstGeom prst="rect">
            <a:avLst/>
          </a:prstGeom>
        </p:spPr>
        <p:txBody>
          <a:bodyPr anchor="t" rtlCol="false" tIns="0" lIns="0" bIns="0" rIns="0">
            <a:spAutoFit/>
          </a:bodyPr>
          <a:lstStyle/>
          <a:p>
            <a:pPr algn="l">
              <a:lnSpc>
                <a:spcPts val="2528"/>
              </a:lnSpc>
            </a:pPr>
            <a:r>
              <a:rPr lang="en-US" sz="1805">
                <a:solidFill>
                  <a:srgbClr val="000000"/>
                </a:solidFill>
                <a:latin typeface="Times New Roman MT"/>
                <a:ea typeface="Times New Roman MT"/>
                <a:cs typeface="Times New Roman MT"/>
                <a:sym typeface="Times New Roman MT"/>
              </a:rPr>
              <a:t>The educational groups reported by users were messy and not categorizable. Using mapping, we mapped each unique answers to seven education groups. Later we excluded people in the job force to only keep it education specific. The filtered educational levels are : [</a:t>
            </a:r>
            <a:r>
              <a:rPr lang="en-US" sz="1805" b="true">
                <a:solidFill>
                  <a:srgbClr val="000000"/>
                </a:solidFill>
                <a:latin typeface="Times New Roman MT Bold"/>
                <a:ea typeface="Times New Roman MT Bold"/>
                <a:cs typeface="Times New Roman MT Bold"/>
                <a:sym typeface="Times New Roman MT Bold"/>
              </a:rPr>
              <a:t>"Undergraduate (Bachelor's)", 'Postgraduate',  'Undergraduate (Associate)','High School', 'College Dropout',  'High School Dropout']</a:t>
            </a:r>
          </a:p>
          <a:p>
            <a:pPr algn="l" marL="0" indent="0" lvl="0">
              <a:lnSpc>
                <a:spcPts val="2528"/>
              </a:lnSpc>
              <a:spcBef>
                <a:spcPct val="0"/>
              </a:spcBef>
            </a:pPr>
          </a:p>
        </p:txBody>
      </p:sp>
      <p:sp>
        <p:nvSpPr>
          <p:cNvPr name="TextBox 9" id="9"/>
          <p:cNvSpPr txBox="true"/>
          <p:nvPr/>
        </p:nvSpPr>
        <p:spPr>
          <a:xfrm rot="0">
            <a:off x="10670129" y="7510776"/>
            <a:ext cx="6719429" cy="1518133"/>
          </a:xfrm>
          <a:prstGeom prst="rect">
            <a:avLst/>
          </a:prstGeom>
        </p:spPr>
        <p:txBody>
          <a:bodyPr anchor="t" rtlCol="false" tIns="0" lIns="0" bIns="0" rIns="0">
            <a:spAutoFit/>
          </a:bodyPr>
          <a:lstStyle/>
          <a:p>
            <a:pPr algn="l">
              <a:lnSpc>
                <a:spcPts val="2948"/>
              </a:lnSpc>
            </a:pPr>
            <a:r>
              <a:rPr lang="en-US" sz="2105">
                <a:solidFill>
                  <a:srgbClr val="000000"/>
                </a:solidFill>
                <a:latin typeface="Times New Roman MT"/>
                <a:ea typeface="Times New Roman MT"/>
                <a:cs typeface="Times New Roman MT"/>
                <a:sym typeface="Times New Roman MT"/>
              </a:rPr>
              <a:t>For identifying any possible association between these two categorical variable – we set up a contigency table using the </a:t>
            </a:r>
            <a:r>
              <a:rPr lang="en-US" sz="2105" b="true">
                <a:solidFill>
                  <a:srgbClr val="000000"/>
                </a:solidFill>
                <a:latin typeface="Times New Roman MT Bold"/>
                <a:ea typeface="Times New Roman MT Bold"/>
                <a:cs typeface="Times New Roman MT Bold"/>
                <a:sym typeface="Times New Roman MT Bold"/>
              </a:rPr>
              <a:t>pd.crosstab() </a:t>
            </a:r>
            <a:r>
              <a:rPr lang="en-US" sz="2105">
                <a:solidFill>
                  <a:srgbClr val="000000"/>
                </a:solidFill>
                <a:latin typeface="Times New Roman MT"/>
                <a:ea typeface="Times New Roman MT"/>
                <a:cs typeface="Times New Roman MT"/>
                <a:sym typeface="Times New Roman MT"/>
              </a:rPr>
              <a:t>function.</a:t>
            </a:r>
          </a:p>
          <a:p>
            <a:pPr algn="l" marL="0" indent="0" lvl="0">
              <a:lnSpc>
                <a:spcPts val="2948"/>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09828" y="4236295"/>
            <a:ext cx="10912397" cy="2468930"/>
          </a:xfrm>
          <a:custGeom>
            <a:avLst/>
            <a:gdLst/>
            <a:ahLst/>
            <a:cxnLst/>
            <a:rect r="r" b="b" t="t" l="l"/>
            <a:pathLst>
              <a:path h="2468930" w="10912397">
                <a:moveTo>
                  <a:pt x="0" y="0"/>
                </a:moveTo>
                <a:lnTo>
                  <a:pt x="10912397" y="0"/>
                </a:lnTo>
                <a:lnTo>
                  <a:pt x="10912397" y="2468930"/>
                </a:lnTo>
                <a:lnTo>
                  <a:pt x="0" y="2468930"/>
                </a:lnTo>
                <a:lnTo>
                  <a:pt x="0" y="0"/>
                </a:lnTo>
                <a:close/>
              </a:path>
            </a:pathLst>
          </a:custGeom>
          <a:blipFill>
            <a:blip r:embed="rId2"/>
            <a:stretch>
              <a:fillRect l="0" t="0" r="0" b="0"/>
            </a:stretch>
          </a:blipFill>
        </p:spPr>
      </p:sp>
      <p:sp>
        <p:nvSpPr>
          <p:cNvPr name="Freeform 3" id="3"/>
          <p:cNvSpPr/>
          <p:nvPr/>
        </p:nvSpPr>
        <p:spPr>
          <a:xfrm flipH="false" flipV="false" rot="0">
            <a:off x="3909828" y="6942024"/>
            <a:ext cx="11301259" cy="960607"/>
          </a:xfrm>
          <a:custGeom>
            <a:avLst/>
            <a:gdLst/>
            <a:ahLst/>
            <a:cxnLst/>
            <a:rect r="r" b="b" t="t" l="l"/>
            <a:pathLst>
              <a:path h="960607" w="11301259">
                <a:moveTo>
                  <a:pt x="0" y="0"/>
                </a:moveTo>
                <a:lnTo>
                  <a:pt x="11301259" y="0"/>
                </a:lnTo>
                <a:lnTo>
                  <a:pt x="11301259" y="960607"/>
                </a:lnTo>
                <a:lnTo>
                  <a:pt x="0" y="960607"/>
                </a:lnTo>
                <a:lnTo>
                  <a:pt x="0" y="0"/>
                </a:lnTo>
                <a:close/>
              </a:path>
            </a:pathLst>
          </a:custGeom>
          <a:blipFill>
            <a:blip r:embed="rId3"/>
            <a:stretch>
              <a:fillRect l="0" t="0" r="0" b="0"/>
            </a:stretch>
          </a:blipFill>
        </p:spPr>
      </p:sp>
      <p:sp>
        <p:nvSpPr>
          <p:cNvPr name="TextBox 4" id="4"/>
          <p:cNvSpPr txBox="true"/>
          <p:nvPr/>
        </p:nvSpPr>
        <p:spPr>
          <a:xfrm rot="0">
            <a:off x="2582048" y="708027"/>
            <a:ext cx="13956819" cy="727071"/>
          </a:xfrm>
          <a:prstGeom prst="rect">
            <a:avLst/>
          </a:prstGeom>
        </p:spPr>
        <p:txBody>
          <a:bodyPr anchor="t" rtlCol="false" tIns="0" lIns="0" bIns="0" rIns="0">
            <a:spAutoFit/>
          </a:bodyPr>
          <a:lstStyle/>
          <a:p>
            <a:pPr algn="ctr">
              <a:lnSpc>
                <a:spcPts val="5374"/>
              </a:lnSpc>
            </a:pPr>
            <a:r>
              <a:rPr lang="en-US" b="true" sz="5374">
                <a:solidFill>
                  <a:srgbClr val="2E2E2E"/>
                </a:solidFill>
                <a:latin typeface="Anonymous Pro Bold"/>
                <a:ea typeface="Anonymous Pro Bold"/>
                <a:cs typeface="Anonymous Pro Bold"/>
                <a:sym typeface="Anonymous Pro Bold"/>
              </a:rPr>
              <a:t>ASSOCIATION TEST</a:t>
            </a:r>
          </a:p>
        </p:txBody>
      </p:sp>
      <p:sp>
        <p:nvSpPr>
          <p:cNvPr name="TextBox 5" id="5"/>
          <p:cNvSpPr txBox="true"/>
          <p:nvPr/>
        </p:nvSpPr>
        <p:spPr>
          <a:xfrm rot="0">
            <a:off x="638484" y="1764391"/>
            <a:ext cx="17455085" cy="2024229"/>
          </a:xfrm>
          <a:prstGeom prst="rect">
            <a:avLst/>
          </a:prstGeom>
        </p:spPr>
        <p:txBody>
          <a:bodyPr anchor="t" rtlCol="false" tIns="0" lIns="0" bIns="0" rIns="0">
            <a:spAutoFit/>
          </a:bodyPr>
          <a:lstStyle/>
          <a:p>
            <a:pPr algn="ctr">
              <a:lnSpc>
                <a:spcPts val="3928"/>
              </a:lnSpc>
            </a:pPr>
            <a:r>
              <a:rPr lang="en-US" sz="2805">
                <a:solidFill>
                  <a:srgbClr val="000000"/>
                </a:solidFill>
                <a:latin typeface="Times New Roman MT"/>
                <a:ea typeface="Times New Roman MT"/>
                <a:cs typeface="Times New Roman MT"/>
                <a:sym typeface="Times New Roman MT"/>
              </a:rPr>
              <a:t>We will use Chi-Square test of independence to see if there is any relationship between sex and educational level.</a:t>
            </a:r>
          </a:p>
          <a:p>
            <a:pPr algn="ctr">
              <a:lnSpc>
                <a:spcPts val="3928"/>
              </a:lnSpc>
            </a:pPr>
          </a:p>
          <a:p>
            <a:pPr algn="ctr">
              <a:lnSpc>
                <a:spcPts val="3928"/>
              </a:lnSpc>
            </a:pPr>
            <a:r>
              <a:rPr lang="en-US" sz="2805" b="true">
                <a:solidFill>
                  <a:srgbClr val="000000"/>
                </a:solidFill>
                <a:latin typeface="Times New Roman MT Bold"/>
                <a:ea typeface="Times New Roman MT Bold"/>
                <a:cs typeface="Times New Roman MT Bold"/>
                <a:sym typeface="Times New Roman MT Bold"/>
              </a:rPr>
              <a:t>Null Hypothesis : There is no association between sex and educational level in the dating app. </a:t>
            </a:r>
          </a:p>
          <a:p>
            <a:pPr algn="ctr" marL="0" indent="0" lvl="0">
              <a:lnSpc>
                <a:spcPts val="3928"/>
              </a:lnSpc>
              <a:spcBef>
                <a:spcPct val="0"/>
              </a:spcBef>
            </a:pPr>
            <a:r>
              <a:rPr lang="en-US" b="true" sz="2805">
                <a:solidFill>
                  <a:srgbClr val="000000"/>
                </a:solidFill>
                <a:latin typeface="Times New Roman MT Bold"/>
                <a:ea typeface="Times New Roman MT Bold"/>
                <a:cs typeface="Times New Roman MT Bold"/>
                <a:sym typeface="Times New Roman MT Bold"/>
              </a:rPr>
              <a:t>Alternative Hypothesis : There is association between sex and educational level in the dating app. </a:t>
            </a:r>
          </a:p>
        </p:txBody>
      </p:sp>
      <p:sp>
        <p:nvSpPr>
          <p:cNvPr name="TextBox 6" id="6"/>
          <p:cNvSpPr txBox="true"/>
          <p:nvPr/>
        </p:nvSpPr>
        <p:spPr>
          <a:xfrm rot="0">
            <a:off x="1749133" y="8045506"/>
            <a:ext cx="15510167" cy="1784520"/>
          </a:xfrm>
          <a:prstGeom prst="rect">
            <a:avLst/>
          </a:prstGeom>
        </p:spPr>
        <p:txBody>
          <a:bodyPr anchor="t" rtlCol="false" tIns="0" lIns="0" bIns="0" rIns="0">
            <a:spAutoFit/>
          </a:bodyPr>
          <a:lstStyle/>
          <a:p>
            <a:pPr algn="ctr" marL="0" indent="0" lvl="0">
              <a:lnSpc>
                <a:spcPts val="3490"/>
              </a:lnSpc>
              <a:spcBef>
                <a:spcPct val="0"/>
              </a:spcBef>
            </a:pPr>
            <a:r>
              <a:rPr lang="en-US" sz="2493">
                <a:solidFill>
                  <a:srgbClr val="000000"/>
                </a:solidFill>
                <a:latin typeface="Times New Roman MT"/>
                <a:ea typeface="Times New Roman MT"/>
                <a:cs typeface="Times New Roman MT"/>
                <a:sym typeface="Times New Roman MT"/>
              </a:rPr>
              <a:t>With a 95% confidence interval and a significance level of α = 0.05, the p-value is less than 0.05, leading us to reject the null hypothesis. </a:t>
            </a:r>
            <a:r>
              <a:rPr lang="en-US" b="true" sz="2493">
                <a:solidFill>
                  <a:srgbClr val="000000"/>
                </a:solidFill>
                <a:latin typeface="Times New Roman MT Bold"/>
                <a:ea typeface="Times New Roman MT Bold"/>
                <a:cs typeface="Times New Roman MT Bold"/>
                <a:sym typeface="Times New Roman MT Bold"/>
              </a:rPr>
              <a:t>This indicates a significant association between sex and educational level.</a:t>
            </a:r>
            <a:r>
              <a:rPr lang="en-US" sz="2493">
                <a:solidFill>
                  <a:srgbClr val="000000"/>
                </a:solidFill>
                <a:latin typeface="Times New Roman MT"/>
                <a:ea typeface="Times New Roman MT"/>
                <a:cs typeface="Times New Roman MT"/>
                <a:sym typeface="Times New Roman MT"/>
              </a:rPr>
              <a:t> To identify which specific educational groups contribute to this association, we can conduct a Bonferroni correction method for post-hoc pairwise comparisons.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3863" y="2967964"/>
            <a:ext cx="6381230" cy="3169190"/>
          </a:xfrm>
          <a:custGeom>
            <a:avLst/>
            <a:gdLst/>
            <a:ahLst/>
            <a:cxnLst/>
            <a:rect r="r" b="b" t="t" l="l"/>
            <a:pathLst>
              <a:path h="3169190" w="6381230">
                <a:moveTo>
                  <a:pt x="0" y="0"/>
                </a:moveTo>
                <a:lnTo>
                  <a:pt x="6381230" y="0"/>
                </a:lnTo>
                <a:lnTo>
                  <a:pt x="6381230" y="3169190"/>
                </a:lnTo>
                <a:lnTo>
                  <a:pt x="0" y="3169190"/>
                </a:lnTo>
                <a:lnTo>
                  <a:pt x="0" y="0"/>
                </a:lnTo>
                <a:close/>
              </a:path>
            </a:pathLst>
          </a:custGeom>
          <a:blipFill>
            <a:blip r:embed="rId2"/>
            <a:stretch>
              <a:fillRect l="-9590" t="0" r="-2645" b="0"/>
            </a:stretch>
          </a:blipFill>
        </p:spPr>
      </p:sp>
      <p:sp>
        <p:nvSpPr>
          <p:cNvPr name="Freeform 3" id="3"/>
          <p:cNvSpPr/>
          <p:nvPr/>
        </p:nvSpPr>
        <p:spPr>
          <a:xfrm flipH="false" flipV="false" rot="0">
            <a:off x="7599558" y="4124940"/>
            <a:ext cx="1544442" cy="640943"/>
          </a:xfrm>
          <a:custGeom>
            <a:avLst/>
            <a:gdLst/>
            <a:ahLst/>
            <a:cxnLst/>
            <a:rect r="r" b="b" t="t" l="l"/>
            <a:pathLst>
              <a:path h="640943" w="1544442">
                <a:moveTo>
                  <a:pt x="0" y="0"/>
                </a:moveTo>
                <a:lnTo>
                  <a:pt x="1544442" y="0"/>
                </a:lnTo>
                <a:lnTo>
                  <a:pt x="1544442" y="640943"/>
                </a:lnTo>
                <a:lnTo>
                  <a:pt x="0" y="6409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287058">
            <a:off x="11279398" y="5816682"/>
            <a:ext cx="1544442" cy="640943"/>
          </a:xfrm>
          <a:custGeom>
            <a:avLst/>
            <a:gdLst/>
            <a:ahLst/>
            <a:cxnLst/>
            <a:rect r="r" b="b" t="t" l="l"/>
            <a:pathLst>
              <a:path h="640943" w="1544442">
                <a:moveTo>
                  <a:pt x="0" y="0"/>
                </a:moveTo>
                <a:lnTo>
                  <a:pt x="1544442" y="0"/>
                </a:lnTo>
                <a:lnTo>
                  <a:pt x="1544442" y="640944"/>
                </a:lnTo>
                <a:lnTo>
                  <a:pt x="0" y="6409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582048" y="738190"/>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POST HOC PAIRWISE COMPARISON</a:t>
            </a:r>
          </a:p>
        </p:txBody>
      </p:sp>
      <p:sp>
        <p:nvSpPr>
          <p:cNvPr name="TextBox 6" id="6"/>
          <p:cNvSpPr txBox="true"/>
          <p:nvPr/>
        </p:nvSpPr>
        <p:spPr>
          <a:xfrm rot="0">
            <a:off x="1250049" y="1664229"/>
            <a:ext cx="16620816" cy="970360"/>
          </a:xfrm>
          <a:prstGeom prst="rect">
            <a:avLst/>
          </a:prstGeom>
        </p:spPr>
        <p:txBody>
          <a:bodyPr anchor="t" rtlCol="false" tIns="0" lIns="0" bIns="0" rIns="0">
            <a:spAutoFit/>
          </a:bodyPr>
          <a:lstStyle/>
          <a:p>
            <a:pPr algn="l" marL="0" indent="0" lvl="0">
              <a:lnSpc>
                <a:spcPts val="3740"/>
              </a:lnSpc>
              <a:spcBef>
                <a:spcPct val="0"/>
              </a:spcBef>
            </a:pPr>
            <a:r>
              <a:rPr lang="en-US" sz="2671">
                <a:solidFill>
                  <a:srgbClr val="000000"/>
                </a:solidFill>
                <a:latin typeface="Times New Roman MT"/>
                <a:ea typeface="Times New Roman MT"/>
                <a:cs typeface="Times New Roman MT"/>
                <a:sym typeface="Times New Roman MT"/>
              </a:rPr>
              <a:t>Given there are 6 groups so the corrected significance level is now is </a:t>
            </a:r>
            <a:r>
              <a:rPr lang="en-US" b="true" sz="2671">
                <a:solidFill>
                  <a:srgbClr val="000000"/>
                </a:solidFill>
                <a:latin typeface="Times New Roman MT Bold"/>
                <a:ea typeface="Times New Roman MT Bold"/>
                <a:cs typeface="Times New Roman MT Bold"/>
                <a:sym typeface="Times New Roman MT Bold"/>
              </a:rPr>
              <a:t>0.008333333333333333</a:t>
            </a:r>
            <a:r>
              <a:rPr lang="en-US" sz="2671">
                <a:solidFill>
                  <a:srgbClr val="000000"/>
                </a:solidFill>
                <a:latin typeface="Times New Roman MT"/>
                <a:ea typeface="Times New Roman MT"/>
                <a:cs typeface="Times New Roman MT"/>
                <a:sym typeface="Times New Roman MT"/>
              </a:rPr>
              <a:t> according to the Bonferonni Correction Method. </a:t>
            </a:r>
          </a:p>
        </p:txBody>
      </p:sp>
      <p:sp>
        <p:nvSpPr>
          <p:cNvPr name="TextBox 7" id="7"/>
          <p:cNvSpPr txBox="true"/>
          <p:nvPr/>
        </p:nvSpPr>
        <p:spPr>
          <a:xfrm rot="0">
            <a:off x="9342819" y="3606577"/>
            <a:ext cx="5888682" cy="1591945"/>
          </a:xfrm>
          <a:prstGeom prst="rect">
            <a:avLst/>
          </a:prstGeom>
        </p:spPr>
        <p:txBody>
          <a:bodyPr anchor="t" rtlCol="false" tIns="0" lIns="0" bIns="0" rIns="0">
            <a:spAutoFit/>
          </a:bodyPr>
          <a:lstStyle/>
          <a:p>
            <a:pPr algn="just">
              <a:lnSpc>
                <a:spcPts val="3079"/>
              </a:lnSpc>
            </a:pPr>
            <a:r>
              <a:rPr lang="en-US" sz="2199" b="true">
                <a:solidFill>
                  <a:srgbClr val="000000"/>
                </a:solidFill>
                <a:latin typeface="Times New Roman MT Bold"/>
                <a:ea typeface="Times New Roman MT Bold"/>
                <a:cs typeface="Times New Roman MT Bold"/>
                <a:sym typeface="Times New Roman MT Bold"/>
              </a:rPr>
              <a:t>After looping through each of the educational level.</a:t>
            </a:r>
          </a:p>
          <a:p>
            <a:pPr algn="just">
              <a:lnSpc>
                <a:spcPts val="3079"/>
              </a:lnSpc>
            </a:pPr>
            <a:r>
              <a:rPr lang="en-US" sz="2199" b="true">
                <a:solidFill>
                  <a:srgbClr val="000000"/>
                </a:solidFill>
                <a:latin typeface="Times New Roman MT Bold"/>
                <a:ea typeface="Times New Roman MT Bold"/>
                <a:cs typeface="Times New Roman MT Bold"/>
                <a:sym typeface="Times New Roman MT Bold"/>
              </a:rPr>
              <a:t>if the p-value is lesser than 0.008</a:t>
            </a:r>
          </a:p>
          <a:p>
            <a:pPr algn="just">
              <a:lnSpc>
                <a:spcPts val="3079"/>
              </a:lnSpc>
            </a:pPr>
            <a:r>
              <a:rPr lang="en-US" sz="2199" b="true">
                <a:solidFill>
                  <a:srgbClr val="000000"/>
                </a:solidFill>
                <a:latin typeface="Times New Roman MT Bold"/>
                <a:ea typeface="Times New Roman MT Bold"/>
                <a:cs typeface="Times New Roman MT Bold"/>
                <a:sym typeface="Times New Roman MT Bold"/>
              </a:rPr>
              <a:t>the association will be significant </a:t>
            </a:r>
          </a:p>
          <a:p>
            <a:pPr algn="just" marL="0" indent="0" lvl="0">
              <a:lnSpc>
                <a:spcPts val="3079"/>
              </a:lnSpc>
              <a:spcBef>
                <a:spcPct val="0"/>
              </a:spcBef>
            </a:pPr>
            <a:r>
              <a:rPr lang="en-US" b="true" sz="2199">
                <a:solidFill>
                  <a:srgbClr val="000000"/>
                </a:solidFill>
                <a:latin typeface="Times New Roman MT Bold"/>
                <a:ea typeface="Times New Roman MT Bold"/>
                <a:cs typeface="Times New Roman MT Bold"/>
                <a:sym typeface="Times New Roman MT Bold"/>
              </a:rPr>
              <a:t>for that group </a:t>
            </a:r>
          </a:p>
        </p:txBody>
      </p:sp>
      <p:sp>
        <p:nvSpPr>
          <p:cNvPr name="TextBox 8" id="8"/>
          <p:cNvSpPr txBox="true"/>
          <p:nvPr/>
        </p:nvSpPr>
        <p:spPr>
          <a:xfrm rot="0">
            <a:off x="9452942" y="7428115"/>
            <a:ext cx="6552605" cy="810895"/>
          </a:xfrm>
          <a:prstGeom prst="rect">
            <a:avLst/>
          </a:prstGeom>
        </p:spPr>
        <p:txBody>
          <a:bodyPr anchor="t" rtlCol="false" tIns="0" lIns="0" bIns="0" rIns="0">
            <a:spAutoFit/>
          </a:bodyPr>
          <a:lstStyle/>
          <a:p>
            <a:pPr algn="just">
              <a:lnSpc>
                <a:spcPts val="3079"/>
              </a:lnSpc>
            </a:pPr>
            <a:r>
              <a:rPr lang="en-US" sz="2199" b="true">
                <a:solidFill>
                  <a:srgbClr val="000000"/>
                </a:solidFill>
                <a:latin typeface="Times New Roman MT Bold"/>
                <a:ea typeface="Times New Roman MT Bold"/>
                <a:cs typeface="Times New Roman MT Bold"/>
                <a:sym typeface="Times New Roman MT Bold"/>
              </a:rPr>
              <a:t>We can see that the college dropout group shows a </a:t>
            </a:r>
          </a:p>
          <a:p>
            <a:pPr algn="just" marL="0" indent="0" lvl="0">
              <a:lnSpc>
                <a:spcPts val="3079"/>
              </a:lnSpc>
              <a:spcBef>
                <a:spcPct val="0"/>
              </a:spcBef>
            </a:pPr>
            <a:r>
              <a:rPr lang="en-US" b="true" sz="2199">
                <a:solidFill>
                  <a:srgbClr val="000000"/>
                </a:solidFill>
                <a:latin typeface="Times New Roman MT Bold"/>
                <a:ea typeface="Times New Roman MT Bold"/>
                <a:cs typeface="Times New Roman MT Bold"/>
                <a:sym typeface="Times New Roman MT Bold"/>
              </a:rPr>
              <a:t>significant association between sex and educational levell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203732" y="5847214"/>
            <a:ext cx="181620" cy="181620"/>
            <a:chOff x="6705600" y="1371600"/>
            <a:chExt cx="10972800" cy="10972800"/>
          </a:xfrm>
        </p:grpSpPr>
        <p:sp>
          <p:nvSpPr>
            <p:cNvPr name="Freeform 3" id="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4" id="4"/>
          <p:cNvSpPr/>
          <p:nvPr/>
        </p:nvSpPr>
        <p:spPr>
          <a:xfrm flipH="false" flipV="false" rot="0">
            <a:off x="-999970" y="7919561"/>
            <a:ext cx="20287941" cy="8229600"/>
          </a:xfrm>
          <a:custGeom>
            <a:avLst/>
            <a:gdLst/>
            <a:ahLst/>
            <a:cxnLst/>
            <a:rect r="r" b="b" t="t" l="l"/>
            <a:pathLst>
              <a:path h="8229600" w="20287941">
                <a:moveTo>
                  <a:pt x="0" y="0"/>
                </a:moveTo>
                <a:lnTo>
                  <a:pt x="20287940" y="0"/>
                </a:lnTo>
                <a:lnTo>
                  <a:pt x="20287940" y="8229600"/>
                </a:lnTo>
                <a:lnTo>
                  <a:pt x="0" y="8229600"/>
                </a:lnTo>
                <a:lnTo>
                  <a:pt x="0" y="0"/>
                </a:lnTo>
                <a:close/>
              </a:path>
            </a:pathLst>
          </a:custGeom>
          <a:blipFill>
            <a:blip r:embed="rId2"/>
            <a:stretch>
              <a:fillRect l="0" t="-48609" r="0" b="-48609"/>
            </a:stretch>
          </a:blipFill>
        </p:spPr>
      </p:sp>
      <p:sp>
        <p:nvSpPr>
          <p:cNvPr name="Freeform 5" id="5"/>
          <p:cNvSpPr/>
          <p:nvPr/>
        </p:nvSpPr>
        <p:spPr>
          <a:xfrm flipH="false" flipV="false" rot="0">
            <a:off x="3515767" y="905915"/>
            <a:ext cx="10322004" cy="6395155"/>
          </a:xfrm>
          <a:custGeom>
            <a:avLst/>
            <a:gdLst/>
            <a:ahLst/>
            <a:cxnLst/>
            <a:rect r="r" b="b" t="t" l="l"/>
            <a:pathLst>
              <a:path h="6395155" w="10322004">
                <a:moveTo>
                  <a:pt x="0" y="0"/>
                </a:moveTo>
                <a:lnTo>
                  <a:pt x="10322004" y="0"/>
                </a:lnTo>
                <a:lnTo>
                  <a:pt x="10322004" y="6395155"/>
                </a:lnTo>
                <a:lnTo>
                  <a:pt x="0" y="6395155"/>
                </a:lnTo>
                <a:lnTo>
                  <a:pt x="0" y="0"/>
                </a:lnTo>
                <a:close/>
              </a:path>
            </a:pathLst>
          </a:custGeom>
          <a:blipFill>
            <a:blip r:embed="rId3"/>
            <a:stretch>
              <a:fillRect l="0" t="0" r="0" b="0"/>
            </a:stretch>
          </a:blipFill>
        </p:spPr>
      </p:sp>
      <p:sp>
        <p:nvSpPr>
          <p:cNvPr name="TextBox 6" id="6"/>
          <p:cNvSpPr txBox="true"/>
          <p:nvPr/>
        </p:nvSpPr>
        <p:spPr>
          <a:xfrm rot="0">
            <a:off x="2465521" y="7253445"/>
            <a:ext cx="1693515" cy="405765"/>
          </a:xfrm>
          <a:prstGeom prst="rect">
            <a:avLst/>
          </a:prstGeom>
        </p:spPr>
        <p:txBody>
          <a:bodyPr anchor="t" rtlCol="false" tIns="0" lIns="0" bIns="0" rIns="0">
            <a:spAutoFit/>
          </a:bodyPr>
          <a:lstStyle/>
          <a:p>
            <a:pPr algn="ctr" marL="0" indent="0" lvl="0">
              <a:lnSpc>
                <a:spcPts val="3359"/>
              </a:lnSpc>
              <a:spcBef>
                <a:spcPct val="0"/>
              </a:spcBef>
            </a:pPr>
          </a:p>
        </p:txBody>
      </p:sp>
      <p:sp>
        <p:nvSpPr>
          <p:cNvPr name="TextBox 7" id="7"/>
          <p:cNvSpPr txBox="true"/>
          <p:nvPr/>
        </p:nvSpPr>
        <p:spPr>
          <a:xfrm rot="0">
            <a:off x="850468" y="8033889"/>
            <a:ext cx="17002438" cy="1173144"/>
          </a:xfrm>
          <a:prstGeom prst="rect">
            <a:avLst/>
          </a:prstGeom>
        </p:spPr>
        <p:txBody>
          <a:bodyPr anchor="t" rtlCol="false" tIns="0" lIns="0" bIns="0" rIns="0">
            <a:spAutoFit/>
          </a:bodyPr>
          <a:lstStyle/>
          <a:p>
            <a:pPr algn="l">
              <a:lnSpc>
                <a:spcPts val="3063"/>
              </a:lnSpc>
            </a:pPr>
            <a:r>
              <a:rPr lang="en-US" sz="2188">
                <a:solidFill>
                  <a:srgbClr val="000000"/>
                </a:solidFill>
                <a:latin typeface="Times New Roman MT"/>
                <a:ea typeface="Times New Roman MT"/>
                <a:cs typeface="Times New Roman MT"/>
                <a:sym typeface="Times New Roman MT"/>
              </a:rPr>
              <a:t>Figure 5 clearly shows this association. Males are significantly overrepresented in the college dropout group compared to females. The differential distribution of educational levels between sexes contributes to the overall gender imbalance observed in the dataset.</a:t>
            </a:r>
          </a:p>
          <a:p>
            <a:pPr algn="l" marL="0" indent="0" lvl="0">
              <a:lnSpc>
                <a:spcPts val="3063"/>
              </a:lnSpc>
              <a:spcBef>
                <a:spcPct val="0"/>
              </a:spcBef>
            </a:pPr>
          </a:p>
        </p:txBody>
      </p:sp>
      <p:sp>
        <p:nvSpPr>
          <p:cNvPr name="TextBox 8" id="8"/>
          <p:cNvSpPr txBox="true"/>
          <p:nvPr/>
        </p:nvSpPr>
        <p:spPr>
          <a:xfrm rot="0">
            <a:off x="5843034" y="7326470"/>
            <a:ext cx="7801902" cy="332741"/>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000000"/>
                </a:solidFill>
                <a:latin typeface="Roboto Bold"/>
                <a:ea typeface="Roboto Bold"/>
                <a:cs typeface="Roboto Bold"/>
                <a:sym typeface="Roboto Bold"/>
              </a:rPr>
              <a:t>Figure 5 : Count of Profiles for different education group by Sex</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50427" y="1689676"/>
            <a:ext cx="6433611" cy="7731016"/>
            <a:chOff x="0" y="0"/>
            <a:chExt cx="8829365" cy="10609899"/>
          </a:xfrm>
        </p:grpSpPr>
        <p:sp>
          <p:nvSpPr>
            <p:cNvPr name="Freeform 4" id="4"/>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5" id="5"/>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6" id="6"/>
          <p:cNvGrpSpPr/>
          <p:nvPr/>
        </p:nvGrpSpPr>
        <p:grpSpPr>
          <a:xfrm rot="0">
            <a:off x="6150427" y="1732184"/>
            <a:ext cx="6433611" cy="908385"/>
            <a:chOff x="0" y="0"/>
            <a:chExt cx="8829365" cy="1246650"/>
          </a:xfrm>
        </p:grpSpPr>
        <p:sp>
          <p:nvSpPr>
            <p:cNvPr name="Freeform 7" id="7"/>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8" id="8"/>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9" id="9"/>
          <p:cNvSpPr/>
          <p:nvPr/>
        </p:nvSpPr>
        <p:spPr>
          <a:xfrm rot="0">
            <a:off x="6991582" y="2101359"/>
            <a:ext cx="4304837" cy="85017"/>
          </a:xfrm>
          <a:prstGeom prst="rect">
            <a:avLst/>
          </a:prstGeom>
          <a:solidFill>
            <a:srgbClr val="2E2E2E"/>
          </a:solidFill>
        </p:spPr>
      </p:sp>
      <p:grpSp>
        <p:nvGrpSpPr>
          <p:cNvPr name="Group 10" id="10"/>
          <p:cNvGrpSpPr>
            <a:grpSpLocks noChangeAspect="true"/>
          </p:cNvGrpSpPr>
          <p:nvPr/>
        </p:nvGrpSpPr>
        <p:grpSpPr>
          <a:xfrm rot="0">
            <a:off x="11153543" y="2000993"/>
            <a:ext cx="285750" cy="285750"/>
            <a:chOff x="6705600" y="1371600"/>
            <a:chExt cx="10972800" cy="10972800"/>
          </a:xfrm>
        </p:grpSpPr>
        <p:sp>
          <p:nvSpPr>
            <p:cNvPr name="Freeform 11" id="11"/>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2" id="12"/>
          <p:cNvGrpSpPr>
            <a:grpSpLocks noChangeAspect="true"/>
          </p:cNvGrpSpPr>
          <p:nvPr/>
        </p:nvGrpSpPr>
        <p:grpSpPr>
          <a:xfrm rot="0">
            <a:off x="6705832" y="1958484"/>
            <a:ext cx="285750" cy="28575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p:nvPr/>
        </p:nvGrpSpPr>
        <p:grpSpPr>
          <a:xfrm rot="0">
            <a:off x="6991582" y="3631433"/>
            <a:ext cx="5139781" cy="3524369"/>
            <a:chOff x="0" y="0"/>
            <a:chExt cx="6853042" cy="4699158"/>
          </a:xfrm>
        </p:grpSpPr>
        <p:sp>
          <p:nvSpPr>
            <p:cNvPr name="TextBox 15" id="15"/>
            <p:cNvSpPr txBox="true"/>
            <p:nvPr/>
          </p:nvSpPr>
          <p:spPr>
            <a:xfrm rot="0">
              <a:off x="418386" y="95250"/>
              <a:ext cx="6434656" cy="41202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PREDICTING INDIVIDUAL CHOICES BY IDENTITY</a:t>
              </a:r>
            </a:p>
          </p:txBody>
        </p:sp>
        <p:pic>
          <p:nvPicPr>
            <p:cNvPr name="Picture 16" id="16"/>
            <p:cNvPicPr>
              <a:picLocks noChangeAspect="true"/>
            </p:cNvPicPr>
            <p:nvPr/>
          </p:nvPicPr>
          <p:blipFill>
            <a:blip r:embed="rId4"/>
            <a:srcRect l="0" t="0" r="0" b="0"/>
            <a:stretch>
              <a:fillRect/>
            </a:stretch>
          </p:blipFill>
          <p:spPr>
            <a:xfrm flipH="false" flipV="false" rot="0">
              <a:off x="0" y="4276750"/>
              <a:ext cx="5450424" cy="422408"/>
            </a:xfrm>
            <a:prstGeom prst="rect">
              <a:avLst/>
            </a:prstGeom>
          </p:spPr>
        </p:pic>
      </p:grpSp>
      <p:grpSp>
        <p:nvGrpSpPr>
          <p:cNvPr name="Group 17" id="17"/>
          <p:cNvGrpSpPr>
            <a:grpSpLocks noChangeAspect="true"/>
          </p:cNvGrpSpPr>
          <p:nvPr/>
        </p:nvGrpSpPr>
        <p:grpSpPr>
          <a:xfrm rot="0">
            <a:off x="10273646" y="2953033"/>
            <a:ext cx="181620" cy="18162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TextBox 19" id="1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2305132" y="913185"/>
            <a:ext cx="13956819" cy="18764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WAIT BUT WHY ARE WE INTERESTED IN</a:t>
            </a:r>
          </a:p>
          <a:p>
            <a:pPr algn="ctr">
              <a:lnSpc>
                <a:spcPts val="4874"/>
              </a:lnSpc>
            </a:pPr>
            <a:r>
              <a:rPr lang="en-US" b="true" sz="4874">
                <a:solidFill>
                  <a:srgbClr val="2E2E2E"/>
                </a:solidFill>
                <a:latin typeface="Anonymous Pro Bold"/>
                <a:ea typeface="Anonymous Pro Bold"/>
                <a:cs typeface="Anonymous Pro Bold"/>
                <a:sym typeface="Anonymous Pro Bold"/>
              </a:rPr>
              <a:t>PREDICTING PERSONAL CHOICES BY THEIR INDIVIDUAL IDENTITY?  </a:t>
            </a:r>
          </a:p>
        </p:txBody>
      </p:sp>
      <p:grpSp>
        <p:nvGrpSpPr>
          <p:cNvPr name="Group 3" id="3"/>
          <p:cNvGrpSpPr/>
          <p:nvPr/>
        </p:nvGrpSpPr>
        <p:grpSpPr>
          <a:xfrm rot="0">
            <a:off x="775395" y="3497868"/>
            <a:ext cx="16286997" cy="6016395"/>
            <a:chOff x="0" y="0"/>
            <a:chExt cx="25654434" cy="9476713"/>
          </a:xfrm>
        </p:grpSpPr>
        <p:sp>
          <p:nvSpPr>
            <p:cNvPr name="Freeform 4" id="4"/>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5" id="5"/>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6" id="6"/>
          <p:cNvGrpSpPr/>
          <p:nvPr/>
        </p:nvGrpSpPr>
        <p:grpSpPr>
          <a:xfrm rot="0">
            <a:off x="775395" y="3497868"/>
            <a:ext cx="16286997" cy="908385"/>
            <a:chOff x="0" y="0"/>
            <a:chExt cx="22351963" cy="1246650"/>
          </a:xfrm>
        </p:grpSpPr>
        <p:sp>
          <p:nvSpPr>
            <p:cNvPr name="Freeform 7" id="7"/>
            <p:cNvSpPr/>
            <p:nvPr/>
          </p:nvSpPr>
          <p:spPr>
            <a:xfrm flipH="false" flipV="false" rot="0">
              <a:off x="72390" y="72390"/>
              <a:ext cx="22207183" cy="1101870"/>
            </a:xfrm>
            <a:custGeom>
              <a:avLst/>
              <a:gdLst/>
              <a:ahLst/>
              <a:cxnLst/>
              <a:rect r="r" b="b" t="t" l="l"/>
              <a:pathLst>
                <a:path h="1101870" w="22207183">
                  <a:moveTo>
                    <a:pt x="0" y="0"/>
                  </a:moveTo>
                  <a:lnTo>
                    <a:pt x="22207183" y="0"/>
                  </a:lnTo>
                  <a:lnTo>
                    <a:pt x="22207183" y="1101870"/>
                  </a:lnTo>
                  <a:lnTo>
                    <a:pt x="0" y="1101870"/>
                  </a:lnTo>
                  <a:lnTo>
                    <a:pt x="0" y="0"/>
                  </a:lnTo>
                  <a:close/>
                </a:path>
              </a:pathLst>
            </a:custGeom>
            <a:solidFill>
              <a:srgbClr val="F1DCED"/>
            </a:solidFill>
          </p:spPr>
        </p:sp>
        <p:sp>
          <p:nvSpPr>
            <p:cNvPr name="Freeform 8" id="8"/>
            <p:cNvSpPr/>
            <p:nvPr/>
          </p:nvSpPr>
          <p:spPr>
            <a:xfrm flipH="false" flipV="false" rot="0">
              <a:off x="0" y="0"/>
              <a:ext cx="22351963" cy="1246650"/>
            </a:xfrm>
            <a:custGeom>
              <a:avLst/>
              <a:gdLst/>
              <a:ahLst/>
              <a:cxnLst/>
              <a:rect r="r" b="b" t="t" l="l"/>
              <a:pathLst>
                <a:path h="1246650" w="22351963">
                  <a:moveTo>
                    <a:pt x="22207184" y="1101870"/>
                  </a:moveTo>
                  <a:lnTo>
                    <a:pt x="22351963" y="1101870"/>
                  </a:lnTo>
                  <a:lnTo>
                    <a:pt x="22351963" y="1246650"/>
                  </a:lnTo>
                  <a:lnTo>
                    <a:pt x="22207184" y="1246650"/>
                  </a:lnTo>
                  <a:lnTo>
                    <a:pt x="22207184"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22207184" y="144780"/>
                  </a:moveTo>
                  <a:lnTo>
                    <a:pt x="22351963" y="144780"/>
                  </a:lnTo>
                  <a:lnTo>
                    <a:pt x="22351963" y="1101870"/>
                  </a:lnTo>
                  <a:lnTo>
                    <a:pt x="22207184" y="1101870"/>
                  </a:lnTo>
                  <a:lnTo>
                    <a:pt x="22207184" y="144780"/>
                  </a:lnTo>
                  <a:close/>
                  <a:moveTo>
                    <a:pt x="144780" y="1101870"/>
                  </a:moveTo>
                  <a:lnTo>
                    <a:pt x="22207184" y="1101870"/>
                  </a:lnTo>
                  <a:lnTo>
                    <a:pt x="22207184" y="1246650"/>
                  </a:lnTo>
                  <a:lnTo>
                    <a:pt x="144780" y="1246650"/>
                  </a:lnTo>
                  <a:lnTo>
                    <a:pt x="144780" y="1101870"/>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9" id="9"/>
          <p:cNvSpPr txBox="true"/>
          <p:nvPr/>
        </p:nvSpPr>
        <p:spPr>
          <a:xfrm rot="0">
            <a:off x="1051736" y="4867910"/>
            <a:ext cx="15210214" cy="2781935"/>
          </a:xfrm>
          <a:prstGeom prst="rect">
            <a:avLst/>
          </a:prstGeom>
        </p:spPr>
        <p:txBody>
          <a:bodyPr anchor="t" rtlCol="false" tIns="0" lIns="0" bIns="0" rIns="0">
            <a:spAutoFit/>
          </a:bodyPr>
          <a:lstStyle/>
          <a:p>
            <a:pPr algn="ctr" marL="0" indent="0" lvl="0">
              <a:lnSpc>
                <a:spcPts val="3639"/>
              </a:lnSpc>
              <a:spcBef>
                <a:spcPct val="0"/>
              </a:spcBef>
            </a:pPr>
            <a:r>
              <a:rPr lang="en-US" sz="2599">
                <a:solidFill>
                  <a:srgbClr val="000000"/>
                </a:solidFill>
                <a:latin typeface="Times New Roman MT"/>
                <a:ea typeface="Times New Roman MT"/>
                <a:cs typeface="Times New Roman MT"/>
                <a:sym typeface="Times New Roman MT"/>
              </a:rPr>
              <a:t>The purpose of this analysis is to understand user behavior and understand assumption biases society holds about different demographics. Questions such as whether women or men are more likely to want kids in the future remain matters of debate. These are questions people bring different biases to when using dating apps. Some users might rely on their personal assumptions and presume someone wants kids based on their sex. Through logistic regression, we aim to determine whether any factors like this is actually strong predictors of wanting children, or if such assumptions are not statistically relevant.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0">
            <a:off x="2804341" y="2728881"/>
            <a:ext cx="12971078" cy="4829238"/>
          </a:xfrm>
          <a:custGeom>
            <a:avLst/>
            <a:gdLst/>
            <a:ahLst/>
            <a:cxnLst/>
            <a:rect r="r" b="b" t="t" l="l"/>
            <a:pathLst>
              <a:path h="4829238" w="12971078">
                <a:moveTo>
                  <a:pt x="0" y="0"/>
                </a:moveTo>
                <a:lnTo>
                  <a:pt x="12971078" y="0"/>
                </a:lnTo>
                <a:lnTo>
                  <a:pt x="12971078" y="4829238"/>
                </a:lnTo>
                <a:lnTo>
                  <a:pt x="0" y="4829238"/>
                </a:lnTo>
                <a:lnTo>
                  <a:pt x="0" y="0"/>
                </a:lnTo>
                <a:close/>
              </a:path>
            </a:pathLst>
          </a:custGeom>
          <a:blipFill>
            <a:blip r:embed="rId2"/>
            <a:stretch>
              <a:fillRect l="-482" t="0" r="-482" b="0"/>
            </a:stretch>
          </a:blipFill>
        </p:spPr>
      </p:sp>
      <p:sp>
        <p:nvSpPr>
          <p:cNvPr name="TextBox 3" id="3"/>
          <p:cNvSpPr txBox="true"/>
          <p:nvPr/>
        </p:nvSpPr>
        <p:spPr>
          <a:xfrm rot="0">
            <a:off x="2165591" y="1315098"/>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CLEANING AND PREPARING THE DATA</a:t>
            </a:r>
          </a:p>
        </p:txBody>
      </p:sp>
      <p:sp>
        <p:nvSpPr>
          <p:cNvPr name="TextBox 4" id="4"/>
          <p:cNvSpPr txBox="true"/>
          <p:nvPr/>
        </p:nvSpPr>
        <p:spPr>
          <a:xfrm rot="0">
            <a:off x="1174580" y="7814945"/>
            <a:ext cx="16230600" cy="2472055"/>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000000"/>
                </a:solidFill>
                <a:latin typeface="Alice"/>
                <a:ea typeface="Alice"/>
                <a:cs typeface="Alice"/>
                <a:sym typeface="Alice"/>
              </a:rPr>
              <a:t>For preparing the dataset for the prediction models, we start by mutating variable names and making dummy variables for categorizing reproduction choices. For everyone who would ever want a kid in future we assigned 1 to them. Note that, since the prediction is for future-- everyone who did not want a kid despite having a kid in present were marked 0. We will delve more into the variable in the next slides for the prediction models. </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grpSp>
        <p:nvGrpSpPr>
          <p:cNvPr name="Group 2" id="2"/>
          <p:cNvGrpSpPr/>
          <p:nvPr/>
        </p:nvGrpSpPr>
        <p:grpSpPr>
          <a:xfrm rot="0">
            <a:off x="1028700" y="1001686"/>
            <a:ext cx="5859745" cy="8283628"/>
            <a:chOff x="0" y="0"/>
            <a:chExt cx="8041802" cy="11368293"/>
          </a:xfrm>
        </p:grpSpPr>
        <p:sp>
          <p:nvSpPr>
            <p:cNvPr name="Freeform 3" id="3"/>
            <p:cNvSpPr/>
            <p:nvPr/>
          </p:nvSpPr>
          <p:spPr>
            <a:xfrm flipH="false" flipV="false" rot="0">
              <a:off x="72390" y="72390"/>
              <a:ext cx="7897022" cy="11223513"/>
            </a:xfrm>
            <a:custGeom>
              <a:avLst/>
              <a:gdLst/>
              <a:ahLst/>
              <a:cxnLst/>
              <a:rect r="r" b="b" t="t" l="l"/>
              <a:pathLst>
                <a:path h="11223513" w="7897022">
                  <a:moveTo>
                    <a:pt x="0" y="0"/>
                  </a:moveTo>
                  <a:lnTo>
                    <a:pt x="7897022" y="0"/>
                  </a:lnTo>
                  <a:lnTo>
                    <a:pt x="7897022" y="11223513"/>
                  </a:lnTo>
                  <a:lnTo>
                    <a:pt x="0" y="11223513"/>
                  </a:lnTo>
                  <a:lnTo>
                    <a:pt x="0" y="0"/>
                  </a:lnTo>
                  <a:close/>
                </a:path>
              </a:pathLst>
            </a:custGeom>
            <a:solidFill>
              <a:srgbClr val="FFFFFF"/>
            </a:solidFill>
          </p:spPr>
        </p:sp>
        <p:sp>
          <p:nvSpPr>
            <p:cNvPr name="Freeform 4" id="4"/>
            <p:cNvSpPr/>
            <p:nvPr/>
          </p:nvSpPr>
          <p:spPr>
            <a:xfrm flipH="false" flipV="false" rot="0">
              <a:off x="0" y="0"/>
              <a:ext cx="8041802" cy="11368293"/>
            </a:xfrm>
            <a:custGeom>
              <a:avLst/>
              <a:gdLst/>
              <a:ahLst/>
              <a:cxnLst/>
              <a:rect r="r" b="b" t="t" l="l"/>
              <a:pathLst>
                <a:path h="11368293" w="8041802">
                  <a:moveTo>
                    <a:pt x="7897022" y="11223513"/>
                  </a:moveTo>
                  <a:lnTo>
                    <a:pt x="8041802" y="11223513"/>
                  </a:lnTo>
                  <a:lnTo>
                    <a:pt x="8041802" y="11368293"/>
                  </a:lnTo>
                  <a:lnTo>
                    <a:pt x="7897022" y="11368293"/>
                  </a:lnTo>
                  <a:lnTo>
                    <a:pt x="7897022" y="11223513"/>
                  </a:lnTo>
                  <a:close/>
                  <a:moveTo>
                    <a:pt x="0" y="144780"/>
                  </a:moveTo>
                  <a:lnTo>
                    <a:pt x="144780" y="144780"/>
                  </a:lnTo>
                  <a:lnTo>
                    <a:pt x="144780" y="11223513"/>
                  </a:lnTo>
                  <a:lnTo>
                    <a:pt x="0" y="11223513"/>
                  </a:lnTo>
                  <a:lnTo>
                    <a:pt x="0" y="144780"/>
                  </a:lnTo>
                  <a:close/>
                  <a:moveTo>
                    <a:pt x="0" y="11223513"/>
                  </a:moveTo>
                  <a:lnTo>
                    <a:pt x="144780" y="11223513"/>
                  </a:lnTo>
                  <a:lnTo>
                    <a:pt x="144780" y="11368293"/>
                  </a:lnTo>
                  <a:lnTo>
                    <a:pt x="0" y="11368293"/>
                  </a:lnTo>
                  <a:lnTo>
                    <a:pt x="0" y="11223513"/>
                  </a:lnTo>
                  <a:close/>
                  <a:moveTo>
                    <a:pt x="7897022" y="144780"/>
                  </a:moveTo>
                  <a:lnTo>
                    <a:pt x="8041802" y="144780"/>
                  </a:lnTo>
                  <a:lnTo>
                    <a:pt x="8041802" y="11223513"/>
                  </a:lnTo>
                  <a:lnTo>
                    <a:pt x="7897022" y="11223513"/>
                  </a:lnTo>
                  <a:lnTo>
                    <a:pt x="7897022" y="144780"/>
                  </a:lnTo>
                  <a:close/>
                  <a:moveTo>
                    <a:pt x="144780" y="11223513"/>
                  </a:moveTo>
                  <a:lnTo>
                    <a:pt x="7897022" y="11223513"/>
                  </a:lnTo>
                  <a:lnTo>
                    <a:pt x="7897022" y="11368293"/>
                  </a:lnTo>
                  <a:lnTo>
                    <a:pt x="144780" y="11368293"/>
                  </a:lnTo>
                  <a:lnTo>
                    <a:pt x="144780" y="11223513"/>
                  </a:lnTo>
                  <a:close/>
                  <a:moveTo>
                    <a:pt x="7897022" y="0"/>
                  </a:moveTo>
                  <a:lnTo>
                    <a:pt x="8041802" y="0"/>
                  </a:lnTo>
                  <a:lnTo>
                    <a:pt x="8041802" y="144780"/>
                  </a:lnTo>
                  <a:lnTo>
                    <a:pt x="7897022" y="144780"/>
                  </a:lnTo>
                  <a:lnTo>
                    <a:pt x="7897022" y="0"/>
                  </a:lnTo>
                  <a:close/>
                  <a:moveTo>
                    <a:pt x="0" y="0"/>
                  </a:moveTo>
                  <a:lnTo>
                    <a:pt x="144780" y="0"/>
                  </a:lnTo>
                  <a:lnTo>
                    <a:pt x="144780" y="144780"/>
                  </a:lnTo>
                  <a:lnTo>
                    <a:pt x="0" y="144780"/>
                  </a:lnTo>
                  <a:lnTo>
                    <a:pt x="0" y="0"/>
                  </a:lnTo>
                  <a:close/>
                  <a:moveTo>
                    <a:pt x="144780" y="0"/>
                  </a:moveTo>
                  <a:lnTo>
                    <a:pt x="7897022" y="0"/>
                  </a:lnTo>
                  <a:lnTo>
                    <a:pt x="7897022" y="144780"/>
                  </a:lnTo>
                  <a:lnTo>
                    <a:pt x="144780" y="144780"/>
                  </a:lnTo>
                  <a:lnTo>
                    <a:pt x="144780" y="0"/>
                  </a:lnTo>
                  <a:close/>
                </a:path>
              </a:pathLst>
            </a:custGeom>
            <a:solidFill>
              <a:srgbClr val="2E2E2E"/>
            </a:solidFill>
          </p:spPr>
        </p:sp>
      </p:grpSp>
      <p:grpSp>
        <p:nvGrpSpPr>
          <p:cNvPr name="Group 5" id="5"/>
          <p:cNvGrpSpPr/>
          <p:nvPr/>
        </p:nvGrpSpPr>
        <p:grpSpPr>
          <a:xfrm rot="0">
            <a:off x="1028700" y="1001686"/>
            <a:ext cx="5859745" cy="908385"/>
            <a:chOff x="0" y="0"/>
            <a:chExt cx="8041802" cy="1246650"/>
          </a:xfrm>
        </p:grpSpPr>
        <p:sp>
          <p:nvSpPr>
            <p:cNvPr name="Freeform 6" id="6"/>
            <p:cNvSpPr/>
            <p:nvPr/>
          </p:nvSpPr>
          <p:spPr>
            <a:xfrm flipH="false" flipV="false" rot="0">
              <a:off x="72390" y="72390"/>
              <a:ext cx="7897022" cy="1101870"/>
            </a:xfrm>
            <a:custGeom>
              <a:avLst/>
              <a:gdLst/>
              <a:ahLst/>
              <a:cxnLst/>
              <a:rect r="r" b="b" t="t" l="l"/>
              <a:pathLst>
                <a:path h="1101870" w="7897022">
                  <a:moveTo>
                    <a:pt x="0" y="0"/>
                  </a:moveTo>
                  <a:lnTo>
                    <a:pt x="7897022" y="0"/>
                  </a:lnTo>
                  <a:lnTo>
                    <a:pt x="7897022" y="1101870"/>
                  </a:lnTo>
                  <a:lnTo>
                    <a:pt x="0" y="1101870"/>
                  </a:lnTo>
                  <a:lnTo>
                    <a:pt x="0" y="0"/>
                  </a:lnTo>
                  <a:close/>
                </a:path>
              </a:pathLst>
            </a:custGeom>
            <a:solidFill>
              <a:srgbClr val="F1DCED"/>
            </a:solidFill>
          </p:spPr>
        </p:sp>
        <p:sp>
          <p:nvSpPr>
            <p:cNvPr name="Freeform 7" id="7"/>
            <p:cNvSpPr/>
            <p:nvPr/>
          </p:nvSpPr>
          <p:spPr>
            <a:xfrm flipH="false" flipV="false" rot="0">
              <a:off x="0" y="0"/>
              <a:ext cx="8041802" cy="1246650"/>
            </a:xfrm>
            <a:custGeom>
              <a:avLst/>
              <a:gdLst/>
              <a:ahLst/>
              <a:cxnLst/>
              <a:rect r="r" b="b" t="t" l="l"/>
              <a:pathLst>
                <a:path h="1246650" w="8041802">
                  <a:moveTo>
                    <a:pt x="7897022" y="1101870"/>
                  </a:moveTo>
                  <a:lnTo>
                    <a:pt x="8041802" y="1101870"/>
                  </a:lnTo>
                  <a:lnTo>
                    <a:pt x="8041802" y="1246650"/>
                  </a:lnTo>
                  <a:lnTo>
                    <a:pt x="7897022" y="1246650"/>
                  </a:lnTo>
                  <a:lnTo>
                    <a:pt x="7897022"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7897022" y="144780"/>
                  </a:moveTo>
                  <a:lnTo>
                    <a:pt x="8041802" y="144780"/>
                  </a:lnTo>
                  <a:lnTo>
                    <a:pt x="8041802" y="1101870"/>
                  </a:lnTo>
                  <a:lnTo>
                    <a:pt x="7897022" y="1101870"/>
                  </a:lnTo>
                  <a:lnTo>
                    <a:pt x="7897022" y="144780"/>
                  </a:lnTo>
                  <a:close/>
                  <a:moveTo>
                    <a:pt x="144780" y="1101870"/>
                  </a:moveTo>
                  <a:lnTo>
                    <a:pt x="7897022" y="1101870"/>
                  </a:lnTo>
                  <a:lnTo>
                    <a:pt x="7897022" y="1246650"/>
                  </a:lnTo>
                  <a:lnTo>
                    <a:pt x="144780" y="1246650"/>
                  </a:lnTo>
                  <a:lnTo>
                    <a:pt x="144780" y="1101870"/>
                  </a:lnTo>
                  <a:close/>
                  <a:moveTo>
                    <a:pt x="7897022" y="0"/>
                  </a:moveTo>
                  <a:lnTo>
                    <a:pt x="8041802" y="0"/>
                  </a:lnTo>
                  <a:lnTo>
                    <a:pt x="8041802" y="144780"/>
                  </a:lnTo>
                  <a:lnTo>
                    <a:pt x="7897022" y="144780"/>
                  </a:lnTo>
                  <a:lnTo>
                    <a:pt x="7897022" y="0"/>
                  </a:lnTo>
                  <a:close/>
                  <a:moveTo>
                    <a:pt x="0" y="0"/>
                  </a:moveTo>
                  <a:lnTo>
                    <a:pt x="144780" y="0"/>
                  </a:lnTo>
                  <a:lnTo>
                    <a:pt x="144780" y="144780"/>
                  </a:lnTo>
                  <a:lnTo>
                    <a:pt x="0" y="144780"/>
                  </a:lnTo>
                  <a:lnTo>
                    <a:pt x="0" y="0"/>
                  </a:lnTo>
                  <a:close/>
                  <a:moveTo>
                    <a:pt x="144780" y="0"/>
                  </a:moveTo>
                  <a:lnTo>
                    <a:pt x="7897022" y="0"/>
                  </a:lnTo>
                  <a:lnTo>
                    <a:pt x="7897022" y="144780"/>
                  </a:lnTo>
                  <a:lnTo>
                    <a:pt x="144780" y="144780"/>
                  </a:lnTo>
                  <a:lnTo>
                    <a:pt x="144780" y="0"/>
                  </a:lnTo>
                  <a:close/>
                </a:path>
              </a:pathLst>
            </a:custGeom>
            <a:solidFill>
              <a:srgbClr val="2E2E2E"/>
            </a:solidFill>
          </p:spPr>
        </p:sp>
      </p:grpSp>
      <p:sp>
        <p:nvSpPr>
          <p:cNvPr name="AutoShape 8" id="8"/>
          <p:cNvSpPr/>
          <p:nvPr/>
        </p:nvSpPr>
        <p:spPr>
          <a:xfrm rot="0">
            <a:off x="2717481" y="1413370"/>
            <a:ext cx="3688462" cy="85017"/>
          </a:xfrm>
          <a:prstGeom prst="rect">
            <a:avLst/>
          </a:prstGeom>
          <a:solidFill>
            <a:srgbClr val="2E2E2E"/>
          </a:solidFill>
        </p:spPr>
      </p:sp>
      <p:grpSp>
        <p:nvGrpSpPr>
          <p:cNvPr name="Group 9" id="9"/>
          <p:cNvGrpSpPr/>
          <p:nvPr/>
        </p:nvGrpSpPr>
        <p:grpSpPr>
          <a:xfrm rot="0">
            <a:off x="1511202" y="1313003"/>
            <a:ext cx="285750" cy="285750"/>
            <a:chOff x="0" y="0"/>
            <a:chExt cx="381000" cy="381000"/>
          </a:xfrm>
        </p:grpSpPr>
        <p:grpSp>
          <p:nvGrpSpPr>
            <p:cNvPr name="Group 10" id="10"/>
            <p:cNvGrpSpPr>
              <a:grpSpLocks noChangeAspect="true"/>
            </p:cNvGrpSpPr>
            <p:nvPr/>
          </p:nvGrpSpPr>
          <p:grpSpPr>
            <a:xfrm rot="0">
              <a:off x="0" y="0"/>
              <a:ext cx="381000" cy="381000"/>
              <a:chOff x="6705600" y="1371600"/>
              <a:chExt cx="10972800" cy="10972800"/>
            </a:xfrm>
          </p:grpSpPr>
          <p:sp>
            <p:nvSpPr>
              <p:cNvPr name="Freeform 11" id="11"/>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2" id="12"/>
            <p:cNvGrpSpPr>
              <a:grpSpLocks noChangeAspect="true"/>
            </p:cNvGrpSpPr>
            <p:nvPr/>
          </p:nvGrpSpPr>
          <p:grpSpPr>
            <a:xfrm rot="0">
              <a:off x="69420" y="69420"/>
              <a:ext cx="242160" cy="24216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4" id="14"/>
          <p:cNvGrpSpPr/>
          <p:nvPr/>
        </p:nvGrpSpPr>
        <p:grpSpPr>
          <a:xfrm rot="0">
            <a:off x="1930302" y="1313003"/>
            <a:ext cx="285750" cy="285750"/>
            <a:chOff x="0" y="0"/>
            <a:chExt cx="381000" cy="381000"/>
          </a:xfrm>
        </p:grpSpPr>
        <p:grpSp>
          <p:nvGrpSpPr>
            <p:cNvPr name="Group 15" id="15"/>
            <p:cNvGrpSpPr>
              <a:grpSpLocks noChangeAspect="true"/>
            </p:cNvGrpSpPr>
            <p:nvPr/>
          </p:nvGrpSpPr>
          <p:grpSpPr>
            <a:xfrm rot="0">
              <a:off x="0" y="0"/>
              <a:ext cx="381000" cy="381000"/>
              <a:chOff x="6705600" y="1371600"/>
              <a:chExt cx="10972800" cy="10972800"/>
            </a:xfrm>
          </p:grpSpPr>
          <p:sp>
            <p:nvSpPr>
              <p:cNvPr name="Freeform 16" id="16"/>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7" id="17"/>
            <p:cNvGrpSpPr>
              <a:grpSpLocks noChangeAspect="true"/>
            </p:cNvGrpSpPr>
            <p:nvPr/>
          </p:nvGrpSpPr>
          <p:grpSpPr>
            <a:xfrm rot="0">
              <a:off x="69420" y="69420"/>
              <a:ext cx="242160" cy="24216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FFFFF"/>
              </a:solidFill>
            </p:spPr>
          </p:sp>
        </p:grpSp>
      </p:grpSp>
      <p:grpSp>
        <p:nvGrpSpPr>
          <p:cNvPr name="Group 19" id="19"/>
          <p:cNvGrpSpPr/>
          <p:nvPr/>
        </p:nvGrpSpPr>
        <p:grpSpPr>
          <a:xfrm rot="0">
            <a:off x="9144000" y="2810048"/>
            <a:ext cx="6921084" cy="4348523"/>
            <a:chOff x="0" y="0"/>
            <a:chExt cx="9228112" cy="5798031"/>
          </a:xfrm>
        </p:grpSpPr>
        <p:sp>
          <p:nvSpPr>
            <p:cNvPr name="TextBox 20" id="20"/>
            <p:cNvSpPr txBox="true"/>
            <p:nvPr/>
          </p:nvSpPr>
          <p:spPr>
            <a:xfrm rot="0">
              <a:off x="0" y="95250"/>
              <a:ext cx="9228112" cy="4152076"/>
            </a:xfrm>
            <a:prstGeom prst="rect">
              <a:avLst/>
            </a:prstGeom>
          </p:spPr>
          <p:txBody>
            <a:bodyPr anchor="t" rtlCol="false" tIns="0" lIns="0" bIns="0" rIns="0">
              <a:spAutoFit/>
            </a:bodyPr>
            <a:lstStyle/>
            <a:p>
              <a:pPr algn="l">
                <a:lnSpc>
                  <a:spcPts val="5972"/>
                </a:lnSpc>
              </a:pPr>
              <a:r>
                <a:rPr lang="en-US" sz="5972" b="true">
                  <a:solidFill>
                    <a:srgbClr val="2E2E2E"/>
                  </a:solidFill>
                  <a:latin typeface="Anonymous Pro Bold"/>
                  <a:ea typeface="Anonymous Pro Bold"/>
                  <a:cs typeface="Anonymous Pro Bold"/>
                  <a:sym typeface="Anonymous Pro Bold"/>
                </a:rPr>
                <a:t>CAN SEX PREDICT WHETHER SOMEONE WANTS/HAS/WILL CONSIDER KIDS?</a:t>
              </a:r>
            </a:p>
          </p:txBody>
        </p:sp>
        <p:sp>
          <p:nvSpPr>
            <p:cNvPr name="TextBox 21" id="21"/>
            <p:cNvSpPr txBox="true"/>
            <p:nvPr/>
          </p:nvSpPr>
          <p:spPr>
            <a:xfrm rot="0">
              <a:off x="647210" y="5312623"/>
              <a:ext cx="7662838" cy="485408"/>
            </a:xfrm>
            <a:prstGeom prst="rect">
              <a:avLst/>
            </a:prstGeom>
          </p:spPr>
          <p:txBody>
            <a:bodyPr anchor="t" rtlCol="false" tIns="0" lIns="0" bIns="0" rIns="0">
              <a:spAutoFit/>
            </a:bodyPr>
            <a:lstStyle/>
            <a:p>
              <a:pPr algn="l">
                <a:lnSpc>
                  <a:spcPts val="2866"/>
                </a:lnSpc>
              </a:pPr>
            </a:p>
          </p:txBody>
        </p:sp>
      </p:grpSp>
      <p:sp>
        <p:nvSpPr>
          <p:cNvPr name="TextBox 22" id="22"/>
          <p:cNvSpPr txBox="true"/>
          <p:nvPr/>
        </p:nvSpPr>
        <p:spPr>
          <a:xfrm rot="0">
            <a:off x="1796952" y="3429581"/>
            <a:ext cx="5091493" cy="1727200"/>
          </a:xfrm>
          <a:prstGeom prst="rect">
            <a:avLst/>
          </a:prstGeom>
        </p:spPr>
        <p:txBody>
          <a:bodyPr anchor="t" rtlCol="false" tIns="0" lIns="0" bIns="0" rIns="0">
            <a:spAutoFit/>
          </a:bodyPr>
          <a:lstStyle/>
          <a:p>
            <a:pPr algn="l">
              <a:lnSpc>
                <a:spcPts val="3499"/>
              </a:lnSpc>
            </a:pPr>
            <a:r>
              <a:rPr lang="en-US" sz="2499" b="true">
                <a:solidFill>
                  <a:srgbClr val="022D66"/>
                </a:solidFill>
                <a:latin typeface="Lora Bold"/>
                <a:ea typeface="Lora Bold"/>
                <a:cs typeface="Lora Bold"/>
                <a:sym typeface="Lora Bold"/>
              </a:rPr>
              <a:t>Predictor Variable : Sex</a:t>
            </a:r>
          </a:p>
          <a:p>
            <a:pPr algn="l">
              <a:lnSpc>
                <a:spcPts val="3499"/>
              </a:lnSpc>
            </a:pPr>
            <a:r>
              <a:rPr lang="en-US" sz="2499" b="true">
                <a:solidFill>
                  <a:srgbClr val="022D66"/>
                </a:solidFill>
                <a:latin typeface="Lora Bold"/>
                <a:ea typeface="Lora Bold"/>
                <a:cs typeface="Lora Bold"/>
                <a:sym typeface="Lora Bold"/>
              </a:rPr>
              <a:t>M = 1</a:t>
            </a:r>
          </a:p>
          <a:p>
            <a:pPr algn="l">
              <a:lnSpc>
                <a:spcPts val="3499"/>
              </a:lnSpc>
            </a:pPr>
            <a:r>
              <a:rPr lang="en-US" sz="2499" b="true">
                <a:solidFill>
                  <a:srgbClr val="022D66"/>
                </a:solidFill>
                <a:latin typeface="Lora Bold"/>
                <a:ea typeface="Lora Bold"/>
                <a:cs typeface="Lora Bold"/>
                <a:sym typeface="Lora Bold"/>
              </a:rPr>
              <a:t>F = 0 </a:t>
            </a:r>
          </a:p>
          <a:p>
            <a:pPr algn="l">
              <a:lnSpc>
                <a:spcPts val="3499"/>
              </a:lnSpc>
              <a:spcBef>
                <a:spcPct val="0"/>
              </a:spcBef>
            </a:pPr>
          </a:p>
        </p:txBody>
      </p:sp>
      <p:sp>
        <p:nvSpPr>
          <p:cNvPr name="TextBox 23" id="23"/>
          <p:cNvSpPr txBox="true"/>
          <p:nvPr/>
        </p:nvSpPr>
        <p:spPr>
          <a:xfrm rot="0">
            <a:off x="1751890" y="5478267"/>
            <a:ext cx="4413365" cy="2622550"/>
          </a:xfrm>
          <a:prstGeom prst="rect">
            <a:avLst/>
          </a:prstGeom>
        </p:spPr>
        <p:txBody>
          <a:bodyPr anchor="t" rtlCol="false" tIns="0" lIns="0" bIns="0" rIns="0">
            <a:spAutoFit/>
          </a:bodyPr>
          <a:lstStyle/>
          <a:p>
            <a:pPr algn="l">
              <a:lnSpc>
                <a:spcPts val="3499"/>
              </a:lnSpc>
            </a:pPr>
            <a:r>
              <a:rPr lang="en-US" sz="2499">
                <a:solidFill>
                  <a:srgbClr val="022D66"/>
                </a:solidFill>
                <a:latin typeface="Alice Bold"/>
                <a:ea typeface="Alice Bold"/>
                <a:cs typeface="Alice Bold"/>
                <a:sym typeface="Alice Bold"/>
              </a:rPr>
              <a:t>Outcome Variable : Do they want kids?</a:t>
            </a:r>
          </a:p>
          <a:p>
            <a:pPr algn="l">
              <a:lnSpc>
                <a:spcPts val="3499"/>
              </a:lnSpc>
            </a:pPr>
          </a:p>
          <a:p>
            <a:pPr algn="l">
              <a:lnSpc>
                <a:spcPts val="3499"/>
              </a:lnSpc>
            </a:pPr>
            <a:r>
              <a:rPr lang="en-US" sz="2499">
                <a:solidFill>
                  <a:srgbClr val="022D66"/>
                </a:solidFill>
                <a:latin typeface="Alice Bold"/>
                <a:ea typeface="Alice Bold"/>
                <a:cs typeface="Alice Bold"/>
                <a:sym typeface="Alice Bold"/>
              </a:rPr>
              <a:t>Yes = 1</a:t>
            </a:r>
          </a:p>
          <a:p>
            <a:pPr algn="l">
              <a:lnSpc>
                <a:spcPts val="3499"/>
              </a:lnSpc>
            </a:pPr>
            <a:r>
              <a:rPr lang="en-US" sz="2499">
                <a:solidFill>
                  <a:srgbClr val="022D66"/>
                </a:solidFill>
                <a:latin typeface="Alice Bold"/>
                <a:ea typeface="Alice Bold"/>
                <a:cs typeface="Alice Bold"/>
                <a:sym typeface="Alice Bold"/>
              </a:rPr>
              <a:t>No = 0 </a:t>
            </a:r>
          </a:p>
          <a:p>
            <a:pPr algn="l">
              <a:lnSpc>
                <a:spcPts val="349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91214" y="3843697"/>
            <a:ext cx="6863129" cy="3920562"/>
          </a:xfrm>
          <a:custGeom>
            <a:avLst/>
            <a:gdLst/>
            <a:ahLst/>
            <a:cxnLst/>
            <a:rect r="r" b="b" t="t" l="l"/>
            <a:pathLst>
              <a:path h="3920562" w="6863129">
                <a:moveTo>
                  <a:pt x="0" y="0"/>
                </a:moveTo>
                <a:lnTo>
                  <a:pt x="6863129" y="0"/>
                </a:lnTo>
                <a:lnTo>
                  <a:pt x="6863129" y="3920562"/>
                </a:lnTo>
                <a:lnTo>
                  <a:pt x="0" y="3920562"/>
                </a:lnTo>
                <a:lnTo>
                  <a:pt x="0" y="0"/>
                </a:lnTo>
                <a:close/>
              </a:path>
            </a:pathLst>
          </a:custGeom>
          <a:blipFill>
            <a:blip r:embed="rId2"/>
            <a:stretch>
              <a:fillRect l="0" t="0" r="0" b="0"/>
            </a:stretch>
          </a:blipFill>
        </p:spPr>
      </p:sp>
      <p:sp>
        <p:nvSpPr>
          <p:cNvPr name="TextBox 3" id="3"/>
          <p:cNvSpPr txBox="true"/>
          <p:nvPr/>
        </p:nvSpPr>
        <p:spPr>
          <a:xfrm rot="0">
            <a:off x="416458" y="1533628"/>
            <a:ext cx="17455085" cy="2519529"/>
          </a:xfrm>
          <a:prstGeom prst="rect">
            <a:avLst/>
          </a:prstGeom>
        </p:spPr>
        <p:txBody>
          <a:bodyPr anchor="t" rtlCol="false" tIns="0" lIns="0" bIns="0" rIns="0">
            <a:spAutoFit/>
          </a:bodyPr>
          <a:lstStyle/>
          <a:p>
            <a:pPr algn="ctr">
              <a:lnSpc>
                <a:spcPts val="3928"/>
              </a:lnSpc>
            </a:pPr>
            <a:r>
              <a:rPr lang="en-US" sz="2805">
                <a:solidFill>
                  <a:srgbClr val="000000"/>
                </a:solidFill>
                <a:latin typeface="Times New Roman MT"/>
                <a:ea typeface="Times New Roman MT"/>
                <a:cs typeface="Times New Roman MT"/>
                <a:sym typeface="Times New Roman MT"/>
              </a:rPr>
              <a:t>We will fit a logistical regression model to see if there is any relationship between sex and wanting to be a parent.</a:t>
            </a:r>
          </a:p>
          <a:p>
            <a:pPr algn="ctr">
              <a:lnSpc>
                <a:spcPts val="3928"/>
              </a:lnSpc>
            </a:pPr>
          </a:p>
          <a:p>
            <a:pPr algn="ctr">
              <a:lnSpc>
                <a:spcPts val="3928"/>
              </a:lnSpc>
            </a:pPr>
            <a:r>
              <a:rPr lang="en-US" sz="2805" b="true">
                <a:solidFill>
                  <a:srgbClr val="000000"/>
                </a:solidFill>
                <a:latin typeface="Times New Roman MT Bold"/>
                <a:ea typeface="Times New Roman MT Bold"/>
                <a:cs typeface="Times New Roman MT Bold"/>
                <a:sym typeface="Times New Roman MT Bold"/>
              </a:rPr>
              <a:t>Null Hypothesis : Sex does not significantly predict whether users want, or will consider having children. </a:t>
            </a:r>
          </a:p>
          <a:p>
            <a:pPr algn="ctr">
              <a:lnSpc>
                <a:spcPts val="3928"/>
              </a:lnSpc>
            </a:pPr>
            <a:r>
              <a:rPr lang="en-US" sz="2805" b="true">
                <a:solidFill>
                  <a:srgbClr val="000000"/>
                </a:solidFill>
                <a:latin typeface="Times New Roman MT Bold"/>
                <a:ea typeface="Times New Roman MT Bold"/>
                <a:cs typeface="Times New Roman MT Bold"/>
                <a:sym typeface="Times New Roman MT Bold"/>
              </a:rPr>
              <a:t>Alternative Hypothesis: Sex significantly predicts whether users want, or will consider having children.</a:t>
            </a:r>
          </a:p>
          <a:p>
            <a:pPr algn="ctr" marL="0" indent="0" lvl="0">
              <a:lnSpc>
                <a:spcPts val="3928"/>
              </a:lnSpc>
              <a:spcBef>
                <a:spcPct val="0"/>
              </a:spcBef>
            </a:pPr>
          </a:p>
        </p:txBody>
      </p:sp>
      <p:sp>
        <p:nvSpPr>
          <p:cNvPr name="TextBox 4" id="4"/>
          <p:cNvSpPr txBox="true"/>
          <p:nvPr/>
        </p:nvSpPr>
        <p:spPr>
          <a:xfrm rot="0">
            <a:off x="2165591" y="599731"/>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FITTING THE MODEL</a:t>
            </a:r>
          </a:p>
        </p:txBody>
      </p:sp>
      <p:sp>
        <p:nvSpPr>
          <p:cNvPr name="Freeform 5" id="5"/>
          <p:cNvSpPr/>
          <p:nvPr/>
        </p:nvSpPr>
        <p:spPr>
          <a:xfrm flipH="false" flipV="false" rot="0">
            <a:off x="-999970" y="7764259"/>
            <a:ext cx="20287941" cy="8229600"/>
          </a:xfrm>
          <a:custGeom>
            <a:avLst/>
            <a:gdLst/>
            <a:ahLst/>
            <a:cxnLst/>
            <a:rect r="r" b="b" t="t" l="l"/>
            <a:pathLst>
              <a:path h="8229600" w="20287941">
                <a:moveTo>
                  <a:pt x="0" y="0"/>
                </a:moveTo>
                <a:lnTo>
                  <a:pt x="20287940" y="0"/>
                </a:lnTo>
                <a:lnTo>
                  <a:pt x="20287940" y="8229600"/>
                </a:lnTo>
                <a:lnTo>
                  <a:pt x="0" y="8229600"/>
                </a:lnTo>
                <a:lnTo>
                  <a:pt x="0" y="0"/>
                </a:lnTo>
                <a:close/>
              </a:path>
            </a:pathLst>
          </a:custGeom>
          <a:blipFill>
            <a:blip r:embed="rId3"/>
            <a:stretch>
              <a:fillRect l="0" t="-48609" r="0" b="-48609"/>
            </a:stretch>
          </a:blipFill>
        </p:spPr>
      </p:sp>
      <p:sp>
        <p:nvSpPr>
          <p:cNvPr name="TextBox 6" id="6"/>
          <p:cNvSpPr txBox="true"/>
          <p:nvPr/>
        </p:nvSpPr>
        <p:spPr>
          <a:xfrm rot="0">
            <a:off x="642781" y="8056965"/>
            <a:ext cx="17002438" cy="1935144"/>
          </a:xfrm>
          <a:prstGeom prst="rect">
            <a:avLst/>
          </a:prstGeom>
        </p:spPr>
        <p:txBody>
          <a:bodyPr anchor="t" rtlCol="false" tIns="0" lIns="0" bIns="0" rIns="0">
            <a:spAutoFit/>
          </a:bodyPr>
          <a:lstStyle/>
          <a:p>
            <a:pPr algn="l" marL="0" indent="0" lvl="0">
              <a:lnSpc>
                <a:spcPts val="3063"/>
              </a:lnSpc>
              <a:spcBef>
                <a:spcPct val="0"/>
              </a:spcBef>
            </a:pPr>
            <a:r>
              <a:rPr lang="en-US" sz="2188">
                <a:solidFill>
                  <a:srgbClr val="000000"/>
                </a:solidFill>
                <a:latin typeface="Times New Roman MT"/>
                <a:ea typeface="Times New Roman MT"/>
                <a:cs typeface="Times New Roman MT"/>
                <a:sym typeface="Times New Roman MT"/>
              </a:rPr>
              <a:t>Taking sex as the predictor variable and willingness to want/consider kids as the outcome variable - we fitted the logistial regression model where both of these variables are binary variable. With 95% confidence interval with the significance level of 0.05 – the p-value is less than 0.05. So it is statistically significant. However, statistical significance alone does not indicate predictive accuracy. To assess the model's ability to correctly classify users who want children, we calculated the AUC. The AUC will provide us a measure of how well sex can distinguish between users who want children and those who do not.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6896" y="1536648"/>
            <a:ext cx="7203656" cy="7213703"/>
          </a:xfrm>
          <a:custGeom>
            <a:avLst/>
            <a:gdLst/>
            <a:ahLst/>
            <a:cxnLst/>
            <a:rect r="r" b="b" t="t" l="l"/>
            <a:pathLst>
              <a:path h="7213703" w="7203656">
                <a:moveTo>
                  <a:pt x="0" y="0"/>
                </a:moveTo>
                <a:lnTo>
                  <a:pt x="7203656" y="0"/>
                </a:lnTo>
                <a:lnTo>
                  <a:pt x="7203656" y="7213704"/>
                </a:lnTo>
                <a:lnTo>
                  <a:pt x="0" y="7213704"/>
                </a:lnTo>
                <a:lnTo>
                  <a:pt x="0" y="0"/>
                </a:lnTo>
                <a:close/>
              </a:path>
            </a:pathLst>
          </a:custGeom>
          <a:blipFill>
            <a:blip r:embed="rId2"/>
            <a:stretch>
              <a:fillRect l="0" t="0" r="0" b="0"/>
            </a:stretch>
          </a:blipFill>
        </p:spPr>
      </p:sp>
      <p:sp>
        <p:nvSpPr>
          <p:cNvPr name="Freeform 3" id="3"/>
          <p:cNvSpPr/>
          <p:nvPr/>
        </p:nvSpPr>
        <p:spPr>
          <a:xfrm flipH="false" flipV="false" rot="0">
            <a:off x="9210499" y="0"/>
            <a:ext cx="16097602" cy="10287000"/>
          </a:xfrm>
          <a:custGeom>
            <a:avLst/>
            <a:gdLst/>
            <a:ahLst/>
            <a:cxnLst/>
            <a:rect r="r" b="b" t="t" l="l"/>
            <a:pathLst>
              <a:path h="10287000" w="16097602">
                <a:moveTo>
                  <a:pt x="0" y="0"/>
                </a:moveTo>
                <a:lnTo>
                  <a:pt x="16097602" y="0"/>
                </a:lnTo>
                <a:lnTo>
                  <a:pt x="16097602" y="10287000"/>
                </a:lnTo>
                <a:lnTo>
                  <a:pt x="0" y="10287000"/>
                </a:lnTo>
                <a:lnTo>
                  <a:pt x="0" y="0"/>
                </a:lnTo>
                <a:close/>
              </a:path>
            </a:pathLst>
          </a:custGeom>
          <a:blipFill>
            <a:blip r:embed="rId3"/>
            <a:stretch>
              <a:fillRect l="-25016" t="-17930" r="0" b="-38574"/>
            </a:stretch>
          </a:blipFill>
        </p:spPr>
      </p:sp>
      <p:sp>
        <p:nvSpPr>
          <p:cNvPr name="TextBox 4" id="4"/>
          <p:cNvSpPr txBox="true"/>
          <p:nvPr/>
        </p:nvSpPr>
        <p:spPr>
          <a:xfrm rot="0">
            <a:off x="10478408" y="2418035"/>
            <a:ext cx="6187096" cy="5365205"/>
          </a:xfrm>
          <a:prstGeom prst="rect">
            <a:avLst/>
          </a:prstGeom>
        </p:spPr>
        <p:txBody>
          <a:bodyPr anchor="t" rtlCol="false" tIns="0" lIns="0" bIns="0" rIns="0">
            <a:spAutoFit/>
          </a:bodyPr>
          <a:lstStyle/>
          <a:p>
            <a:pPr algn="l">
              <a:lnSpc>
                <a:spcPts val="3005"/>
              </a:lnSpc>
            </a:pPr>
            <a:r>
              <a:rPr lang="en-US" sz="2146">
                <a:solidFill>
                  <a:srgbClr val="000000"/>
                </a:solidFill>
                <a:latin typeface="Times New Roman MT"/>
                <a:ea typeface="Times New Roman MT"/>
                <a:cs typeface="Times New Roman MT"/>
                <a:sym typeface="Times New Roman MT"/>
              </a:rPr>
              <a:t>This figure tells us that the AUC of this prediction model is 0.5478 which is slightly over the baseline of 0.5. </a:t>
            </a:r>
          </a:p>
          <a:p>
            <a:pPr algn="l">
              <a:lnSpc>
                <a:spcPts val="3005"/>
              </a:lnSpc>
            </a:pPr>
          </a:p>
          <a:p>
            <a:pPr algn="l">
              <a:lnSpc>
                <a:spcPts val="3005"/>
              </a:lnSpc>
            </a:pPr>
            <a:r>
              <a:rPr lang="en-US" sz="2146">
                <a:solidFill>
                  <a:srgbClr val="000000"/>
                </a:solidFill>
                <a:latin typeface="Times New Roman MT"/>
                <a:ea typeface="Times New Roman MT"/>
                <a:cs typeface="Times New Roman MT"/>
                <a:sym typeface="Times New Roman MT"/>
              </a:rPr>
              <a:t>So this model has really weak predictve power when it comes to distinguishing if it is male or female when it comes to wanting/considering kids. </a:t>
            </a:r>
          </a:p>
          <a:p>
            <a:pPr algn="l">
              <a:lnSpc>
                <a:spcPts val="3005"/>
              </a:lnSpc>
            </a:pPr>
          </a:p>
          <a:p>
            <a:pPr algn="l">
              <a:lnSpc>
                <a:spcPts val="3005"/>
              </a:lnSpc>
            </a:pPr>
            <a:r>
              <a:rPr lang="en-US" sz="2146">
                <a:solidFill>
                  <a:srgbClr val="000000"/>
                </a:solidFill>
                <a:latin typeface="Times New Roman MT"/>
                <a:ea typeface="Times New Roman MT"/>
                <a:cs typeface="Times New Roman MT"/>
                <a:sym typeface="Times New Roman MT"/>
              </a:rPr>
              <a:t>But why is that? Because of the effect size being small, less data on female demographic – might be a factor for this. Hence sex alone cannot predict if someone wants/considers kids. </a:t>
            </a:r>
          </a:p>
          <a:p>
            <a:pPr algn="l">
              <a:lnSpc>
                <a:spcPts val="3005"/>
              </a:lnSpc>
            </a:pPr>
          </a:p>
          <a:p>
            <a:pPr algn="l" marL="0" indent="0" lvl="0">
              <a:lnSpc>
                <a:spcPts val="3005"/>
              </a:lnSpc>
              <a:spcBef>
                <a:spcPct val="0"/>
              </a:spcBef>
            </a:pPr>
            <a:r>
              <a:rPr lang="en-US" sz="2146">
                <a:solidFill>
                  <a:srgbClr val="000000"/>
                </a:solidFill>
                <a:latin typeface="Times New Roman MT"/>
                <a:ea typeface="Times New Roman MT"/>
                <a:cs typeface="Times New Roman MT"/>
                <a:sym typeface="Times New Roman MT"/>
              </a:rPr>
              <a:t> </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2305132" y="1217985"/>
            <a:ext cx="13956819" cy="12668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SO WHAT CAN WE SAY ABOUT PREDICTING PARENTAL CHOICE? </a:t>
            </a:r>
          </a:p>
        </p:txBody>
      </p:sp>
      <p:grpSp>
        <p:nvGrpSpPr>
          <p:cNvPr name="Group 3" id="3"/>
          <p:cNvGrpSpPr/>
          <p:nvPr/>
        </p:nvGrpSpPr>
        <p:grpSpPr>
          <a:xfrm rot="0">
            <a:off x="775395" y="3497868"/>
            <a:ext cx="16286997" cy="6016395"/>
            <a:chOff x="0" y="0"/>
            <a:chExt cx="25654434" cy="9476713"/>
          </a:xfrm>
        </p:grpSpPr>
        <p:sp>
          <p:nvSpPr>
            <p:cNvPr name="Freeform 4" id="4"/>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5" id="5"/>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6" id="6"/>
          <p:cNvGrpSpPr/>
          <p:nvPr/>
        </p:nvGrpSpPr>
        <p:grpSpPr>
          <a:xfrm rot="0">
            <a:off x="775395" y="3497868"/>
            <a:ext cx="16286997" cy="908385"/>
            <a:chOff x="0" y="0"/>
            <a:chExt cx="22351963" cy="1246650"/>
          </a:xfrm>
        </p:grpSpPr>
        <p:sp>
          <p:nvSpPr>
            <p:cNvPr name="Freeform 7" id="7"/>
            <p:cNvSpPr/>
            <p:nvPr/>
          </p:nvSpPr>
          <p:spPr>
            <a:xfrm flipH="false" flipV="false" rot="0">
              <a:off x="72390" y="72390"/>
              <a:ext cx="22207183" cy="1101870"/>
            </a:xfrm>
            <a:custGeom>
              <a:avLst/>
              <a:gdLst/>
              <a:ahLst/>
              <a:cxnLst/>
              <a:rect r="r" b="b" t="t" l="l"/>
              <a:pathLst>
                <a:path h="1101870" w="22207183">
                  <a:moveTo>
                    <a:pt x="0" y="0"/>
                  </a:moveTo>
                  <a:lnTo>
                    <a:pt x="22207183" y="0"/>
                  </a:lnTo>
                  <a:lnTo>
                    <a:pt x="22207183" y="1101870"/>
                  </a:lnTo>
                  <a:lnTo>
                    <a:pt x="0" y="1101870"/>
                  </a:lnTo>
                  <a:lnTo>
                    <a:pt x="0" y="0"/>
                  </a:lnTo>
                  <a:close/>
                </a:path>
              </a:pathLst>
            </a:custGeom>
            <a:solidFill>
              <a:srgbClr val="F1DCED"/>
            </a:solidFill>
          </p:spPr>
        </p:sp>
        <p:sp>
          <p:nvSpPr>
            <p:cNvPr name="Freeform 8" id="8"/>
            <p:cNvSpPr/>
            <p:nvPr/>
          </p:nvSpPr>
          <p:spPr>
            <a:xfrm flipH="false" flipV="false" rot="0">
              <a:off x="0" y="0"/>
              <a:ext cx="22351963" cy="1246650"/>
            </a:xfrm>
            <a:custGeom>
              <a:avLst/>
              <a:gdLst/>
              <a:ahLst/>
              <a:cxnLst/>
              <a:rect r="r" b="b" t="t" l="l"/>
              <a:pathLst>
                <a:path h="1246650" w="22351963">
                  <a:moveTo>
                    <a:pt x="22207184" y="1101870"/>
                  </a:moveTo>
                  <a:lnTo>
                    <a:pt x="22351963" y="1101870"/>
                  </a:lnTo>
                  <a:lnTo>
                    <a:pt x="22351963" y="1246650"/>
                  </a:lnTo>
                  <a:lnTo>
                    <a:pt x="22207184" y="1246650"/>
                  </a:lnTo>
                  <a:lnTo>
                    <a:pt x="22207184"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22207184" y="144780"/>
                  </a:moveTo>
                  <a:lnTo>
                    <a:pt x="22351963" y="144780"/>
                  </a:lnTo>
                  <a:lnTo>
                    <a:pt x="22351963" y="1101870"/>
                  </a:lnTo>
                  <a:lnTo>
                    <a:pt x="22207184" y="1101870"/>
                  </a:lnTo>
                  <a:lnTo>
                    <a:pt x="22207184" y="144780"/>
                  </a:lnTo>
                  <a:close/>
                  <a:moveTo>
                    <a:pt x="144780" y="1101870"/>
                  </a:moveTo>
                  <a:lnTo>
                    <a:pt x="22207184" y="1101870"/>
                  </a:lnTo>
                  <a:lnTo>
                    <a:pt x="22207184" y="1246650"/>
                  </a:lnTo>
                  <a:lnTo>
                    <a:pt x="144780" y="1246650"/>
                  </a:lnTo>
                  <a:lnTo>
                    <a:pt x="144780" y="1101870"/>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9" id="9"/>
          <p:cNvSpPr txBox="true"/>
          <p:nvPr/>
        </p:nvSpPr>
        <p:spPr>
          <a:xfrm rot="0">
            <a:off x="2152509" y="4748258"/>
            <a:ext cx="13532769" cy="4320203"/>
          </a:xfrm>
          <a:prstGeom prst="rect">
            <a:avLst/>
          </a:prstGeom>
        </p:spPr>
        <p:txBody>
          <a:bodyPr anchor="t" rtlCol="false" tIns="0" lIns="0" bIns="0" rIns="0">
            <a:spAutoFit/>
          </a:bodyPr>
          <a:lstStyle/>
          <a:p>
            <a:pPr algn="l">
              <a:lnSpc>
                <a:spcPts val="3378"/>
              </a:lnSpc>
            </a:pPr>
            <a:r>
              <a:rPr lang="en-US" sz="2413">
                <a:solidFill>
                  <a:srgbClr val="000000"/>
                </a:solidFill>
                <a:latin typeface="Times New Roman MT"/>
                <a:ea typeface="Times New Roman MT"/>
                <a:cs typeface="Times New Roman MT"/>
                <a:sym typeface="Times New Roman MT"/>
              </a:rPr>
              <a:t>We can see that sex is a weak predictor when it comes to predicting if they want/consider kids even</a:t>
            </a:r>
          </a:p>
          <a:p>
            <a:pPr algn="l">
              <a:lnSpc>
                <a:spcPts val="3378"/>
              </a:lnSpc>
            </a:pPr>
            <a:r>
              <a:rPr lang="en-US" sz="2413">
                <a:solidFill>
                  <a:srgbClr val="000000"/>
                </a:solidFill>
                <a:latin typeface="Times New Roman MT"/>
                <a:ea typeface="Times New Roman MT"/>
                <a:cs typeface="Times New Roman MT"/>
                <a:sym typeface="Times New Roman MT"/>
              </a:rPr>
              <a:t>though the results come out as statistically significant. </a:t>
            </a:r>
          </a:p>
          <a:p>
            <a:pPr algn="l">
              <a:lnSpc>
                <a:spcPts val="3378"/>
              </a:lnSpc>
            </a:pPr>
          </a:p>
          <a:p>
            <a:pPr algn="l" marL="0" indent="0" lvl="0">
              <a:lnSpc>
                <a:spcPts val="3378"/>
              </a:lnSpc>
              <a:spcBef>
                <a:spcPct val="0"/>
              </a:spcBef>
            </a:pPr>
            <a:r>
              <a:rPr lang="en-US" sz="2413">
                <a:solidFill>
                  <a:srgbClr val="000000"/>
                </a:solidFill>
                <a:latin typeface="Times New Roman MT"/>
                <a:ea typeface="Times New Roman MT"/>
                <a:cs typeface="Times New Roman MT"/>
                <a:sym typeface="Times New Roman MT"/>
              </a:rPr>
              <a:t>Societal assumptions that women are "naturally" inclined to want children have significantly shaped perceptions and expectations. However, this model demonstrates that we cannot reliably predict someone's desire for children based solely on their sex. This finding challenges common stereotypes and highlights the danger of making assumptions about individuals based on demographic. On dating platforms, where users may unconsciously filter potential matches based on such assumptions, these results underscore the importance of considering individual preferences rather than relying on sterotypical expectations.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50427" y="1689676"/>
            <a:ext cx="6433611" cy="7731016"/>
            <a:chOff x="0" y="0"/>
            <a:chExt cx="8829365" cy="10609899"/>
          </a:xfrm>
        </p:grpSpPr>
        <p:sp>
          <p:nvSpPr>
            <p:cNvPr name="Freeform 4" id="4"/>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5" id="5"/>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6" id="6"/>
          <p:cNvGrpSpPr/>
          <p:nvPr/>
        </p:nvGrpSpPr>
        <p:grpSpPr>
          <a:xfrm rot="0">
            <a:off x="6150427" y="1732184"/>
            <a:ext cx="6433611" cy="908385"/>
            <a:chOff x="0" y="0"/>
            <a:chExt cx="8829365" cy="1246650"/>
          </a:xfrm>
        </p:grpSpPr>
        <p:sp>
          <p:nvSpPr>
            <p:cNvPr name="Freeform 7" id="7"/>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8" id="8"/>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9" id="9"/>
          <p:cNvSpPr/>
          <p:nvPr/>
        </p:nvSpPr>
        <p:spPr>
          <a:xfrm rot="0">
            <a:off x="6991582" y="2101359"/>
            <a:ext cx="4304837" cy="85017"/>
          </a:xfrm>
          <a:prstGeom prst="rect">
            <a:avLst/>
          </a:prstGeom>
          <a:solidFill>
            <a:srgbClr val="2E2E2E"/>
          </a:solidFill>
        </p:spPr>
      </p:sp>
      <p:grpSp>
        <p:nvGrpSpPr>
          <p:cNvPr name="Group 10" id="10"/>
          <p:cNvGrpSpPr>
            <a:grpSpLocks noChangeAspect="true"/>
          </p:cNvGrpSpPr>
          <p:nvPr/>
        </p:nvGrpSpPr>
        <p:grpSpPr>
          <a:xfrm rot="0">
            <a:off x="11153543" y="2000993"/>
            <a:ext cx="285750" cy="285750"/>
            <a:chOff x="6705600" y="1371600"/>
            <a:chExt cx="10972800" cy="10972800"/>
          </a:xfrm>
        </p:grpSpPr>
        <p:sp>
          <p:nvSpPr>
            <p:cNvPr name="Freeform 11" id="11"/>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2" id="12"/>
          <p:cNvGrpSpPr>
            <a:grpSpLocks noChangeAspect="true"/>
          </p:cNvGrpSpPr>
          <p:nvPr/>
        </p:nvGrpSpPr>
        <p:grpSpPr>
          <a:xfrm rot="0">
            <a:off x="6705832" y="1958484"/>
            <a:ext cx="285750" cy="28575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p:nvPr/>
        </p:nvGrpSpPr>
        <p:grpSpPr>
          <a:xfrm rot="0">
            <a:off x="6991582" y="4383908"/>
            <a:ext cx="5139781" cy="2019419"/>
            <a:chOff x="0" y="0"/>
            <a:chExt cx="6853042" cy="2692558"/>
          </a:xfrm>
        </p:grpSpPr>
        <p:sp>
          <p:nvSpPr>
            <p:cNvPr name="TextBox 15" id="15"/>
            <p:cNvSpPr txBox="true"/>
            <p:nvPr/>
          </p:nvSpPr>
          <p:spPr>
            <a:xfrm rot="0">
              <a:off x="418386" y="95250"/>
              <a:ext cx="6434656" cy="21136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RED FLAG DETECTION</a:t>
              </a:r>
            </a:p>
          </p:txBody>
        </p:sp>
        <p:pic>
          <p:nvPicPr>
            <p:cNvPr name="Picture 16" id="16"/>
            <p:cNvPicPr>
              <a:picLocks noChangeAspect="true"/>
            </p:cNvPicPr>
            <p:nvPr/>
          </p:nvPicPr>
          <p:blipFill>
            <a:blip r:embed="rId4"/>
            <a:srcRect l="0" t="0" r="0" b="0"/>
            <a:stretch>
              <a:fillRect/>
            </a:stretch>
          </p:blipFill>
          <p:spPr>
            <a:xfrm flipH="false" flipV="false" rot="0">
              <a:off x="0" y="2270150"/>
              <a:ext cx="5450424" cy="422408"/>
            </a:xfrm>
            <a:prstGeom prst="rect">
              <a:avLst/>
            </a:prstGeom>
          </p:spPr>
        </p:pic>
      </p:grpSp>
      <p:grpSp>
        <p:nvGrpSpPr>
          <p:cNvPr name="Group 17" id="17"/>
          <p:cNvGrpSpPr>
            <a:grpSpLocks noChangeAspect="true"/>
          </p:cNvGrpSpPr>
          <p:nvPr/>
        </p:nvGrpSpPr>
        <p:grpSpPr>
          <a:xfrm rot="0">
            <a:off x="10273646" y="2953033"/>
            <a:ext cx="181620" cy="18162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TextBox 19" id="1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1678434" y="2099694"/>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BEFORE DIVING INTO DETECTING RED FLAGS</a:t>
            </a:r>
          </a:p>
        </p:txBody>
      </p:sp>
      <p:grpSp>
        <p:nvGrpSpPr>
          <p:cNvPr name="Group 3" id="3"/>
          <p:cNvGrpSpPr/>
          <p:nvPr/>
        </p:nvGrpSpPr>
        <p:grpSpPr>
          <a:xfrm rot="0">
            <a:off x="775395" y="3497868"/>
            <a:ext cx="16286997" cy="6016395"/>
            <a:chOff x="0" y="0"/>
            <a:chExt cx="25654434" cy="9476713"/>
          </a:xfrm>
        </p:grpSpPr>
        <p:sp>
          <p:nvSpPr>
            <p:cNvPr name="Freeform 4" id="4"/>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5" id="5"/>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6" id="6"/>
          <p:cNvGrpSpPr/>
          <p:nvPr/>
        </p:nvGrpSpPr>
        <p:grpSpPr>
          <a:xfrm rot="0">
            <a:off x="775395" y="3497868"/>
            <a:ext cx="16286997" cy="908385"/>
            <a:chOff x="0" y="0"/>
            <a:chExt cx="22351963" cy="1246650"/>
          </a:xfrm>
        </p:grpSpPr>
        <p:sp>
          <p:nvSpPr>
            <p:cNvPr name="Freeform 7" id="7"/>
            <p:cNvSpPr/>
            <p:nvPr/>
          </p:nvSpPr>
          <p:spPr>
            <a:xfrm flipH="false" flipV="false" rot="0">
              <a:off x="72390" y="72390"/>
              <a:ext cx="22207183" cy="1101870"/>
            </a:xfrm>
            <a:custGeom>
              <a:avLst/>
              <a:gdLst/>
              <a:ahLst/>
              <a:cxnLst/>
              <a:rect r="r" b="b" t="t" l="l"/>
              <a:pathLst>
                <a:path h="1101870" w="22207183">
                  <a:moveTo>
                    <a:pt x="0" y="0"/>
                  </a:moveTo>
                  <a:lnTo>
                    <a:pt x="22207183" y="0"/>
                  </a:lnTo>
                  <a:lnTo>
                    <a:pt x="22207183" y="1101870"/>
                  </a:lnTo>
                  <a:lnTo>
                    <a:pt x="0" y="1101870"/>
                  </a:lnTo>
                  <a:lnTo>
                    <a:pt x="0" y="0"/>
                  </a:lnTo>
                  <a:close/>
                </a:path>
              </a:pathLst>
            </a:custGeom>
            <a:solidFill>
              <a:srgbClr val="F1DCED"/>
            </a:solidFill>
          </p:spPr>
        </p:sp>
        <p:sp>
          <p:nvSpPr>
            <p:cNvPr name="Freeform 8" id="8"/>
            <p:cNvSpPr/>
            <p:nvPr/>
          </p:nvSpPr>
          <p:spPr>
            <a:xfrm flipH="false" flipV="false" rot="0">
              <a:off x="0" y="0"/>
              <a:ext cx="22351963" cy="1246650"/>
            </a:xfrm>
            <a:custGeom>
              <a:avLst/>
              <a:gdLst/>
              <a:ahLst/>
              <a:cxnLst/>
              <a:rect r="r" b="b" t="t" l="l"/>
              <a:pathLst>
                <a:path h="1246650" w="22351963">
                  <a:moveTo>
                    <a:pt x="22207184" y="1101870"/>
                  </a:moveTo>
                  <a:lnTo>
                    <a:pt x="22351963" y="1101870"/>
                  </a:lnTo>
                  <a:lnTo>
                    <a:pt x="22351963" y="1246650"/>
                  </a:lnTo>
                  <a:lnTo>
                    <a:pt x="22207184" y="1246650"/>
                  </a:lnTo>
                  <a:lnTo>
                    <a:pt x="22207184"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22207184" y="144780"/>
                  </a:moveTo>
                  <a:lnTo>
                    <a:pt x="22351963" y="144780"/>
                  </a:lnTo>
                  <a:lnTo>
                    <a:pt x="22351963" y="1101870"/>
                  </a:lnTo>
                  <a:lnTo>
                    <a:pt x="22207184" y="1101870"/>
                  </a:lnTo>
                  <a:lnTo>
                    <a:pt x="22207184" y="144780"/>
                  </a:lnTo>
                  <a:close/>
                  <a:moveTo>
                    <a:pt x="144780" y="1101870"/>
                  </a:moveTo>
                  <a:lnTo>
                    <a:pt x="22207184" y="1101870"/>
                  </a:lnTo>
                  <a:lnTo>
                    <a:pt x="22207184" y="1246650"/>
                  </a:lnTo>
                  <a:lnTo>
                    <a:pt x="144780" y="1246650"/>
                  </a:lnTo>
                  <a:lnTo>
                    <a:pt x="144780" y="1101870"/>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9" id="9"/>
          <p:cNvSpPr txBox="true"/>
          <p:nvPr/>
        </p:nvSpPr>
        <p:spPr>
          <a:xfrm rot="0">
            <a:off x="1051736" y="4877435"/>
            <a:ext cx="15210214" cy="2967990"/>
          </a:xfrm>
          <a:prstGeom prst="rect">
            <a:avLst/>
          </a:prstGeom>
        </p:spPr>
        <p:txBody>
          <a:bodyPr anchor="t" rtlCol="false" tIns="0" lIns="0" bIns="0" rIns="0">
            <a:spAutoFit/>
          </a:bodyPr>
          <a:lstStyle/>
          <a:p>
            <a:pPr algn="l">
              <a:lnSpc>
                <a:spcPts val="3359"/>
              </a:lnSpc>
            </a:pPr>
            <a:r>
              <a:rPr lang="en-US" sz="2399">
                <a:solidFill>
                  <a:srgbClr val="000000"/>
                </a:solidFill>
                <a:latin typeface="Times New Roman MT"/>
                <a:ea typeface="Times New Roman MT"/>
                <a:cs typeface="Times New Roman MT"/>
                <a:sym typeface="Times New Roman MT"/>
              </a:rPr>
              <a:t>How consistent are human choices? Someone who said they prefer being vegan for healthy lifestyle might answer for another lifestyle specific question that they smoke a lot. This can confuse users who simply wants someone who leads a healthy lifestyle in all meaning. </a:t>
            </a:r>
          </a:p>
          <a:p>
            <a:pPr algn="l">
              <a:lnSpc>
                <a:spcPts val="3359"/>
              </a:lnSpc>
            </a:pPr>
          </a:p>
          <a:p>
            <a:pPr algn="just">
              <a:lnSpc>
                <a:spcPts val="3359"/>
              </a:lnSpc>
            </a:pPr>
            <a:r>
              <a:rPr lang="en-US" sz="2399">
                <a:solidFill>
                  <a:srgbClr val="000000"/>
                </a:solidFill>
                <a:latin typeface="Times New Roman MT"/>
                <a:ea typeface="Times New Roman MT"/>
                <a:cs typeface="Times New Roman MT"/>
                <a:sym typeface="Times New Roman MT"/>
              </a:rPr>
              <a:t>To detect inconsistencies in user responses, we employed the Isolation Forest anomaly detection algorithm to identify profiles with unusual patterns related to healthy lifestyle indicators </a:t>
            </a:r>
            <a:r>
              <a:rPr lang="en-US" sz="2399" b="true">
                <a:solidFill>
                  <a:srgbClr val="000000"/>
                </a:solidFill>
                <a:latin typeface="Times New Roman MT Bold"/>
                <a:ea typeface="Times New Roman MT Bold"/>
                <a:cs typeface="Times New Roman MT Bold"/>
                <a:sym typeface="Times New Roman MT Bold"/>
              </a:rPr>
              <a:t>(‘diet', 'drinks', 'smokes', 'drugs') </a:t>
            </a:r>
          </a:p>
          <a:p>
            <a:pPr algn="l" marL="0" indent="0" lvl="0">
              <a:lnSpc>
                <a:spcPts val="3359"/>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2582048" y="1776625"/>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WHY ISOLATIONFOREST? </a:t>
            </a:r>
          </a:p>
        </p:txBody>
      </p:sp>
      <p:sp>
        <p:nvSpPr>
          <p:cNvPr name="Freeform 3" id="3"/>
          <p:cNvSpPr/>
          <p:nvPr/>
        </p:nvSpPr>
        <p:spPr>
          <a:xfrm flipH="false" flipV="false" rot="0">
            <a:off x="0" y="3253764"/>
            <a:ext cx="18288000" cy="7033236"/>
          </a:xfrm>
          <a:custGeom>
            <a:avLst/>
            <a:gdLst/>
            <a:ahLst/>
            <a:cxnLst/>
            <a:rect r="r" b="b" t="t" l="l"/>
            <a:pathLst>
              <a:path h="7033236" w="18288000">
                <a:moveTo>
                  <a:pt x="0" y="0"/>
                </a:moveTo>
                <a:lnTo>
                  <a:pt x="18288000" y="0"/>
                </a:lnTo>
                <a:lnTo>
                  <a:pt x="18288000" y="7033236"/>
                </a:lnTo>
                <a:lnTo>
                  <a:pt x="0" y="7033236"/>
                </a:lnTo>
                <a:lnTo>
                  <a:pt x="0" y="0"/>
                </a:lnTo>
                <a:close/>
              </a:path>
            </a:pathLst>
          </a:custGeom>
          <a:blipFill>
            <a:blip r:embed="rId2"/>
            <a:stretch>
              <a:fillRect l="-16923" t="-64717" r="-5226" b="-89375"/>
            </a:stretch>
          </a:blipFill>
        </p:spPr>
      </p:sp>
      <p:sp>
        <p:nvSpPr>
          <p:cNvPr name="TextBox 4" id="4"/>
          <p:cNvSpPr txBox="true"/>
          <p:nvPr/>
        </p:nvSpPr>
        <p:spPr>
          <a:xfrm rot="0">
            <a:off x="2152509" y="4738733"/>
            <a:ext cx="13532769" cy="2893359"/>
          </a:xfrm>
          <a:prstGeom prst="rect">
            <a:avLst/>
          </a:prstGeom>
        </p:spPr>
        <p:txBody>
          <a:bodyPr anchor="t" rtlCol="false" tIns="0" lIns="0" bIns="0" rIns="0">
            <a:spAutoFit/>
          </a:bodyPr>
          <a:lstStyle/>
          <a:p>
            <a:pPr algn="l" marL="0" indent="0" lvl="0">
              <a:lnSpc>
                <a:spcPts val="3798"/>
              </a:lnSpc>
              <a:spcBef>
                <a:spcPct val="0"/>
              </a:spcBef>
            </a:pPr>
            <a:r>
              <a:rPr lang="en-US" sz="2713">
                <a:solidFill>
                  <a:srgbClr val="000000"/>
                </a:solidFill>
                <a:latin typeface="Times New Roman MT"/>
                <a:ea typeface="Times New Roman MT"/>
                <a:cs typeface="Times New Roman MT"/>
                <a:sym typeface="Times New Roman MT"/>
              </a:rPr>
              <a:t>For other algorithms that we did not choose, we needed to specify what we prefer as healthy and make mutliple combinations that is way more time consuming, less efficient and prone to excluding any possible combination from these variables. So we use IsolationForest which works as a binary tree by drawing random trees over and oever again. It works faster than the other algorithms specifically for our targetted research question for detecting any inconsistencies in lifestyle behavior.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3832430">
            <a:off x="15294967" y="-741646"/>
            <a:ext cx="3928667" cy="4163327"/>
          </a:xfrm>
          <a:custGeom>
            <a:avLst/>
            <a:gdLst/>
            <a:ahLst/>
            <a:cxnLst/>
            <a:rect r="r" b="b" t="t" l="l"/>
            <a:pathLst>
              <a:path h="4163327" w="3928667">
                <a:moveTo>
                  <a:pt x="0" y="0"/>
                </a:moveTo>
                <a:lnTo>
                  <a:pt x="3928666" y="0"/>
                </a:lnTo>
                <a:lnTo>
                  <a:pt x="3928666"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203732" y="5847214"/>
            <a:ext cx="181620" cy="181620"/>
            <a:chOff x="6705600" y="1371600"/>
            <a:chExt cx="10972800" cy="10972800"/>
          </a:xfrm>
        </p:grpSpPr>
        <p:sp>
          <p:nvSpPr>
            <p:cNvPr name="Freeform 4" id="4"/>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Freeform 5" id="5"/>
          <p:cNvSpPr/>
          <p:nvPr/>
        </p:nvSpPr>
        <p:spPr>
          <a:xfrm flipH="false" flipV="false" rot="0">
            <a:off x="2699098" y="2929680"/>
            <a:ext cx="12405541" cy="3008344"/>
          </a:xfrm>
          <a:custGeom>
            <a:avLst/>
            <a:gdLst/>
            <a:ahLst/>
            <a:cxnLst/>
            <a:rect r="r" b="b" t="t" l="l"/>
            <a:pathLst>
              <a:path h="3008344" w="12405541">
                <a:moveTo>
                  <a:pt x="0" y="0"/>
                </a:moveTo>
                <a:lnTo>
                  <a:pt x="12405541" y="0"/>
                </a:lnTo>
                <a:lnTo>
                  <a:pt x="12405541" y="3008344"/>
                </a:lnTo>
                <a:lnTo>
                  <a:pt x="0" y="3008344"/>
                </a:lnTo>
                <a:lnTo>
                  <a:pt x="0" y="0"/>
                </a:lnTo>
                <a:close/>
              </a:path>
            </a:pathLst>
          </a:custGeom>
          <a:blipFill>
            <a:blip r:embed="rId4"/>
            <a:stretch>
              <a:fillRect l="0" t="0" r="0" b="0"/>
            </a:stretch>
          </a:blipFill>
        </p:spPr>
      </p:sp>
      <p:sp>
        <p:nvSpPr>
          <p:cNvPr name="TextBox 6" id="6"/>
          <p:cNvSpPr txBox="true"/>
          <p:nvPr/>
        </p:nvSpPr>
        <p:spPr>
          <a:xfrm rot="0">
            <a:off x="1757453" y="1689107"/>
            <a:ext cx="13956819" cy="808985"/>
          </a:xfrm>
          <a:prstGeom prst="rect">
            <a:avLst/>
          </a:prstGeom>
        </p:spPr>
        <p:txBody>
          <a:bodyPr anchor="t" rtlCol="false" tIns="0" lIns="0" bIns="0" rIns="0">
            <a:spAutoFit/>
          </a:bodyPr>
          <a:lstStyle/>
          <a:p>
            <a:pPr algn="ctr">
              <a:lnSpc>
                <a:spcPts val="5974"/>
              </a:lnSpc>
            </a:pPr>
            <a:r>
              <a:rPr lang="en-US" b="true" sz="5974">
                <a:solidFill>
                  <a:srgbClr val="2E2E2E"/>
                </a:solidFill>
                <a:latin typeface="Anonymous Pro Bold"/>
                <a:ea typeface="Anonymous Pro Bold"/>
                <a:cs typeface="Anonymous Pro Bold"/>
                <a:sym typeface="Anonymous Pro Bold"/>
              </a:rPr>
              <a:t>PREPARING THE DATA</a:t>
            </a:r>
          </a:p>
        </p:txBody>
      </p:sp>
      <p:sp>
        <p:nvSpPr>
          <p:cNvPr name="TextBox 7" id="7"/>
          <p:cNvSpPr txBox="true"/>
          <p:nvPr/>
        </p:nvSpPr>
        <p:spPr>
          <a:xfrm rot="0">
            <a:off x="1028700" y="6591899"/>
            <a:ext cx="16230600" cy="1481455"/>
          </a:xfrm>
          <a:prstGeom prst="rect">
            <a:avLst/>
          </a:prstGeom>
        </p:spPr>
        <p:txBody>
          <a:bodyPr anchor="t" rtlCol="false" tIns="0" lIns="0" bIns="0" rIns="0">
            <a:spAutoFit/>
          </a:bodyPr>
          <a:lstStyle/>
          <a:p>
            <a:pPr algn="ctr">
              <a:lnSpc>
                <a:spcPts val="3919"/>
              </a:lnSpc>
            </a:pPr>
            <a:r>
              <a:rPr lang="en-US" sz="2799">
                <a:solidFill>
                  <a:srgbClr val="000000"/>
                </a:solidFill>
                <a:latin typeface="Alice"/>
                <a:ea typeface="Alice"/>
                <a:cs typeface="Alice"/>
                <a:sym typeface="Alice"/>
              </a:rPr>
              <a:t>For preparing the dataset for the detection, we start by dummy coding all the possible combinations</a:t>
            </a:r>
          </a:p>
          <a:p>
            <a:pPr algn="l" marL="0" indent="0" lvl="0">
              <a:lnSpc>
                <a:spcPts val="3919"/>
              </a:lnSpc>
              <a:spcBef>
                <a:spcPct val="0"/>
              </a:spcBef>
            </a:pPr>
            <a:r>
              <a:rPr lang="en-US" sz="2799">
                <a:solidFill>
                  <a:srgbClr val="000000"/>
                </a:solidFill>
                <a:latin typeface="Alice"/>
                <a:ea typeface="Alice"/>
                <a:cs typeface="Alice"/>
                <a:sym typeface="Alice"/>
              </a:rPr>
              <a:t>of the four variables that we chose. It converts the responses of the variables into binary columns. We expect 5% of profiles to be anomalies – that flags any potential inconsistencies.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1DCED"/>
        </a:solidFill>
      </p:bgPr>
    </p:bg>
    <p:spTree>
      <p:nvGrpSpPr>
        <p:cNvPr id="1" name=""/>
        <p:cNvGrpSpPr/>
        <p:nvPr/>
      </p:nvGrpSpPr>
      <p:grpSpPr>
        <a:xfrm>
          <a:off x="0" y="0"/>
          <a:ext cx="0" cy="0"/>
          <a:chOff x="0" y="0"/>
          <a:chExt cx="0" cy="0"/>
        </a:xfrm>
      </p:grpSpPr>
      <p:sp>
        <p:nvSpPr>
          <p:cNvPr name="Freeform 2" id="2"/>
          <p:cNvSpPr/>
          <p:nvPr/>
        </p:nvSpPr>
        <p:spPr>
          <a:xfrm flipH="false" flipV="false" rot="0">
            <a:off x="4369150" y="1683849"/>
            <a:ext cx="9549699" cy="5144901"/>
          </a:xfrm>
          <a:custGeom>
            <a:avLst/>
            <a:gdLst/>
            <a:ahLst/>
            <a:cxnLst/>
            <a:rect r="r" b="b" t="t" l="l"/>
            <a:pathLst>
              <a:path h="5144901" w="9549699">
                <a:moveTo>
                  <a:pt x="0" y="0"/>
                </a:moveTo>
                <a:lnTo>
                  <a:pt x="9549700" y="0"/>
                </a:lnTo>
                <a:lnTo>
                  <a:pt x="9549700" y="5144901"/>
                </a:lnTo>
                <a:lnTo>
                  <a:pt x="0" y="5144901"/>
                </a:lnTo>
                <a:lnTo>
                  <a:pt x="0" y="0"/>
                </a:lnTo>
                <a:close/>
              </a:path>
            </a:pathLst>
          </a:custGeom>
          <a:blipFill>
            <a:blip r:embed="rId2"/>
            <a:stretch>
              <a:fillRect l="0" t="0" r="0" b="0"/>
            </a:stretch>
          </a:blipFill>
        </p:spPr>
      </p:sp>
      <p:sp>
        <p:nvSpPr>
          <p:cNvPr name="TextBox 3" id="3"/>
          <p:cNvSpPr txBox="true"/>
          <p:nvPr/>
        </p:nvSpPr>
        <p:spPr>
          <a:xfrm rot="0">
            <a:off x="1711300" y="671832"/>
            <a:ext cx="13956819" cy="808985"/>
          </a:xfrm>
          <a:prstGeom prst="rect">
            <a:avLst/>
          </a:prstGeom>
        </p:spPr>
        <p:txBody>
          <a:bodyPr anchor="t" rtlCol="false" tIns="0" lIns="0" bIns="0" rIns="0">
            <a:spAutoFit/>
          </a:bodyPr>
          <a:lstStyle/>
          <a:p>
            <a:pPr algn="ctr">
              <a:lnSpc>
                <a:spcPts val="5974"/>
              </a:lnSpc>
            </a:pPr>
            <a:r>
              <a:rPr lang="en-US" b="true" sz="5974">
                <a:solidFill>
                  <a:srgbClr val="2E2E2E"/>
                </a:solidFill>
                <a:latin typeface="Anonymous Pro Bold"/>
                <a:ea typeface="Anonymous Pro Bold"/>
                <a:cs typeface="Anonymous Pro Bold"/>
                <a:sym typeface="Anonymous Pro Bold"/>
              </a:rPr>
              <a:t>RESULTS </a:t>
            </a:r>
          </a:p>
        </p:txBody>
      </p:sp>
      <p:sp>
        <p:nvSpPr>
          <p:cNvPr name="TextBox 4" id="4"/>
          <p:cNvSpPr txBox="true"/>
          <p:nvPr/>
        </p:nvSpPr>
        <p:spPr>
          <a:xfrm rot="0">
            <a:off x="1028700" y="7319645"/>
            <a:ext cx="16230600" cy="2967355"/>
          </a:xfrm>
          <a:prstGeom prst="rect">
            <a:avLst/>
          </a:prstGeom>
        </p:spPr>
        <p:txBody>
          <a:bodyPr anchor="t" rtlCol="false" tIns="0" lIns="0" bIns="0" rIns="0">
            <a:spAutoFit/>
          </a:bodyPr>
          <a:lstStyle/>
          <a:p>
            <a:pPr algn="l">
              <a:lnSpc>
                <a:spcPts val="3919"/>
              </a:lnSpc>
            </a:pPr>
            <a:r>
              <a:rPr lang="en-US" sz="2799">
                <a:solidFill>
                  <a:srgbClr val="000000"/>
                </a:solidFill>
                <a:latin typeface="Alice"/>
                <a:ea typeface="Alice"/>
                <a:cs typeface="Alice"/>
                <a:sym typeface="Alice"/>
              </a:rPr>
              <a:t>The algorithm points out to 2992 incoherent profiles which is a red flag for healthy lifestyle</a:t>
            </a:r>
          </a:p>
          <a:p>
            <a:pPr algn="l">
              <a:lnSpc>
                <a:spcPts val="3919"/>
              </a:lnSpc>
            </a:pPr>
            <a:r>
              <a:rPr lang="en-US" sz="2799">
                <a:solidFill>
                  <a:srgbClr val="000000"/>
                </a:solidFill>
                <a:latin typeface="Alice"/>
                <a:ea typeface="Alice"/>
                <a:cs typeface="Alice"/>
                <a:sym typeface="Alice"/>
              </a:rPr>
              <a:t>consistency. For example, someone who is strictly vegetarian  (asumming for health concern) drinking often might be a red flag for someone who is looking for a vegan partner with a healthy lifestyle. Ofcourse can be an individual choice;  however this detection can be useful for people on the dating app prioritizing lifestyle compatibility.</a:t>
            </a:r>
          </a:p>
          <a:p>
            <a:pPr algn="l" marL="0" indent="0" lvl="0">
              <a:lnSpc>
                <a:spcPts val="3919"/>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1728459" y="2192947"/>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CONNECTING IT ALL</a:t>
            </a:r>
          </a:p>
        </p:txBody>
      </p:sp>
      <p:grpSp>
        <p:nvGrpSpPr>
          <p:cNvPr name="Group 3" id="3"/>
          <p:cNvGrpSpPr/>
          <p:nvPr/>
        </p:nvGrpSpPr>
        <p:grpSpPr>
          <a:xfrm rot="0">
            <a:off x="775395" y="3497868"/>
            <a:ext cx="16286997" cy="6016395"/>
            <a:chOff x="0" y="0"/>
            <a:chExt cx="25654434" cy="9476713"/>
          </a:xfrm>
        </p:grpSpPr>
        <p:sp>
          <p:nvSpPr>
            <p:cNvPr name="Freeform 4" id="4"/>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5" id="5"/>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6" id="6"/>
          <p:cNvGrpSpPr/>
          <p:nvPr/>
        </p:nvGrpSpPr>
        <p:grpSpPr>
          <a:xfrm rot="0">
            <a:off x="775395" y="3497868"/>
            <a:ext cx="16286997" cy="1092996"/>
            <a:chOff x="0" y="0"/>
            <a:chExt cx="22351963" cy="1500006"/>
          </a:xfrm>
        </p:grpSpPr>
        <p:sp>
          <p:nvSpPr>
            <p:cNvPr name="Freeform 7" id="7"/>
            <p:cNvSpPr/>
            <p:nvPr/>
          </p:nvSpPr>
          <p:spPr>
            <a:xfrm flipH="false" flipV="false" rot="0">
              <a:off x="72390" y="72390"/>
              <a:ext cx="22207183" cy="1355226"/>
            </a:xfrm>
            <a:custGeom>
              <a:avLst/>
              <a:gdLst/>
              <a:ahLst/>
              <a:cxnLst/>
              <a:rect r="r" b="b" t="t" l="l"/>
              <a:pathLst>
                <a:path h="1355226" w="22207183">
                  <a:moveTo>
                    <a:pt x="0" y="0"/>
                  </a:moveTo>
                  <a:lnTo>
                    <a:pt x="22207183" y="0"/>
                  </a:lnTo>
                  <a:lnTo>
                    <a:pt x="22207183" y="1355226"/>
                  </a:lnTo>
                  <a:lnTo>
                    <a:pt x="0" y="1355226"/>
                  </a:lnTo>
                  <a:lnTo>
                    <a:pt x="0" y="0"/>
                  </a:lnTo>
                  <a:close/>
                </a:path>
              </a:pathLst>
            </a:custGeom>
            <a:solidFill>
              <a:srgbClr val="F1DCED"/>
            </a:solidFill>
          </p:spPr>
        </p:sp>
        <p:sp>
          <p:nvSpPr>
            <p:cNvPr name="Freeform 8" id="8"/>
            <p:cNvSpPr/>
            <p:nvPr/>
          </p:nvSpPr>
          <p:spPr>
            <a:xfrm flipH="false" flipV="false" rot="0">
              <a:off x="0" y="0"/>
              <a:ext cx="22351963" cy="1500006"/>
            </a:xfrm>
            <a:custGeom>
              <a:avLst/>
              <a:gdLst/>
              <a:ahLst/>
              <a:cxnLst/>
              <a:rect r="r" b="b" t="t" l="l"/>
              <a:pathLst>
                <a:path h="1500006" w="22351963">
                  <a:moveTo>
                    <a:pt x="22207184" y="1355226"/>
                  </a:moveTo>
                  <a:lnTo>
                    <a:pt x="22351963" y="1355226"/>
                  </a:lnTo>
                  <a:lnTo>
                    <a:pt x="22351963" y="1500006"/>
                  </a:lnTo>
                  <a:lnTo>
                    <a:pt x="22207184" y="1500006"/>
                  </a:lnTo>
                  <a:lnTo>
                    <a:pt x="22207184" y="1355226"/>
                  </a:lnTo>
                  <a:close/>
                  <a:moveTo>
                    <a:pt x="0" y="144780"/>
                  </a:moveTo>
                  <a:lnTo>
                    <a:pt x="144780" y="144780"/>
                  </a:lnTo>
                  <a:lnTo>
                    <a:pt x="144780" y="1355226"/>
                  </a:lnTo>
                  <a:lnTo>
                    <a:pt x="0" y="1355226"/>
                  </a:lnTo>
                  <a:lnTo>
                    <a:pt x="0" y="144780"/>
                  </a:lnTo>
                  <a:close/>
                  <a:moveTo>
                    <a:pt x="0" y="1355226"/>
                  </a:moveTo>
                  <a:lnTo>
                    <a:pt x="144780" y="1355226"/>
                  </a:lnTo>
                  <a:lnTo>
                    <a:pt x="144780" y="1500006"/>
                  </a:lnTo>
                  <a:lnTo>
                    <a:pt x="0" y="1500006"/>
                  </a:lnTo>
                  <a:lnTo>
                    <a:pt x="0" y="1355226"/>
                  </a:lnTo>
                  <a:close/>
                  <a:moveTo>
                    <a:pt x="22207184" y="144780"/>
                  </a:moveTo>
                  <a:lnTo>
                    <a:pt x="22351963" y="144780"/>
                  </a:lnTo>
                  <a:lnTo>
                    <a:pt x="22351963" y="1355226"/>
                  </a:lnTo>
                  <a:lnTo>
                    <a:pt x="22207184" y="1355226"/>
                  </a:lnTo>
                  <a:lnTo>
                    <a:pt x="22207184" y="144780"/>
                  </a:lnTo>
                  <a:close/>
                  <a:moveTo>
                    <a:pt x="144780" y="1355226"/>
                  </a:moveTo>
                  <a:lnTo>
                    <a:pt x="22207184" y="1355226"/>
                  </a:lnTo>
                  <a:lnTo>
                    <a:pt x="22207184" y="1500006"/>
                  </a:lnTo>
                  <a:lnTo>
                    <a:pt x="144780" y="1500006"/>
                  </a:lnTo>
                  <a:lnTo>
                    <a:pt x="144780" y="1355226"/>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9" id="9"/>
          <p:cNvSpPr txBox="true"/>
          <p:nvPr/>
        </p:nvSpPr>
        <p:spPr>
          <a:xfrm rot="0">
            <a:off x="2152509" y="4748258"/>
            <a:ext cx="13532769" cy="3891578"/>
          </a:xfrm>
          <a:prstGeom prst="rect">
            <a:avLst/>
          </a:prstGeom>
        </p:spPr>
        <p:txBody>
          <a:bodyPr anchor="t" rtlCol="false" tIns="0" lIns="0" bIns="0" rIns="0">
            <a:spAutoFit/>
          </a:bodyPr>
          <a:lstStyle/>
          <a:p>
            <a:pPr algn="l">
              <a:lnSpc>
                <a:spcPts val="3378"/>
              </a:lnSpc>
            </a:pPr>
            <a:r>
              <a:rPr lang="en-US" sz="2413">
                <a:solidFill>
                  <a:srgbClr val="000000"/>
                </a:solidFill>
                <a:latin typeface="Times New Roman MT"/>
                <a:ea typeface="Times New Roman MT"/>
                <a:cs typeface="Times New Roman MT"/>
                <a:sym typeface="Times New Roman MT"/>
              </a:rPr>
              <a:t>Our exploratory data analysis reflected significant representation gaps in the dataset. The dataset was  heavily dominated by white males. This imbalance reflected in our further analysises and brings us to a question on how much of dating apps’ algorithms are being catered towards underpressented communities. </a:t>
            </a:r>
          </a:p>
          <a:p>
            <a:pPr algn="l">
              <a:lnSpc>
                <a:spcPts val="3378"/>
              </a:lnSpc>
            </a:pPr>
          </a:p>
          <a:p>
            <a:pPr algn="l">
              <a:lnSpc>
                <a:spcPts val="3378"/>
              </a:lnSpc>
            </a:pPr>
            <a:r>
              <a:rPr lang="en-US" sz="2413">
                <a:solidFill>
                  <a:srgbClr val="000000"/>
                </a:solidFill>
                <a:latin typeface="Times New Roman MT"/>
                <a:ea typeface="Times New Roman MT"/>
                <a:cs typeface="Times New Roman MT"/>
                <a:sym typeface="Times New Roman MT"/>
              </a:rPr>
              <a:t>The association between sex and education level show significant association, with men overrepresented in being college dropouts. These patterns suggest that who uses dating apps, and how they present themselves, varies systematically by demographic group. </a:t>
            </a:r>
          </a:p>
          <a:p>
            <a:pPr algn="l" marL="0" indent="0" lvl="0">
              <a:lnSpc>
                <a:spcPts val="3378"/>
              </a:lnSpc>
              <a:spcBef>
                <a:spcPct val="0"/>
              </a:spcBef>
            </a:pPr>
          </a:p>
        </p:txBody>
      </p:sp>
      <p:sp>
        <p:nvSpPr>
          <p:cNvPr name="TextBox 10" id="10"/>
          <p:cNvSpPr txBox="true"/>
          <p:nvPr/>
        </p:nvSpPr>
        <p:spPr>
          <a:xfrm rot="0">
            <a:off x="1728459" y="3768546"/>
            <a:ext cx="13956819" cy="424179"/>
          </a:xfrm>
          <a:prstGeom prst="rect">
            <a:avLst/>
          </a:prstGeom>
        </p:spPr>
        <p:txBody>
          <a:bodyPr anchor="t" rtlCol="false" tIns="0" lIns="0" bIns="0" rIns="0">
            <a:spAutoFit/>
          </a:bodyPr>
          <a:lstStyle/>
          <a:p>
            <a:pPr algn="ctr">
              <a:lnSpc>
                <a:spcPts val="3199"/>
              </a:lnSpc>
            </a:pPr>
            <a:r>
              <a:rPr lang="en-US" b="true" sz="3199">
                <a:solidFill>
                  <a:srgbClr val="2E2E2E"/>
                </a:solidFill>
                <a:latin typeface="Anonymous Pro Bold"/>
                <a:ea typeface="Anonymous Pro Bold"/>
                <a:cs typeface="Anonymous Pro Bold"/>
                <a:sym typeface="Anonymous Pro Bold"/>
              </a:rPr>
              <a:t>OKCUPID DEMOGRAPHIC</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1728459" y="2192947"/>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CONNECTING IT ALL</a:t>
            </a:r>
          </a:p>
        </p:txBody>
      </p:sp>
      <p:grpSp>
        <p:nvGrpSpPr>
          <p:cNvPr name="Group 3" id="3"/>
          <p:cNvGrpSpPr/>
          <p:nvPr/>
        </p:nvGrpSpPr>
        <p:grpSpPr>
          <a:xfrm rot="0">
            <a:off x="775395" y="3497868"/>
            <a:ext cx="16286997" cy="6016395"/>
            <a:chOff x="0" y="0"/>
            <a:chExt cx="25654434" cy="9476713"/>
          </a:xfrm>
        </p:grpSpPr>
        <p:sp>
          <p:nvSpPr>
            <p:cNvPr name="Freeform 4" id="4"/>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5" id="5"/>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6" id="6"/>
          <p:cNvGrpSpPr/>
          <p:nvPr/>
        </p:nvGrpSpPr>
        <p:grpSpPr>
          <a:xfrm rot="0">
            <a:off x="775395" y="3497868"/>
            <a:ext cx="16286997" cy="1092996"/>
            <a:chOff x="0" y="0"/>
            <a:chExt cx="22351963" cy="1500006"/>
          </a:xfrm>
        </p:grpSpPr>
        <p:sp>
          <p:nvSpPr>
            <p:cNvPr name="Freeform 7" id="7"/>
            <p:cNvSpPr/>
            <p:nvPr/>
          </p:nvSpPr>
          <p:spPr>
            <a:xfrm flipH="false" flipV="false" rot="0">
              <a:off x="72390" y="72390"/>
              <a:ext cx="22207183" cy="1355226"/>
            </a:xfrm>
            <a:custGeom>
              <a:avLst/>
              <a:gdLst/>
              <a:ahLst/>
              <a:cxnLst/>
              <a:rect r="r" b="b" t="t" l="l"/>
              <a:pathLst>
                <a:path h="1355226" w="22207183">
                  <a:moveTo>
                    <a:pt x="0" y="0"/>
                  </a:moveTo>
                  <a:lnTo>
                    <a:pt x="22207183" y="0"/>
                  </a:lnTo>
                  <a:lnTo>
                    <a:pt x="22207183" y="1355226"/>
                  </a:lnTo>
                  <a:lnTo>
                    <a:pt x="0" y="1355226"/>
                  </a:lnTo>
                  <a:lnTo>
                    <a:pt x="0" y="0"/>
                  </a:lnTo>
                  <a:close/>
                </a:path>
              </a:pathLst>
            </a:custGeom>
            <a:solidFill>
              <a:srgbClr val="F1DCED"/>
            </a:solidFill>
          </p:spPr>
        </p:sp>
        <p:sp>
          <p:nvSpPr>
            <p:cNvPr name="Freeform 8" id="8"/>
            <p:cNvSpPr/>
            <p:nvPr/>
          </p:nvSpPr>
          <p:spPr>
            <a:xfrm flipH="false" flipV="false" rot="0">
              <a:off x="0" y="0"/>
              <a:ext cx="22351963" cy="1500006"/>
            </a:xfrm>
            <a:custGeom>
              <a:avLst/>
              <a:gdLst/>
              <a:ahLst/>
              <a:cxnLst/>
              <a:rect r="r" b="b" t="t" l="l"/>
              <a:pathLst>
                <a:path h="1500006" w="22351963">
                  <a:moveTo>
                    <a:pt x="22207184" y="1355226"/>
                  </a:moveTo>
                  <a:lnTo>
                    <a:pt x="22351963" y="1355226"/>
                  </a:lnTo>
                  <a:lnTo>
                    <a:pt x="22351963" y="1500006"/>
                  </a:lnTo>
                  <a:lnTo>
                    <a:pt x="22207184" y="1500006"/>
                  </a:lnTo>
                  <a:lnTo>
                    <a:pt x="22207184" y="1355226"/>
                  </a:lnTo>
                  <a:close/>
                  <a:moveTo>
                    <a:pt x="0" y="144780"/>
                  </a:moveTo>
                  <a:lnTo>
                    <a:pt x="144780" y="144780"/>
                  </a:lnTo>
                  <a:lnTo>
                    <a:pt x="144780" y="1355226"/>
                  </a:lnTo>
                  <a:lnTo>
                    <a:pt x="0" y="1355226"/>
                  </a:lnTo>
                  <a:lnTo>
                    <a:pt x="0" y="144780"/>
                  </a:lnTo>
                  <a:close/>
                  <a:moveTo>
                    <a:pt x="0" y="1355226"/>
                  </a:moveTo>
                  <a:lnTo>
                    <a:pt x="144780" y="1355226"/>
                  </a:lnTo>
                  <a:lnTo>
                    <a:pt x="144780" y="1500006"/>
                  </a:lnTo>
                  <a:lnTo>
                    <a:pt x="0" y="1500006"/>
                  </a:lnTo>
                  <a:lnTo>
                    <a:pt x="0" y="1355226"/>
                  </a:lnTo>
                  <a:close/>
                  <a:moveTo>
                    <a:pt x="22207184" y="144780"/>
                  </a:moveTo>
                  <a:lnTo>
                    <a:pt x="22351963" y="144780"/>
                  </a:lnTo>
                  <a:lnTo>
                    <a:pt x="22351963" y="1355226"/>
                  </a:lnTo>
                  <a:lnTo>
                    <a:pt x="22207184" y="1355226"/>
                  </a:lnTo>
                  <a:lnTo>
                    <a:pt x="22207184" y="144780"/>
                  </a:lnTo>
                  <a:close/>
                  <a:moveTo>
                    <a:pt x="144780" y="1355226"/>
                  </a:moveTo>
                  <a:lnTo>
                    <a:pt x="22207184" y="1355226"/>
                  </a:lnTo>
                  <a:lnTo>
                    <a:pt x="22207184" y="1500006"/>
                  </a:lnTo>
                  <a:lnTo>
                    <a:pt x="144780" y="1500006"/>
                  </a:lnTo>
                  <a:lnTo>
                    <a:pt x="144780" y="1355226"/>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9" id="9"/>
          <p:cNvSpPr txBox="true"/>
          <p:nvPr/>
        </p:nvSpPr>
        <p:spPr>
          <a:xfrm rot="0">
            <a:off x="2152509" y="4748258"/>
            <a:ext cx="13532769" cy="3462953"/>
          </a:xfrm>
          <a:prstGeom prst="rect">
            <a:avLst/>
          </a:prstGeom>
        </p:spPr>
        <p:txBody>
          <a:bodyPr anchor="t" rtlCol="false" tIns="0" lIns="0" bIns="0" rIns="0">
            <a:spAutoFit/>
          </a:bodyPr>
          <a:lstStyle/>
          <a:p>
            <a:pPr algn="l">
              <a:lnSpc>
                <a:spcPts val="3378"/>
              </a:lnSpc>
            </a:pPr>
            <a:r>
              <a:rPr lang="en-US" sz="2413">
                <a:solidFill>
                  <a:srgbClr val="000000"/>
                </a:solidFill>
                <a:latin typeface="Times New Roman MT"/>
                <a:ea typeface="Times New Roman MT"/>
                <a:cs typeface="Times New Roman MT"/>
                <a:sym typeface="Times New Roman MT"/>
              </a:rPr>
              <a:t>While logistic regression confirmed that sex is statistically associated with wanting children, the model's low AUC demonstrates weak ability to distinguish .</a:t>
            </a:r>
          </a:p>
          <a:p>
            <a:pPr algn="l">
              <a:lnSpc>
                <a:spcPts val="3378"/>
              </a:lnSpc>
            </a:pPr>
          </a:p>
          <a:p>
            <a:pPr algn="l">
              <a:lnSpc>
                <a:spcPts val="3378"/>
              </a:lnSpc>
            </a:pPr>
            <a:r>
              <a:rPr lang="en-US" sz="2413">
                <a:solidFill>
                  <a:srgbClr val="000000"/>
                </a:solidFill>
                <a:latin typeface="Times New Roman MT"/>
                <a:ea typeface="Times New Roman MT"/>
                <a:cs typeface="Times New Roman MT"/>
                <a:sym typeface="Times New Roman MT"/>
              </a:rPr>
              <a:t> While societal stereotypes are statistically detectable in the data, they lack the predictive power needed for individual-level inference. Statistical significance does not equal practical decisions. And we should be careful about it while designing machine learning algorithms.  </a:t>
            </a:r>
          </a:p>
          <a:p>
            <a:pPr algn="l">
              <a:lnSpc>
                <a:spcPts val="3378"/>
              </a:lnSpc>
            </a:pPr>
          </a:p>
          <a:p>
            <a:pPr algn="l" marL="0" indent="0" lvl="0">
              <a:lnSpc>
                <a:spcPts val="3378"/>
              </a:lnSpc>
              <a:spcBef>
                <a:spcPct val="0"/>
              </a:spcBef>
            </a:pPr>
          </a:p>
        </p:txBody>
      </p:sp>
      <p:sp>
        <p:nvSpPr>
          <p:cNvPr name="TextBox 10" id="10"/>
          <p:cNvSpPr txBox="true"/>
          <p:nvPr/>
        </p:nvSpPr>
        <p:spPr>
          <a:xfrm rot="0">
            <a:off x="1728459" y="3768546"/>
            <a:ext cx="13956819" cy="424179"/>
          </a:xfrm>
          <a:prstGeom prst="rect">
            <a:avLst/>
          </a:prstGeom>
        </p:spPr>
        <p:txBody>
          <a:bodyPr anchor="t" rtlCol="false" tIns="0" lIns="0" bIns="0" rIns="0">
            <a:spAutoFit/>
          </a:bodyPr>
          <a:lstStyle/>
          <a:p>
            <a:pPr algn="ctr">
              <a:lnSpc>
                <a:spcPts val="3199"/>
              </a:lnSpc>
            </a:pPr>
            <a:r>
              <a:rPr lang="en-US" b="true" sz="3199">
                <a:solidFill>
                  <a:srgbClr val="2E2E2E"/>
                </a:solidFill>
                <a:latin typeface="Anonymous Pro Bold"/>
                <a:ea typeface="Anonymous Pro Bold"/>
                <a:cs typeface="Anonymous Pro Bold"/>
                <a:sym typeface="Anonymous Pro Bold"/>
              </a:rPr>
              <a:t>STEROTYPICAL ASSUMPTIONS AND PARENTAL CHOICE</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1728459" y="2192947"/>
            <a:ext cx="13956819" cy="657221"/>
          </a:xfrm>
          <a:prstGeom prst="rect">
            <a:avLst/>
          </a:prstGeom>
        </p:spPr>
        <p:txBody>
          <a:bodyPr anchor="t" rtlCol="false" tIns="0" lIns="0" bIns="0" rIns="0">
            <a:spAutoFit/>
          </a:bodyPr>
          <a:lstStyle/>
          <a:p>
            <a:pPr algn="ctr">
              <a:lnSpc>
                <a:spcPts val="4874"/>
              </a:lnSpc>
            </a:pPr>
            <a:r>
              <a:rPr lang="en-US" b="true" sz="4874">
                <a:solidFill>
                  <a:srgbClr val="2E2E2E"/>
                </a:solidFill>
                <a:latin typeface="Anonymous Pro Bold"/>
                <a:ea typeface="Anonymous Pro Bold"/>
                <a:cs typeface="Anonymous Pro Bold"/>
                <a:sym typeface="Anonymous Pro Bold"/>
              </a:rPr>
              <a:t>CONNECTING IT ALL</a:t>
            </a:r>
          </a:p>
        </p:txBody>
      </p:sp>
      <p:grpSp>
        <p:nvGrpSpPr>
          <p:cNvPr name="Group 3" id="3"/>
          <p:cNvGrpSpPr/>
          <p:nvPr/>
        </p:nvGrpSpPr>
        <p:grpSpPr>
          <a:xfrm rot="0">
            <a:off x="775395" y="3497868"/>
            <a:ext cx="16286997" cy="6016395"/>
            <a:chOff x="0" y="0"/>
            <a:chExt cx="25654434" cy="9476713"/>
          </a:xfrm>
        </p:grpSpPr>
        <p:sp>
          <p:nvSpPr>
            <p:cNvPr name="Freeform 4" id="4"/>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5" id="5"/>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6" id="6"/>
          <p:cNvGrpSpPr/>
          <p:nvPr/>
        </p:nvGrpSpPr>
        <p:grpSpPr>
          <a:xfrm rot="0">
            <a:off x="775395" y="3497868"/>
            <a:ext cx="16286997" cy="1092996"/>
            <a:chOff x="0" y="0"/>
            <a:chExt cx="22351963" cy="1500006"/>
          </a:xfrm>
        </p:grpSpPr>
        <p:sp>
          <p:nvSpPr>
            <p:cNvPr name="Freeform 7" id="7"/>
            <p:cNvSpPr/>
            <p:nvPr/>
          </p:nvSpPr>
          <p:spPr>
            <a:xfrm flipH="false" flipV="false" rot="0">
              <a:off x="72390" y="72390"/>
              <a:ext cx="22207183" cy="1355226"/>
            </a:xfrm>
            <a:custGeom>
              <a:avLst/>
              <a:gdLst/>
              <a:ahLst/>
              <a:cxnLst/>
              <a:rect r="r" b="b" t="t" l="l"/>
              <a:pathLst>
                <a:path h="1355226" w="22207183">
                  <a:moveTo>
                    <a:pt x="0" y="0"/>
                  </a:moveTo>
                  <a:lnTo>
                    <a:pt x="22207183" y="0"/>
                  </a:lnTo>
                  <a:lnTo>
                    <a:pt x="22207183" y="1355226"/>
                  </a:lnTo>
                  <a:lnTo>
                    <a:pt x="0" y="1355226"/>
                  </a:lnTo>
                  <a:lnTo>
                    <a:pt x="0" y="0"/>
                  </a:lnTo>
                  <a:close/>
                </a:path>
              </a:pathLst>
            </a:custGeom>
            <a:solidFill>
              <a:srgbClr val="F1DCED"/>
            </a:solidFill>
          </p:spPr>
        </p:sp>
        <p:sp>
          <p:nvSpPr>
            <p:cNvPr name="Freeform 8" id="8"/>
            <p:cNvSpPr/>
            <p:nvPr/>
          </p:nvSpPr>
          <p:spPr>
            <a:xfrm flipH="false" flipV="false" rot="0">
              <a:off x="0" y="0"/>
              <a:ext cx="22351963" cy="1500006"/>
            </a:xfrm>
            <a:custGeom>
              <a:avLst/>
              <a:gdLst/>
              <a:ahLst/>
              <a:cxnLst/>
              <a:rect r="r" b="b" t="t" l="l"/>
              <a:pathLst>
                <a:path h="1500006" w="22351963">
                  <a:moveTo>
                    <a:pt x="22207184" y="1355226"/>
                  </a:moveTo>
                  <a:lnTo>
                    <a:pt x="22351963" y="1355226"/>
                  </a:lnTo>
                  <a:lnTo>
                    <a:pt x="22351963" y="1500006"/>
                  </a:lnTo>
                  <a:lnTo>
                    <a:pt x="22207184" y="1500006"/>
                  </a:lnTo>
                  <a:lnTo>
                    <a:pt x="22207184" y="1355226"/>
                  </a:lnTo>
                  <a:close/>
                  <a:moveTo>
                    <a:pt x="0" y="144780"/>
                  </a:moveTo>
                  <a:lnTo>
                    <a:pt x="144780" y="144780"/>
                  </a:lnTo>
                  <a:lnTo>
                    <a:pt x="144780" y="1355226"/>
                  </a:lnTo>
                  <a:lnTo>
                    <a:pt x="0" y="1355226"/>
                  </a:lnTo>
                  <a:lnTo>
                    <a:pt x="0" y="144780"/>
                  </a:lnTo>
                  <a:close/>
                  <a:moveTo>
                    <a:pt x="0" y="1355226"/>
                  </a:moveTo>
                  <a:lnTo>
                    <a:pt x="144780" y="1355226"/>
                  </a:lnTo>
                  <a:lnTo>
                    <a:pt x="144780" y="1500006"/>
                  </a:lnTo>
                  <a:lnTo>
                    <a:pt x="0" y="1500006"/>
                  </a:lnTo>
                  <a:lnTo>
                    <a:pt x="0" y="1355226"/>
                  </a:lnTo>
                  <a:close/>
                  <a:moveTo>
                    <a:pt x="22207184" y="144780"/>
                  </a:moveTo>
                  <a:lnTo>
                    <a:pt x="22351963" y="144780"/>
                  </a:lnTo>
                  <a:lnTo>
                    <a:pt x="22351963" y="1355226"/>
                  </a:lnTo>
                  <a:lnTo>
                    <a:pt x="22207184" y="1355226"/>
                  </a:lnTo>
                  <a:lnTo>
                    <a:pt x="22207184" y="144780"/>
                  </a:lnTo>
                  <a:close/>
                  <a:moveTo>
                    <a:pt x="144780" y="1355226"/>
                  </a:moveTo>
                  <a:lnTo>
                    <a:pt x="22207184" y="1355226"/>
                  </a:lnTo>
                  <a:lnTo>
                    <a:pt x="22207184" y="1500006"/>
                  </a:lnTo>
                  <a:lnTo>
                    <a:pt x="144780" y="1500006"/>
                  </a:lnTo>
                  <a:lnTo>
                    <a:pt x="144780" y="1355226"/>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9" id="9"/>
          <p:cNvSpPr txBox="true"/>
          <p:nvPr/>
        </p:nvSpPr>
        <p:spPr>
          <a:xfrm rot="0">
            <a:off x="2377616" y="5512535"/>
            <a:ext cx="13532769" cy="1319828"/>
          </a:xfrm>
          <a:prstGeom prst="rect">
            <a:avLst/>
          </a:prstGeom>
        </p:spPr>
        <p:txBody>
          <a:bodyPr anchor="t" rtlCol="false" tIns="0" lIns="0" bIns="0" rIns="0">
            <a:spAutoFit/>
          </a:bodyPr>
          <a:lstStyle/>
          <a:p>
            <a:pPr algn="l" marL="0" indent="0" lvl="0">
              <a:lnSpc>
                <a:spcPts val="3378"/>
              </a:lnSpc>
              <a:spcBef>
                <a:spcPct val="0"/>
              </a:spcBef>
            </a:pPr>
            <a:r>
              <a:rPr lang="en-US" sz="2413">
                <a:solidFill>
                  <a:srgbClr val="000000"/>
                </a:solidFill>
                <a:latin typeface="Times New Roman MT"/>
                <a:ea typeface="Times New Roman MT"/>
                <a:cs typeface="Times New Roman MT"/>
                <a:sym typeface="Times New Roman MT"/>
              </a:rPr>
              <a:t>Modern dating is not an one size fits all algorithm. Human being are prone to contradict themselves often. As seen in our lifestyle inconsistency analysis – one answer to a prompt on a dating app cannot be a true compatibility indicator. </a:t>
            </a:r>
          </a:p>
        </p:txBody>
      </p:sp>
      <p:sp>
        <p:nvSpPr>
          <p:cNvPr name="TextBox 10" id="10"/>
          <p:cNvSpPr txBox="true"/>
          <p:nvPr/>
        </p:nvSpPr>
        <p:spPr>
          <a:xfrm rot="0">
            <a:off x="1728459" y="3768546"/>
            <a:ext cx="13956819" cy="424179"/>
          </a:xfrm>
          <a:prstGeom prst="rect">
            <a:avLst/>
          </a:prstGeom>
        </p:spPr>
        <p:txBody>
          <a:bodyPr anchor="t" rtlCol="false" tIns="0" lIns="0" bIns="0" rIns="0">
            <a:spAutoFit/>
          </a:bodyPr>
          <a:lstStyle/>
          <a:p>
            <a:pPr algn="ctr">
              <a:lnSpc>
                <a:spcPts val="3199"/>
              </a:lnSpc>
            </a:pPr>
            <a:r>
              <a:rPr lang="en-US" b="true" sz="3199">
                <a:solidFill>
                  <a:srgbClr val="2E2E2E"/>
                </a:solidFill>
                <a:latin typeface="Anonymous Pro Bold"/>
                <a:ea typeface="Anonymous Pro Bold"/>
                <a:cs typeface="Anonymous Pro Bold"/>
                <a:sym typeface="Anonymous Pro Bold"/>
              </a:rPr>
              <a:t>CONSISTENCY IN CHOICES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04798" y="7884941"/>
            <a:ext cx="3928667" cy="4163327"/>
          </a:xfrm>
          <a:custGeom>
            <a:avLst/>
            <a:gdLst/>
            <a:ahLst/>
            <a:cxnLst/>
            <a:rect r="r" b="b" t="t" l="l"/>
            <a:pathLst>
              <a:path h="4163327" w="3928667">
                <a:moveTo>
                  <a:pt x="0" y="0"/>
                </a:moveTo>
                <a:lnTo>
                  <a:pt x="3928667" y="0"/>
                </a:lnTo>
                <a:lnTo>
                  <a:pt x="3928667" y="4163327"/>
                </a:lnTo>
                <a:lnTo>
                  <a:pt x="0" y="41633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50427" y="1689676"/>
            <a:ext cx="6433611" cy="7731016"/>
            <a:chOff x="0" y="0"/>
            <a:chExt cx="8829365" cy="10609899"/>
          </a:xfrm>
        </p:grpSpPr>
        <p:sp>
          <p:nvSpPr>
            <p:cNvPr name="Freeform 4" id="4"/>
            <p:cNvSpPr/>
            <p:nvPr/>
          </p:nvSpPr>
          <p:spPr>
            <a:xfrm flipH="false" flipV="false" rot="0">
              <a:off x="72390" y="72390"/>
              <a:ext cx="8684586" cy="10465119"/>
            </a:xfrm>
            <a:custGeom>
              <a:avLst/>
              <a:gdLst/>
              <a:ahLst/>
              <a:cxnLst/>
              <a:rect r="r" b="b" t="t" l="l"/>
              <a:pathLst>
                <a:path h="10465119" w="8684586">
                  <a:moveTo>
                    <a:pt x="0" y="0"/>
                  </a:moveTo>
                  <a:lnTo>
                    <a:pt x="8684586" y="0"/>
                  </a:lnTo>
                  <a:lnTo>
                    <a:pt x="8684586" y="10465119"/>
                  </a:lnTo>
                  <a:lnTo>
                    <a:pt x="0" y="10465119"/>
                  </a:lnTo>
                  <a:lnTo>
                    <a:pt x="0" y="0"/>
                  </a:lnTo>
                  <a:close/>
                </a:path>
              </a:pathLst>
            </a:custGeom>
            <a:solidFill>
              <a:srgbClr val="FFFFFF"/>
            </a:solidFill>
          </p:spPr>
        </p:sp>
        <p:sp>
          <p:nvSpPr>
            <p:cNvPr name="Freeform 5" id="5"/>
            <p:cNvSpPr/>
            <p:nvPr/>
          </p:nvSpPr>
          <p:spPr>
            <a:xfrm flipH="false" flipV="false" rot="0">
              <a:off x="0" y="0"/>
              <a:ext cx="8829365" cy="10609899"/>
            </a:xfrm>
            <a:custGeom>
              <a:avLst/>
              <a:gdLst/>
              <a:ahLst/>
              <a:cxnLst/>
              <a:rect r="r" b="b" t="t" l="l"/>
              <a:pathLst>
                <a:path h="10609899" w="8829365">
                  <a:moveTo>
                    <a:pt x="8684585" y="10465119"/>
                  </a:moveTo>
                  <a:lnTo>
                    <a:pt x="8829365" y="10465119"/>
                  </a:lnTo>
                  <a:lnTo>
                    <a:pt x="8829365" y="10609899"/>
                  </a:lnTo>
                  <a:lnTo>
                    <a:pt x="8684585" y="10609899"/>
                  </a:lnTo>
                  <a:lnTo>
                    <a:pt x="8684585" y="10465119"/>
                  </a:lnTo>
                  <a:close/>
                  <a:moveTo>
                    <a:pt x="0" y="144780"/>
                  </a:moveTo>
                  <a:lnTo>
                    <a:pt x="144780" y="144780"/>
                  </a:lnTo>
                  <a:lnTo>
                    <a:pt x="144780" y="10465119"/>
                  </a:lnTo>
                  <a:lnTo>
                    <a:pt x="0" y="10465119"/>
                  </a:lnTo>
                  <a:lnTo>
                    <a:pt x="0" y="144780"/>
                  </a:lnTo>
                  <a:close/>
                  <a:moveTo>
                    <a:pt x="0" y="10465119"/>
                  </a:moveTo>
                  <a:lnTo>
                    <a:pt x="144780" y="10465119"/>
                  </a:lnTo>
                  <a:lnTo>
                    <a:pt x="144780" y="10609899"/>
                  </a:lnTo>
                  <a:lnTo>
                    <a:pt x="0" y="10609899"/>
                  </a:lnTo>
                  <a:lnTo>
                    <a:pt x="0" y="10465119"/>
                  </a:lnTo>
                  <a:close/>
                  <a:moveTo>
                    <a:pt x="8684585" y="144780"/>
                  </a:moveTo>
                  <a:lnTo>
                    <a:pt x="8829365" y="144780"/>
                  </a:lnTo>
                  <a:lnTo>
                    <a:pt x="8829365" y="10465119"/>
                  </a:lnTo>
                  <a:lnTo>
                    <a:pt x="8684585" y="10465119"/>
                  </a:lnTo>
                  <a:lnTo>
                    <a:pt x="8684585" y="144780"/>
                  </a:lnTo>
                  <a:close/>
                  <a:moveTo>
                    <a:pt x="144780" y="10465119"/>
                  </a:moveTo>
                  <a:lnTo>
                    <a:pt x="8684585" y="10465119"/>
                  </a:lnTo>
                  <a:lnTo>
                    <a:pt x="8684585" y="10609899"/>
                  </a:lnTo>
                  <a:lnTo>
                    <a:pt x="144780" y="10609899"/>
                  </a:lnTo>
                  <a:lnTo>
                    <a:pt x="144780" y="10465119"/>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grpSp>
        <p:nvGrpSpPr>
          <p:cNvPr name="Group 6" id="6"/>
          <p:cNvGrpSpPr/>
          <p:nvPr/>
        </p:nvGrpSpPr>
        <p:grpSpPr>
          <a:xfrm rot="0">
            <a:off x="6150427" y="1732184"/>
            <a:ext cx="6433611" cy="908385"/>
            <a:chOff x="0" y="0"/>
            <a:chExt cx="8829365" cy="1246650"/>
          </a:xfrm>
        </p:grpSpPr>
        <p:sp>
          <p:nvSpPr>
            <p:cNvPr name="Freeform 7" id="7"/>
            <p:cNvSpPr/>
            <p:nvPr/>
          </p:nvSpPr>
          <p:spPr>
            <a:xfrm flipH="false" flipV="false" rot="0">
              <a:off x="72390" y="72390"/>
              <a:ext cx="8684586" cy="1101870"/>
            </a:xfrm>
            <a:custGeom>
              <a:avLst/>
              <a:gdLst/>
              <a:ahLst/>
              <a:cxnLst/>
              <a:rect r="r" b="b" t="t" l="l"/>
              <a:pathLst>
                <a:path h="1101870" w="8684586">
                  <a:moveTo>
                    <a:pt x="0" y="0"/>
                  </a:moveTo>
                  <a:lnTo>
                    <a:pt x="8684586" y="0"/>
                  </a:lnTo>
                  <a:lnTo>
                    <a:pt x="8684586" y="1101870"/>
                  </a:lnTo>
                  <a:lnTo>
                    <a:pt x="0" y="1101870"/>
                  </a:lnTo>
                  <a:lnTo>
                    <a:pt x="0" y="0"/>
                  </a:lnTo>
                  <a:close/>
                </a:path>
              </a:pathLst>
            </a:custGeom>
            <a:solidFill>
              <a:srgbClr val="F1DCED"/>
            </a:solidFill>
          </p:spPr>
        </p:sp>
        <p:sp>
          <p:nvSpPr>
            <p:cNvPr name="Freeform 8" id="8"/>
            <p:cNvSpPr/>
            <p:nvPr/>
          </p:nvSpPr>
          <p:spPr>
            <a:xfrm flipH="false" flipV="false" rot="0">
              <a:off x="0" y="0"/>
              <a:ext cx="8829365" cy="1246650"/>
            </a:xfrm>
            <a:custGeom>
              <a:avLst/>
              <a:gdLst/>
              <a:ahLst/>
              <a:cxnLst/>
              <a:rect r="r" b="b" t="t" l="l"/>
              <a:pathLst>
                <a:path h="1246650" w="8829365">
                  <a:moveTo>
                    <a:pt x="8684585" y="1101870"/>
                  </a:moveTo>
                  <a:lnTo>
                    <a:pt x="8829365" y="1101870"/>
                  </a:lnTo>
                  <a:lnTo>
                    <a:pt x="8829365" y="1246650"/>
                  </a:lnTo>
                  <a:lnTo>
                    <a:pt x="8684585" y="1246650"/>
                  </a:lnTo>
                  <a:lnTo>
                    <a:pt x="8684585" y="1101870"/>
                  </a:lnTo>
                  <a:close/>
                  <a:moveTo>
                    <a:pt x="0" y="144780"/>
                  </a:moveTo>
                  <a:lnTo>
                    <a:pt x="144780" y="144780"/>
                  </a:lnTo>
                  <a:lnTo>
                    <a:pt x="144780" y="1101870"/>
                  </a:lnTo>
                  <a:lnTo>
                    <a:pt x="0" y="1101870"/>
                  </a:lnTo>
                  <a:lnTo>
                    <a:pt x="0" y="144780"/>
                  </a:lnTo>
                  <a:close/>
                  <a:moveTo>
                    <a:pt x="0" y="1101870"/>
                  </a:moveTo>
                  <a:lnTo>
                    <a:pt x="144780" y="1101870"/>
                  </a:lnTo>
                  <a:lnTo>
                    <a:pt x="144780" y="1246650"/>
                  </a:lnTo>
                  <a:lnTo>
                    <a:pt x="0" y="1246650"/>
                  </a:lnTo>
                  <a:lnTo>
                    <a:pt x="0" y="1101870"/>
                  </a:lnTo>
                  <a:close/>
                  <a:moveTo>
                    <a:pt x="8684585" y="144780"/>
                  </a:moveTo>
                  <a:lnTo>
                    <a:pt x="8829365" y="144780"/>
                  </a:lnTo>
                  <a:lnTo>
                    <a:pt x="8829365" y="1101870"/>
                  </a:lnTo>
                  <a:lnTo>
                    <a:pt x="8684585" y="1101870"/>
                  </a:lnTo>
                  <a:lnTo>
                    <a:pt x="8684585" y="144780"/>
                  </a:lnTo>
                  <a:close/>
                  <a:moveTo>
                    <a:pt x="144780" y="1101870"/>
                  </a:moveTo>
                  <a:lnTo>
                    <a:pt x="8684585" y="1101870"/>
                  </a:lnTo>
                  <a:lnTo>
                    <a:pt x="8684585" y="1246650"/>
                  </a:lnTo>
                  <a:lnTo>
                    <a:pt x="144780" y="1246650"/>
                  </a:lnTo>
                  <a:lnTo>
                    <a:pt x="144780" y="1101870"/>
                  </a:lnTo>
                  <a:close/>
                  <a:moveTo>
                    <a:pt x="8684585" y="0"/>
                  </a:moveTo>
                  <a:lnTo>
                    <a:pt x="8829365" y="0"/>
                  </a:lnTo>
                  <a:lnTo>
                    <a:pt x="8829365" y="144780"/>
                  </a:lnTo>
                  <a:lnTo>
                    <a:pt x="8684585" y="144780"/>
                  </a:lnTo>
                  <a:lnTo>
                    <a:pt x="8684585" y="0"/>
                  </a:lnTo>
                  <a:close/>
                  <a:moveTo>
                    <a:pt x="0" y="0"/>
                  </a:moveTo>
                  <a:lnTo>
                    <a:pt x="144780" y="0"/>
                  </a:lnTo>
                  <a:lnTo>
                    <a:pt x="144780" y="144780"/>
                  </a:lnTo>
                  <a:lnTo>
                    <a:pt x="0" y="144780"/>
                  </a:lnTo>
                  <a:lnTo>
                    <a:pt x="0" y="0"/>
                  </a:lnTo>
                  <a:close/>
                  <a:moveTo>
                    <a:pt x="144780" y="0"/>
                  </a:moveTo>
                  <a:lnTo>
                    <a:pt x="8684585" y="0"/>
                  </a:lnTo>
                  <a:lnTo>
                    <a:pt x="8684585" y="144780"/>
                  </a:lnTo>
                  <a:lnTo>
                    <a:pt x="144780" y="144780"/>
                  </a:lnTo>
                  <a:lnTo>
                    <a:pt x="144780" y="0"/>
                  </a:lnTo>
                  <a:close/>
                </a:path>
              </a:pathLst>
            </a:custGeom>
            <a:solidFill>
              <a:srgbClr val="2E2E2E"/>
            </a:solidFill>
          </p:spPr>
        </p:sp>
      </p:grpSp>
      <p:sp>
        <p:nvSpPr>
          <p:cNvPr name="AutoShape 9" id="9"/>
          <p:cNvSpPr/>
          <p:nvPr/>
        </p:nvSpPr>
        <p:spPr>
          <a:xfrm rot="0">
            <a:off x="6991582" y="2101359"/>
            <a:ext cx="4304837" cy="85017"/>
          </a:xfrm>
          <a:prstGeom prst="rect">
            <a:avLst/>
          </a:prstGeom>
          <a:solidFill>
            <a:srgbClr val="2E2E2E"/>
          </a:solidFill>
        </p:spPr>
      </p:sp>
      <p:grpSp>
        <p:nvGrpSpPr>
          <p:cNvPr name="Group 10" id="10"/>
          <p:cNvGrpSpPr>
            <a:grpSpLocks noChangeAspect="true"/>
          </p:cNvGrpSpPr>
          <p:nvPr/>
        </p:nvGrpSpPr>
        <p:grpSpPr>
          <a:xfrm rot="0">
            <a:off x="11153543" y="2000993"/>
            <a:ext cx="285750" cy="285750"/>
            <a:chOff x="6705600" y="1371600"/>
            <a:chExt cx="10972800" cy="10972800"/>
          </a:xfrm>
        </p:grpSpPr>
        <p:sp>
          <p:nvSpPr>
            <p:cNvPr name="Freeform 11" id="11"/>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2" id="12"/>
          <p:cNvGrpSpPr>
            <a:grpSpLocks noChangeAspect="true"/>
          </p:cNvGrpSpPr>
          <p:nvPr/>
        </p:nvGrpSpPr>
        <p:grpSpPr>
          <a:xfrm rot="0">
            <a:off x="6705832" y="1958484"/>
            <a:ext cx="285750" cy="285750"/>
            <a:chOff x="6705600" y="1371600"/>
            <a:chExt cx="10972800" cy="10972800"/>
          </a:xfrm>
        </p:grpSpPr>
        <p:sp>
          <p:nvSpPr>
            <p:cNvPr name="Freeform 13" id="13"/>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2E2E2E"/>
            </a:solidFill>
          </p:spPr>
        </p:sp>
      </p:grpSp>
      <p:grpSp>
        <p:nvGrpSpPr>
          <p:cNvPr name="Group 14" id="14"/>
          <p:cNvGrpSpPr/>
          <p:nvPr/>
        </p:nvGrpSpPr>
        <p:grpSpPr>
          <a:xfrm rot="0">
            <a:off x="6991582" y="3255195"/>
            <a:ext cx="5139781" cy="4276844"/>
            <a:chOff x="0" y="0"/>
            <a:chExt cx="6853042" cy="5702458"/>
          </a:xfrm>
        </p:grpSpPr>
        <p:sp>
          <p:nvSpPr>
            <p:cNvPr name="TextBox 15" id="15"/>
            <p:cNvSpPr txBox="true"/>
            <p:nvPr/>
          </p:nvSpPr>
          <p:spPr>
            <a:xfrm rot="0">
              <a:off x="418386" y="95250"/>
              <a:ext cx="6434656" cy="5123597"/>
            </a:xfrm>
            <a:prstGeom prst="rect">
              <a:avLst/>
            </a:prstGeom>
          </p:spPr>
          <p:txBody>
            <a:bodyPr anchor="t" rtlCol="false" tIns="0" lIns="0" bIns="0" rIns="0">
              <a:spAutoFit/>
            </a:bodyPr>
            <a:lstStyle/>
            <a:p>
              <a:pPr algn="l">
                <a:lnSpc>
                  <a:spcPts val="5974"/>
                </a:lnSpc>
              </a:pPr>
              <a:r>
                <a:rPr lang="en-US" sz="5974" b="true">
                  <a:solidFill>
                    <a:srgbClr val="2E2E2E"/>
                  </a:solidFill>
                  <a:latin typeface="Anonymous Pro Bold"/>
                  <a:ea typeface="Anonymous Pro Bold"/>
                  <a:cs typeface="Anonymous Pro Bold"/>
                  <a:sym typeface="Anonymous Pro Bold"/>
                </a:rPr>
                <a:t>WHAT ELSE WOULD I HAVE DONE BETTER HERE? </a:t>
              </a:r>
            </a:p>
          </p:txBody>
        </p:sp>
        <p:pic>
          <p:nvPicPr>
            <p:cNvPr name="Picture 16" id="16"/>
            <p:cNvPicPr>
              <a:picLocks noChangeAspect="true"/>
            </p:cNvPicPr>
            <p:nvPr/>
          </p:nvPicPr>
          <p:blipFill>
            <a:blip r:embed="rId4"/>
            <a:srcRect l="0" t="0" r="0" b="0"/>
            <a:stretch>
              <a:fillRect/>
            </a:stretch>
          </p:blipFill>
          <p:spPr>
            <a:xfrm flipH="false" flipV="false" rot="0">
              <a:off x="0" y="5280050"/>
              <a:ext cx="5450424" cy="422408"/>
            </a:xfrm>
            <a:prstGeom prst="rect">
              <a:avLst/>
            </a:prstGeom>
          </p:spPr>
        </p:pic>
      </p:grpSp>
      <p:grpSp>
        <p:nvGrpSpPr>
          <p:cNvPr name="Group 17" id="17"/>
          <p:cNvGrpSpPr>
            <a:grpSpLocks noChangeAspect="true"/>
          </p:cNvGrpSpPr>
          <p:nvPr/>
        </p:nvGrpSpPr>
        <p:grpSpPr>
          <a:xfrm rot="0">
            <a:off x="10273646" y="2953033"/>
            <a:ext cx="181620" cy="181620"/>
            <a:chOff x="6705600" y="1371600"/>
            <a:chExt cx="10972800" cy="10972800"/>
          </a:xfrm>
        </p:grpSpPr>
        <p:sp>
          <p:nvSpPr>
            <p:cNvPr name="Freeform 18" id="18"/>
            <p:cNvSpPr/>
            <p:nvPr/>
          </p:nvSpPr>
          <p:spPr>
            <a:xfrm flipH="false" flipV="false" rot="0">
              <a:off x="6696808" y="1100629"/>
              <a:ext cx="10990383" cy="11514742"/>
            </a:xfrm>
            <a:custGeom>
              <a:avLst/>
              <a:gdLst/>
              <a:ahLst/>
              <a:cxnLst/>
              <a:rect r="r" b="b" t="t" l="l"/>
              <a:pathLst>
                <a:path h="11514742" w="10990383">
                  <a:moveTo>
                    <a:pt x="8792" y="5757371"/>
                  </a:moveTo>
                  <a:cubicBezTo>
                    <a:pt x="0" y="7723318"/>
                    <a:pt x="1043775" y="9543701"/>
                    <a:pt x="2744885" y="10529222"/>
                  </a:cubicBezTo>
                  <a:cubicBezTo>
                    <a:pt x="4445995" y="11514742"/>
                    <a:pt x="6544390" y="11514742"/>
                    <a:pt x="8245500" y="10529222"/>
                  </a:cubicBezTo>
                  <a:cubicBezTo>
                    <a:pt x="9946609" y="9543701"/>
                    <a:pt x="10990384" y="7723318"/>
                    <a:pt x="10981592" y="5757371"/>
                  </a:cubicBezTo>
                  <a:cubicBezTo>
                    <a:pt x="10990384" y="3791424"/>
                    <a:pt x="9946609" y="1971041"/>
                    <a:pt x="8245500" y="985520"/>
                  </a:cubicBezTo>
                  <a:cubicBezTo>
                    <a:pt x="6544390" y="0"/>
                    <a:pt x="4445995" y="0"/>
                    <a:pt x="2744885" y="985520"/>
                  </a:cubicBezTo>
                  <a:cubicBezTo>
                    <a:pt x="1043775" y="1971041"/>
                    <a:pt x="0" y="3791424"/>
                    <a:pt x="8792" y="5757371"/>
                  </a:cubicBezTo>
                  <a:close/>
                </a:path>
              </a:pathLst>
            </a:custGeom>
            <a:solidFill>
              <a:srgbClr val="F1DCED"/>
            </a:solidFill>
          </p:spPr>
        </p:sp>
      </p:grpSp>
      <p:sp>
        <p:nvSpPr>
          <p:cNvPr name="TextBox 19" id="19"/>
          <p:cNvSpPr txBox="true"/>
          <p:nvPr/>
        </p:nvSpPr>
        <p:spPr>
          <a:xfrm rot="0">
            <a:off x="16668640" y="1019175"/>
            <a:ext cx="590660" cy="466725"/>
          </a:xfrm>
          <a:prstGeom prst="rect">
            <a:avLst/>
          </a:prstGeom>
        </p:spPr>
        <p:txBody>
          <a:bodyPr anchor="t" rtlCol="false" tIns="0" lIns="0" bIns="0" rIns="0">
            <a:spAutoFit/>
          </a:bodyPr>
          <a:lstStyle/>
          <a:p>
            <a:pPr algn="r">
              <a:lnSpc>
                <a:spcPts val="3600"/>
              </a:lnSpc>
            </a:pPr>
            <a:r>
              <a:rPr lang="en-US" b="true" sz="3000">
                <a:solidFill>
                  <a:srgbClr val="2E2E2E"/>
                </a:solidFill>
                <a:latin typeface="Anonymous Pro Bold"/>
                <a:ea typeface="Anonymous Pro Bold"/>
                <a:cs typeface="Anonymous Pro Bold"/>
                <a:sym typeface="Anonymous Pro Bold"/>
              </a:rPr>
              <a:t>05</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sp>
        <p:nvSpPr>
          <p:cNvPr name="TextBox 2" id="2"/>
          <p:cNvSpPr txBox="true"/>
          <p:nvPr/>
        </p:nvSpPr>
        <p:spPr>
          <a:xfrm rot="0">
            <a:off x="623061" y="688346"/>
            <a:ext cx="6437086" cy="1216026"/>
          </a:xfrm>
          <a:prstGeom prst="rect">
            <a:avLst/>
          </a:prstGeom>
        </p:spPr>
        <p:txBody>
          <a:bodyPr anchor="t" rtlCol="false" tIns="0" lIns="0" bIns="0" rIns="0">
            <a:spAutoFit/>
          </a:bodyPr>
          <a:lstStyle/>
          <a:p>
            <a:pPr algn="l" marL="755646" indent="-377823" lvl="1">
              <a:lnSpc>
                <a:spcPts val="4899"/>
              </a:lnSpc>
              <a:spcBef>
                <a:spcPct val="0"/>
              </a:spcBef>
              <a:buAutoNum type="arabicPeriod" startAt="1"/>
            </a:pPr>
            <a:r>
              <a:rPr lang="en-US" b="true" sz="3499">
                <a:solidFill>
                  <a:srgbClr val="000000"/>
                </a:solidFill>
                <a:latin typeface="Frutiger Bold"/>
                <a:ea typeface="Frutiger Bold"/>
                <a:cs typeface="Frutiger Bold"/>
                <a:sym typeface="Frutiger Bold"/>
              </a:rPr>
              <a:t>Analysing which prompts are more useful</a:t>
            </a:r>
          </a:p>
        </p:txBody>
      </p:sp>
      <p:sp>
        <p:nvSpPr>
          <p:cNvPr name="TextBox 3" id="3"/>
          <p:cNvSpPr txBox="true"/>
          <p:nvPr/>
        </p:nvSpPr>
        <p:spPr>
          <a:xfrm rot="0">
            <a:off x="623061" y="2223135"/>
            <a:ext cx="6749830" cy="2920365"/>
          </a:xfrm>
          <a:prstGeom prst="rect">
            <a:avLst/>
          </a:prstGeom>
        </p:spPr>
        <p:txBody>
          <a:bodyPr anchor="t" rtlCol="false" tIns="0" lIns="0" bIns="0" rIns="0">
            <a:spAutoFit/>
          </a:bodyPr>
          <a:lstStyle/>
          <a:p>
            <a:pPr algn="ctr">
              <a:lnSpc>
                <a:spcPts val="3359"/>
              </a:lnSpc>
            </a:pPr>
            <a:r>
              <a:rPr lang="en-US" sz="2400">
                <a:solidFill>
                  <a:srgbClr val="000000"/>
                </a:solidFill>
                <a:latin typeface="Frutiger"/>
                <a:ea typeface="Frutiger"/>
                <a:cs typeface="Frutiger"/>
                <a:sym typeface="Frutiger"/>
              </a:rPr>
              <a:t>If the dataset also had information on who matched with who and by which prompt(if they swiped right on essay responses or prompt responses) </a:t>
            </a:r>
          </a:p>
          <a:p>
            <a:pPr algn="ctr">
              <a:lnSpc>
                <a:spcPts val="3359"/>
              </a:lnSpc>
            </a:pPr>
          </a:p>
          <a:p>
            <a:pPr algn="ctr" marL="0" indent="0" lvl="0">
              <a:lnSpc>
                <a:spcPts val="3359"/>
              </a:lnSpc>
              <a:spcBef>
                <a:spcPct val="0"/>
              </a:spcBef>
            </a:pPr>
            <a:r>
              <a:rPr lang="en-US" sz="2400">
                <a:solidFill>
                  <a:srgbClr val="000000"/>
                </a:solidFill>
                <a:latin typeface="Frutiger"/>
                <a:ea typeface="Frutiger"/>
                <a:cs typeface="Frutiger"/>
                <a:sym typeface="Frutiger"/>
              </a:rPr>
              <a:t>We could have analyzed the rates of each prompts getting responses and do an analysis </a:t>
            </a:r>
          </a:p>
        </p:txBody>
      </p:sp>
      <p:sp>
        <p:nvSpPr>
          <p:cNvPr name="TextBox 4" id="4"/>
          <p:cNvSpPr txBox="true"/>
          <p:nvPr/>
        </p:nvSpPr>
        <p:spPr>
          <a:xfrm rot="0">
            <a:off x="10052150" y="688346"/>
            <a:ext cx="6437086" cy="1216026"/>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Frutiger Bold"/>
                <a:ea typeface="Frutiger Bold"/>
                <a:cs typeface="Frutiger Bold"/>
                <a:sym typeface="Frutiger Bold"/>
              </a:rPr>
              <a:t>2. Analyzing the essay-based responses </a:t>
            </a:r>
          </a:p>
        </p:txBody>
      </p:sp>
      <p:sp>
        <p:nvSpPr>
          <p:cNvPr name="TextBox 5" id="5"/>
          <p:cNvSpPr txBox="true"/>
          <p:nvPr/>
        </p:nvSpPr>
        <p:spPr>
          <a:xfrm rot="0">
            <a:off x="9739406" y="2223135"/>
            <a:ext cx="6749830" cy="2920365"/>
          </a:xfrm>
          <a:prstGeom prst="rect">
            <a:avLst/>
          </a:prstGeom>
        </p:spPr>
        <p:txBody>
          <a:bodyPr anchor="t" rtlCol="false" tIns="0" lIns="0" bIns="0" rIns="0">
            <a:spAutoFit/>
          </a:bodyPr>
          <a:lstStyle/>
          <a:p>
            <a:pPr algn="ctr" marL="0" indent="0" lvl="0">
              <a:lnSpc>
                <a:spcPts val="3359"/>
              </a:lnSpc>
              <a:spcBef>
                <a:spcPct val="0"/>
              </a:spcBef>
            </a:pPr>
            <a:r>
              <a:rPr lang="en-US" sz="2400">
                <a:solidFill>
                  <a:srgbClr val="000000"/>
                </a:solidFill>
                <a:latin typeface="Frutiger"/>
                <a:ea typeface="Frutiger"/>
                <a:cs typeface="Frutiger"/>
                <a:sym typeface="Frutiger"/>
              </a:rPr>
              <a:t>With the essay based responses, I wanted to qualitatively code the keywords from the responses and get a list of words that were common. Extracting the themes out of those words- there could be a analysis on how men and women express themselves differently in these dating sites. </a:t>
            </a:r>
          </a:p>
        </p:txBody>
      </p:sp>
      <p:sp>
        <p:nvSpPr>
          <p:cNvPr name="TextBox 6" id="6"/>
          <p:cNvSpPr txBox="true"/>
          <p:nvPr/>
        </p:nvSpPr>
        <p:spPr>
          <a:xfrm rot="0">
            <a:off x="6086991" y="5900302"/>
            <a:ext cx="6437086" cy="1216026"/>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Frutiger Bold"/>
                <a:ea typeface="Frutiger Bold"/>
                <a:cs typeface="Frutiger Bold"/>
                <a:sym typeface="Frutiger Bold"/>
              </a:rPr>
              <a:t>3. Making a compatibility score checker </a:t>
            </a:r>
          </a:p>
        </p:txBody>
      </p:sp>
      <p:sp>
        <p:nvSpPr>
          <p:cNvPr name="TextBox 7" id="7"/>
          <p:cNvSpPr txBox="true"/>
          <p:nvPr/>
        </p:nvSpPr>
        <p:spPr>
          <a:xfrm rot="0">
            <a:off x="5589637" y="7386363"/>
            <a:ext cx="6749830" cy="2082165"/>
          </a:xfrm>
          <a:prstGeom prst="rect">
            <a:avLst/>
          </a:prstGeom>
        </p:spPr>
        <p:txBody>
          <a:bodyPr anchor="t" rtlCol="false" tIns="0" lIns="0" bIns="0" rIns="0">
            <a:spAutoFit/>
          </a:bodyPr>
          <a:lstStyle/>
          <a:p>
            <a:pPr algn="ctr" marL="0" indent="0" lvl="0">
              <a:lnSpc>
                <a:spcPts val="3359"/>
              </a:lnSpc>
              <a:spcBef>
                <a:spcPct val="0"/>
              </a:spcBef>
            </a:pPr>
            <a:r>
              <a:rPr lang="en-US" sz="2400">
                <a:solidFill>
                  <a:srgbClr val="000000"/>
                </a:solidFill>
                <a:latin typeface="Frutiger"/>
                <a:ea typeface="Frutiger"/>
                <a:cs typeface="Frutiger"/>
                <a:sym typeface="Frutiger"/>
              </a:rPr>
              <a:t>Assigning a score based system on each people’s answer (sort of like a buzzfeed quiz), making a feature for user to check how compatible they are with the person they are swiping on based on their answers. </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F1DCED"/>
        </a:solidFill>
      </p:bgPr>
    </p:bg>
    <p:spTree>
      <p:nvGrpSpPr>
        <p:cNvPr id="1" name=""/>
        <p:cNvGrpSpPr/>
        <p:nvPr/>
      </p:nvGrpSpPr>
      <p:grpSpPr>
        <a:xfrm>
          <a:off x="0" y="0"/>
          <a:ext cx="0" cy="0"/>
          <a:chOff x="0" y="0"/>
          <a:chExt cx="0" cy="0"/>
        </a:xfrm>
      </p:grpSpPr>
      <p:grpSp>
        <p:nvGrpSpPr>
          <p:cNvPr name="Group 2" id="2"/>
          <p:cNvGrpSpPr/>
          <p:nvPr/>
        </p:nvGrpSpPr>
        <p:grpSpPr>
          <a:xfrm rot="0">
            <a:off x="775395" y="2135303"/>
            <a:ext cx="16286997" cy="6016395"/>
            <a:chOff x="0" y="0"/>
            <a:chExt cx="25654434" cy="9476713"/>
          </a:xfrm>
        </p:grpSpPr>
        <p:sp>
          <p:nvSpPr>
            <p:cNvPr name="Freeform 3" id="3"/>
            <p:cNvSpPr/>
            <p:nvPr/>
          </p:nvSpPr>
          <p:spPr>
            <a:xfrm flipH="false" flipV="false" rot="0">
              <a:off x="72390" y="72390"/>
              <a:ext cx="25509653" cy="9331933"/>
            </a:xfrm>
            <a:custGeom>
              <a:avLst/>
              <a:gdLst/>
              <a:ahLst/>
              <a:cxnLst/>
              <a:rect r="r" b="b" t="t" l="l"/>
              <a:pathLst>
                <a:path h="9331933" w="25509653">
                  <a:moveTo>
                    <a:pt x="0" y="0"/>
                  </a:moveTo>
                  <a:lnTo>
                    <a:pt x="25509653" y="0"/>
                  </a:lnTo>
                  <a:lnTo>
                    <a:pt x="25509653" y="9331933"/>
                  </a:lnTo>
                  <a:lnTo>
                    <a:pt x="0" y="9331933"/>
                  </a:lnTo>
                  <a:lnTo>
                    <a:pt x="0" y="0"/>
                  </a:lnTo>
                  <a:close/>
                </a:path>
              </a:pathLst>
            </a:custGeom>
            <a:solidFill>
              <a:srgbClr val="FFFFFF"/>
            </a:solidFill>
          </p:spPr>
        </p:sp>
        <p:sp>
          <p:nvSpPr>
            <p:cNvPr name="Freeform 4" id="4"/>
            <p:cNvSpPr/>
            <p:nvPr/>
          </p:nvSpPr>
          <p:spPr>
            <a:xfrm flipH="false" flipV="false" rot="0">
              <a:off x="0" y="0"/>
              <a:ext cx="25654434" cy="9476713"/>
            </a:xfrm>
            <a:custGeom>
              <a:avLst/>
              <a:gdLst/>
              <a:ahLst/>
              <a:cxnLst/>
              <a:rect r="r" b="b" t="t" l="l"/>
              <a:pathLst>
                <a:path h="9476713" w="25654434">
                  <a:moveTo>
                    <a:pt x="25509654" y="9331933"/>
                  </a:moveTo>
                  <a:lnTo>
                    <a:pt x="25654434" y="9331933"/>
                  </a:lnTo>
                  <a:lnTo>
                    <a:pt x="25654434" y="9476713"/>
                  </a:lnTo>
                  <a:lnTo>
                    <a:pt x="25509654" y="9476713"/>
                  </a:lnTo>
                  <a:lnTo>
                    <a:pt x="25509654" y="9331933"/>
                  </a:lnTo>
                  <a:close/>
                  <a:moveTo>
                    <a:pt x="0" y="144780"/>
                  </a:moveTo>
                  <a:lnTo>
                    <a:pt x="144780" y="144780"/>
                  </a:lnTo>
                  <a:lnTo>
                    <a:pt x="144780" y="9331933"/>
                  </a:lnTo>
                  <a:lnTo>
                    <a:pt x="0" y="9331933"/>
                  </a:lnTo>
                  <a:lnTo>
                    <a:pt x="0" y="144780"/>
                  </a:lnTo>
                  <a:close/>
                  <a:moveTo>
                    <a:pt x="0" y="9331933"/>
                  </a:moveTo>
                  <a:lnTo>
                    <a:pt x="144780" y="9331933"/>
                  </a:lnTo>
                  <a:lnTo>
                    <a:pt x="144780" y="9476713"/>
                  </a:lnTo>
                  <a:lnTo>
                    <a:pt x="0" y="9476713"/>
                  </a:lnTo>
                  <a:lnTo>
                    <a:pt x="0" y="9331933"/>
                  </a:lnTo>
                  <a:close/>
                  <a:moveTo>
                    <a:pt x="25509654" y="144780"/>
                  </a:moveTo>
                  <a:lnTo>
                    <a:pt x="25654434" y="144780"/>
                  </a:lnTo>
                  <a:lnTo>
                    <a:pt x="25654434" y="9331933"/>
                  </a:lnTo>
                  <a:lnTo>
                    <a:pt x="25509654" y="9331933"/>
                  </a:lnTo>
                  <a:lnTo>
                    <a:pt x="25509654" y="144780"/>
                  </a:lnTo>
                  <a:close/>
                  <a:moveTo>
                    <a:pt x="144780" y="9331933"/>
                  </a:moveTo>
                  <a:lnTo>
                    <a:pt x="25509654" y="9331933"/>
                  </a:lnTo>
                  <a:lnTo>
                    <a:pt x="25509654" y="9476713"/>
                  </a:lnTo>
                  <a:lnTo>
                    <a:pt x="144780" y="9476713"/>
                  </a:lnTo>
                  <a:lnTo>
                    <a:pt x="144780" y="9331933"/>
                  </a:lnTo>
                  <a:close/>
                  <a:moveTo>
                    <a:pt x="25509654" y="0"/>
                  </a:moveTo>
                  <a:lnTo>
                    <a:pt x="25654434" y="0"/>
                  </a:lnTo>
                  <a:lnTo>
                    <a:pt x="25654434" y="144780"/>
                  </a:lnTo>
                  <a:lnTo>
                    <a:pt x="25509654" y="144780"/>
                  </a:lnTo>
                  <a:lnTo>
                    <a:pt x="25509654" y="0"/>
                  </a:lnTo>
                  <a:close/>
                  <a:moveTo>
                    <a:pt x="0" y="0"/>
                  </a:moveTo>
                  <a:lnTo>
                    <a:pt x="144780" y="0"/>
                  </a:lnTo>
                  <a:lnTo>
                    <a:pt x="144780" y="144780"/>
                  </a:lnTo>
                  <a:lnTo>
                    <a:pt x="0" y="144780"/>
                  </a:lnTo>
                  <a:lnTo>
                    <a:pt x="0" y="0"/>
                  </a:lnTo>
                  <a:close/>
                  <a:moveTo>
                    <a:pt x="144780" y="0"/>
                  </a:moveTo>
                  <a:lnTo>
                    <a:pt x="25509654" y="0"/>
                  </a:lnTo>
                  <a:lnTo>
                    <a:pt x="25509654" y="144780"/>
                  </a:lnTo>
                  <a:lnTo>
                    <a:pt x="144780" y="144780"/>
                  </a:lnTo>
                  <a:lnTo>
                    <a:pt x="144780" y="0"/>
                  </a:lnTo>
                  <a:close/>
                </a:path>
              </a:pathLst>
            </a:custGeom>
            <a:solidFill>
              <a:srgbClr val="2E2E2E"/>
            </a:solidFill>
          </p:spPr>
        </p:sp>
      </p:grpSp>
      <p:grpSp>
        <p:nvGrpSpPr>
          <p:cNvPr name="Group 5" id="5"/>
          <p:cNvGrpSpPr/>
          <p:nvPr/>
        </p:nvGrpSpPr>
        <p:grpSpPr>
          <a:xfrm rot="0">
            <a:off x="775395" y="2135303"/>
            <a:ext cx="16286997" cy="1092996"/>
            <a:chOff x="0" y="0"/>
            <a:chExt cx="22351963" cy="1500006"/>
          </a:xfrm>
        </p:grpSpPr>
        <p:sp>
          <p:nvSpPr>
            <p:cNvPr name="Freeform 6" id="6"/>
            <p:cNvSpPr/>
            <p:nvPr/>
          </p:nvSpPr>
          <p:spPr>
            <a:xfrm flipH="false" flipV="false" rot="0">
              <a:off x="72390" y="72390"/>
              <a:ext cx="22207183" cy="1355226"/>
            </a:xfrm>
            <a:custGeom>
              <a:avLst/>
              <a:gdLst/>
              <a:ahLst/>
              <a:cxnLst/>
              <a:rect r="r" b="b" t="t" l="l"/>
              <a:pathLst>
                <a:path h="1355226" w="22207183">
                  <a:moveTo>
                    <a:pt x="0" y="0"/>
                  </a:moveTo>
                  <a:lnTo>
                    <a:pt x="22207183" y="0"/>
                  </a:lnTo>
                  <a:lnTo>
                    <a:pt x="22207183" y="1355226"/>
                  </a:lnTo>
                  <a:lnTo>
                    <a:pt x="0" y="1355226"/>
                  </a:lnTo>
                  <a:lnTo>
                    <a:pt x="0" y="0"/>
                  </a:lnTo>
                  <a:close/>
                </a:path>
              </a:pathLst>
            </a:custGeom>
            <a:solidFill>
              <a:srgbClr val="F1DCED"/>
            </a:solidFill>
          </p:spPr>
        </p:sp>
        <p:sp>
          <p:nvSpPr>
            <p:cNvPr name="Freeform 7" id="7"/>
            <p:cNvSpPr/>
            <p:nvPr/>
          </p:nvSpPr>
          <p:spPr>
            <a:xfrm flipH="false" flipV="false" rot="0">
              <a:off x="0" y="0"/>
              <a:ext cx="22351963" cy="1500006"/>
            </a:xfrm>
            <a:custGeom>
              <a:avLst/>
              <a:gdLst/>
              <a:ahLst/>
              <a:cxnLst/>
              <a:rect r="r" b="b" t="t" l="l"/>
              <a:pathLst>
                <a:path h="1500006" w="22351963">
                  <a:moveTo>
                    <a:pt x="22207184" y="1355226"/>
                  </a:moveTo>
                  <a:lnTo>
                    <a:pt x="22351963" y="1355226"/>
                  </a:lnTo>
                  <a:lnTo>
                    <a:pt x="22351963" y="1500006"/>
                  </a:lnTo>
                  <a:lnTo>
                    <a:pt x="22207184" y="1500006"/>
                  </a:lnTo>
                  <a:lnTo>
                    <a:pt x="22207184" y="1355226"/>
                  </a:lnTo>
                  <a:close/>
                  <a:moveTo>
                    <a:pt x="0" y="144780"/>
                  </a:moveTo>
                  <a:lnTo>
                    <a:pt x="144780" y="144780"/>
                  </a:lnTo>
                  <a:lnTo>
                    <a:pt x="144780" y="1355226"/>
                  </a:lnTo>
                  <a:lnTo>
                    <a:pt x="0" y="1355226"/>
                  </a:lnTo>
                  <a:lnTo>
                    <a:pt x="0" y="144780"/>
                  </a:lnTo>
                  <a:close/>
                  <a:moveTo>
                    <a:pt x="0" y="1355226"/>
                  </a:moveTo>
                  <a:lnTo>
                    <a:pt x="144780" y="1355226"/>
                  </a:lnTo>
                  <a:lnTo>
                    <a:pt x="144780" y="1500006"/>
                  </a:lnTo>
                  <a:lnTo>
                    <a:pt x="0" y="1500006"/>
                  </a:lnTo>
                  <a:lnTo>
                    <a:pt x="0" y="1355226"/>
                  </a:lnTo>
                  <a:close/>
                  <a:moveTo>
                    <a:pt x="22207184" y="144780"/>
                  </a:moveTo>
                  <a:lnTo>
                    <a:pt x="22351963" y="144780"/>
                  </a:lnTo>
                  <a:lnTo>
                    <a:pt x="22351963" y="1355226"/>
                  </a:lnTo>
                  <a:lnTo>
                    <a:pt x="22207184" y="1355226"/>
                  </a:lnTo>
                  <a:lnTo>
                    <a:pt x="22207184" y="144780"/>
                  </a:lnTo>
                  <a:close/>
                  <a:moveTo>
                    <a:pt x="144780" y="1355226"/>
                  </a:moveTo>
                  <a:lnTo>
                    <a:pt x="22207184" y="1355226"/>
                  </a:lnTo>
                  <a:lnTo>
                    <a:pt x="22207184" y="1500006"/>
                  </a:lnTo>
                  <a:lnTo>
                    <a:pt x="144780" y="1500006"/>
                  </a:lnTo>
                  <a:lnTo>
                    <a:pt x="144780" y="1355226"/>
                  </a:lnTo>
                  <a:close/>
                  <a:moveTo>
                    <a:pt x="22207184" y="0"/>
                  </a:moveTo>
                  <a:lnTo>
                    <a:pt x="22351963" y="0"/>
                  </a:lnTo>
                  <a:lnTo>
                    <a:pt x="22351963" y="144780"/>
                  </a:lnTo>
                  <a:lnTo>
                    <a:pt x="22207184" y="144780"/>
                  </a:lnTo>
                  <a:lnTo>
                    <a:pt x="22207184" y="0"/>
                  </a:lnTo>
                  <a:close/>
                  <a:moveTo>
                    <a:pt x="0" y="0"/>
                  </a:moveTo>
                  <a:lnTo>
                    <a:pt x="144780" y="0"/>
                  </a:lnTo>
                  <a:lnTo>
                    <a:pt x="144780" y="144780"/>
                  </a:lnTo>
                  <a:lnTo>
                    <a:pt x="0" y="144780"/>
                  </a:lnTo>
                  <a:lnTo>
                    <a:pt x="0" y="0"/>
                  </a:lnTo>
                  <a:close/>
                  <a:moveTo>
                    <a:pt x="144780" y="0"/>
                  </a:moveTo>
                  <a:lnTo>
                    <a:pt x="22207184" y="0"/>
                  </a:lnTo>
                  <a:lnTo>
                    <a:pt x="22207184" y="144780"/>
                  </a:lnTo>
                  <a:lnTo>
                    <a:pt x="144780" y="144780"/>
                  </a:lnTo>
                  <a:lnTo>
                    <a:pt x="144780" y="0"/>
                  </a:lnTo>
                  <a:close/>
                </a:path>
              </a:pathLst>
            </a:custGeom>
            <a:solidFill>
              <a:srgbClr val="2E2E2E"/>
            </a:solidFill>
          </p:spPr>
        </p:sp>
      </p:grpSp>
      <p:sp>
        <p:nvSpPr>
          <p:cNvPr name="TextBox 8" id="8"/>
          <p:cNvSpPr txBox="true"/>
          <p:nvPr/>
        </p:nvSpPr>
        <p:spPr>
          <a:xfrm rot="0">
            <a:off x="6096227" y="4562475"/>
            <a:ext cx="4675138" cy="1167766"/>
          </a:xfrm>
          <a:prstGeom prst="rect">
            <a:avLst/>
          </a:prstGeom>
        </p:spPr>
        <p:txBody>
          <a:bodyPr anchor="t" rtlCol="false" tIns="0" lIns="0" bIns="0" rIns="0">
            <a:spAutoFit/>
          </a:bodyPr>
          <a:lstStyle/>
          <a:p>
            <a:pPr algn="ctr" marL="0" indent="0" lvl="0">
              <a:lnSpc>
                <a:spcPts val="9659"/>
              </a:lnSpc>
              <a:spcBef>
                <a:spcPct val="0"/>
              </a:spcBef>
            </a:pPr>
            <a:r>
              <a:rPr lang="en-US" b="true" sz="6899">
                <a:solidFill>
                  <a:srgbClr val="000000"/>
                </a:solidFill>
                <a:latin typeface="Frutiger Bold"/>
                <a:ea typeface="Frutiger Bold"/>
                <a:cs typeface="Frutiger Bold"/>
                <a:sym typeface="Frutiger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DAG3CuD-t6M</dc:identifier>
  <dcterms:modified xsi:type="dcterms:W3CDTF">2011-08-01T06:04:30Z</dcterms:modified>
  <cp:revision>1</cp:revision>
  <dc:title>Beyond Swiping right – Analysis on okcupid</dc:title>
</cp:coreProperties>
</file>